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88731"/>
  </p:normalViewPr>
  <p:slideViewPr>
    <p:cSldViewPr snapToGrid="0" snapToObjects="1">
      <p:cViewPr varScale="1">
        <p:scale>
          <a:sx n="201" d="100"/>
          <a:sy n="201" d="100"/>
        </p:scale>
        <p:origin x="1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4A80F-8241-8348-A8B7-8B43547D3633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56003-95FE-9041-AB0A-F186207115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243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 </a:t>
            </a:r>
            <a:r>
              <a:rPr lang="en-US" dirty="0">
                <a:solidFill>
                  <a:srgbClr val="FFFFFF"/>
                </a:solidFill>
                <a:effectLst/>
                <a:latin typeface="Monaco" pitchFamily="2" charset="77"/>
              </a:rPr>
              <a:t>X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FFFFF"/>
                </a:solidFill>
                <a:effectLst/>
                <a:latin typeface="Monaco" pitchFamily="2" charset="77"/>
              </a:rPr>
              <a:t>轴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  <a:latin typeface="Monaco" pitchFamily="2" charset="77"/>
              </a:rPr>
              <a:t>p_I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=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该环境中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Type I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状态占比。</a:t>
            </a:r>
            <a:r>
              <a:rPr lang="en-US" dirty="0">
                <a:solidFill>
                  <a:srgbClr val="FFFFFF"/>
                </a:solidFill>
                <a:effectLst/>
                <a:latin typeface="Monaco" pitchFamily="2" charset="77"/>
              </a:rPr>
              <a:t>Y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FFFFF"/>
                </a:solidFill>
                <a:effectLst/>
                <a:latin typeface="Monaco" pitchFamily="2" charset="77"/>
              </a:rPr>
              <a:t>轴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el-GR" dirty="0">
                <a:solidFill>
                  <a:srgbClr val="FFFFFF"/>
                </a:solidFill>
                <a:effectLst/>
                <a:latin typeface="Monaco" pitchFamily="2" charset="77"/>
              </a:rPr>
              <a:t>ρ</a:t>
            </a:r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 =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entropy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与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rollout utility</a:t>
            </a:r>
          </a:p>
          <a:p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的相关性。</a:t>
            </a:r>
          </a:p>
          <a:p>
            <a:b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</a:br>
            <a:endParaRPr lang="zh-CN" altLang="en-US" dirty="0">
              <a:solidFill>
                <a:srgbClr val="F2F2F2"/>
              </a:solidFill>
              <a:effectLst/>
              <a:latin typeface="Monaco" pitchFamily="2" charset="77"/>
            </a:endParaRPr>
          </a:p>
          <a:p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zh-CN" altLang="en-US" dirty="0">
                <a:solidFill>
                  <a:srgbClr val="FFFFFF"/>
                </a:solidFill>
                <a:effectLst/>
                <a:latin typeface="Monaco" pitchFamily="2" charset="77"/>
              </a:rPr>
              <a:t>那条斜线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就是理论预测：</a:t>
            </a:r>
          </a:p>
          <a:p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- </a:t>
            </a:r>
            <a:r>
              <a:rPr lang="en-US" dirty="0" err="1">
                <a:solidFill>
                  <a:srgbClr val="F2F2F2"/>
                </a:solidFill>
                <a:effectLst/>
                <a:latin typeface="Monaco" pitchFamily="2" charset="77"/>
              </a:rPr>
              <a:t>p_I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低（左侧，绿区）→ 高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entropy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主要来自 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"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决策困难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" →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rollout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有用 → </a:t>
            </a:r>
            <a:r>
              <a:rPr lang="el-GR" dirty="0">
                <a:solidFill>
                  <a:srgbClr val="FFFFFF"/>
                </a:solidFill>
                <a:effectLst/>
                <a:latin typeface="Monaco" pitchFamily="2" charset="77"/>
              </a:rPr>
              <a:t>ρ</a:t>
            </a:r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FFFFF"/>
                </a:solidFill>
                <a:effectLst/>
                <a:latin typeface="Monaco" pitchFamily="2" charset="77"/>
              </a:rPr>
              <a:t>为正</a:t>
            </a:r>
            <a:endParaRPr lang="zh-CN" altLang="en-US" dirty="0">
              <a:solidFill>
                <a:srgbClr val="F2F2F2"/>
              </a:solidFill>
              <a:effectLst/>
              <a:latin typeface="Monaco" pitchFamily="2" charset="77"/>
            </a:endParaRPr>
          </a:p>
          <a:p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- </a:t>
            </a:r>
            <a:r>
              <a:rPr lang="en-US" dirty="0" err="1">
                <a:solidFill>
                  <a:srgbClr val="F2F2F2"/>
                </a:solidFill>
                <a:effectLst/>
                <a:latin typeface="Monaco" pitchFamily="2" charset="77"/>
              </a:rPr>
              <a:t>p_I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高（右侧，红区）→ 高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entropy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主要来自 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"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信息匮乏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" →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rollout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没用 → </a:t>
            </a:r>
            <a:r>
              <a:rPr lang="el-GR" dirty="0">
                <a:solidFill>
                  <a:srgbClr val="FFFFFF"/>
                </a:solidFill>
                <a:effectLst/>
                <a:latin typeface="Monaco" pitchFamily="2" charset="77"/>
              </a:rPr>
              <a:t>ρ</a:t>
            </a:r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FFFFF"/>
                </a:solidFill>
                <a:effectLst/>
                <a:latin typeface="Monaco" pitchFamily="2" charset="77"/>
              </a:rPr>
              <a:t>为负</a:t>
            </a:r>
            <a:endParaRPr lang="zh-CN" altLang="en-US" dirty="0">
              <a:solidFill>
                <a:srgbClr val="F2F2F2"/>
              </a:solidFill>
              <a:effectLst/>
              <a:latin typeface="Monaco" pitchFamily="2" charset="77"/>
            </a:endParaRPr>
          </a:p>
          <a:p>
            <a:b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</a:br>
            <a:endParaRPr lang="zh-CN" altLang="en-US" dirty="0">
              <a:solidFill>
                <a:srgbClr val="F2F2F2"/>
              </a:solidFill>
              <a:effectLst/>
              <a:latin typeface="Monaco" pitchFamily="2" charset="77"/>
            </a:endParaRPr>
          </a:p>
          <a:p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zh-CN" altLang="en-US" dirty="0">
                <a:solidFill>
                  <a:srgbClr val="FFFFFF"/>
                </a:solidFill>
                <a:effectLst/>
                <a:latin typeface="Monaco" pitchFamily="2" charset="77"/>
              </a:rPr>
              <a:t>四个环境散点的位置解释了为什么方向会反转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：</a:t>
            </a:r>
            <a:endParaRPr lang="zh-CN" altLang="en-US" dirty="0">
              <a:solidFill>
                <a:srgbClr val="FFFFFF"/>
              </a:solidFill>
              <a:effectLst/>
              <a:latin typeface="Monaco" pitchFamily="2" charset="77"/>
            </a:endParaRPr>
          </a:p>
          <a:p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- </a:t>
            </a:r>
            <a:r>
              <a:rPr lang="en-US" dirty="0">
                <a:solidFill>
                  <a:srgbClr val="FFFFFF"/>
                </a:solidFill>
                <a:effectLst/>
                <a:latin typeface="Monaco" pitchFamily="2" charset="77"/>
              </a:rPr>
              <a:t>MBPP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（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编程，</a:t>
            </a:r>
            <a:r>
              <a:rPr lang="en-US" dirty="0" err="1">
                <a:solidFill>
                  <a:srgbClr val="F2F2F2"/>
                </a:solidFill>
                <a:effectLst/>
                <a:latin typeface="Monaco" pitchFamily="2" charset="77"/>
              </a:rPr>
              <a:t>p_I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低）：模型直接面对编码选择，高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entropy =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决策困难 →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rollout</a:t>
            </a:r>
          </a:p>
          <a:p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有帮助 → </a:t>
            </a:r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ρ=+0.153</a:t>
            </a:r>
          </a:p>
          <a:p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  - </a:t>
            </a:r>
            <a:r>
              <a:rPr lang="en-US" dirty="0">
                <a:solidFill>
                  <a:srgbClr val="FFFFFF"/>
                </a:solidFill>
                <a:effectLst/>
                <a:latin typeface="Monaco" pitchFamily="2" charset="77"/>
              </a:rPr>
              <a:t>APPS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（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混合，</a:t>
            </a:r>
            <a:r>
              <a:rPr lang="en-US" dirty="0" err="1">
                <a:solidFill>
                  <a:srgbClr val="F2F2F2"/>
                </a:solidFill>
                <a:effectLst/>
                <a:latin typeface="Monaco" pitchFamily="2" charset="77"/>
              </a:rPr>
              <a:t>p_I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中）：两种原因都有 → 正负抵消 → </a:t>
            </a:r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ρ≈0</a:t>
            </a:r>
          </a:p>
          <a:p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  - </a:t>
            </a:r>
            <a:r>
              <a:rPr lang="en-US" dirty="0" err="1">
                <a:solidFill>
                  <a:srgbClr val="FFFFFF"/>
                </a:solidFill>
                <a:effectLst/>
                <a:latin typeface="Monaco" pitchFamily="2" charset="77"/>
              </a:rPr>
              <a:t>WebShop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（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购物，</a:t>
            </a:r>
            <a:r>
              <a:rPr lang="en-US" dirty="0" err="1">
                <a:solidFill>
                  <a:srgbClr val="F2F2F2"/>
                </a:solidFill>
                <a:effectLst/>
                <a:latin typeface="Monaco" pitchFamily="2" charset="77"/>
              </a:rPr>
              <a:t>p_I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中偏高）：需要浏览收集信息 → </a:t>
            </a:r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ρ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略负</a:t>
            </a:r>
          </a:p>
          <a:p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en-US" altLang="zh-CN" dirty="0">
                <a:solidFill>
                  <a:srgbClr val="F2F2F2"/>
                </a:solidFill>
                <a:effectLst/>
                <a:latin typeface="Monaco" pitchFamily="2" charset="77"/>
              </a:rPr>
              <a:t>- </a:t>
            </a:r>
            <a:r>
              <a:rPr lang="en-US" dirty="0" err="1">
                <a:solidFill>
                  <a:srgbClr val="FFFFFF"/>
                </a:solidFill>
                <a:effectLst/>
                <a:latin typeface="Monaco" pitchFamily="2" charset="77"/>
              </a:rPr>
              <a:t>HotpotQA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（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多跳检索，</a:t>
            </a:r>
            <a:r>
              <a:rPr lang="en-US" dirty="0" err="1">
                <a:solidFill>
                  <a:srgbClr val="F2F2F2"/>
                </a:solidFill>
                <a:effectLst/>
                <a:latin typeface="Monaco" pitchFamily="2" charset="77"/>
              </a:rPr>
              <a:t>p_I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高）：主要在搜信息，高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entropy =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还没找到 → </a:t>
            </a:r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rollout</a:t>
            </a:r>
          </a:p>
          <a:p>
            <a:r>
              <a:rPr lang="en-US" dirty="0">
                <a:solidFill>
                  <a:srgbClr val="F2F2F2"/>
                </a:solidFill>
                <a:effectLst/>
                <a:latin typeface="Monaco" pitchFamily="2" charset="77"/>
              </a:rPr>
              <a:t>  </a:t>
            </a:r>
            <a:r>
              <a:rPr lang="zh-CN" altLang="en-US" dirty="0">
                <a:solidFill>
                  <a:srgbClr val="F2F2F2"/>
                </a:solidFill>
                <a:effectLst/>
                <a:latin typeface="Monaco" pitchFamily="2" charset="77"/>
              </a:rPr>
              <a:t>帮不了 → </a:t>
            </a:r>
            <a:r>
              <a:rPr lang="el-GR" dirty="0">
                <a:solidFill>
                  <a:srgbClr val="F2F2F2"/>
                </a:solidFill>
                <a:effectLst/>
                <a:latin typeface="Monaco" pitchFamily="2" charset="77"/>
              </a:rPr>
              <a:t>ρ=−0.327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56003-95FE-9041-AB0A-F186207115EA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6906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Same Signal, Opposite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6A596"/>
                </a:solidFill>
              </a:defRPr>
            </a:pPr>
            <a:r>
              <a:t>Weekly Research Update — 2026-03-16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5A7"/>
                </a:solidFill>
              </a:defRPr>
            </a:pPr>
            <a:r>
              <a:rPr dirty="0"/>
              <a:t>Theory Development + Method Upgrade + Experiment Consolidation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74720"/>
            <a:ext cx="6705295" cy="27432"/>
          </a:xfrm>
          <a:prstGeom prst="rect">
            <a:avLst/>
          </a:prstGeom>
          <a:solidFill>
            <a:srgbClr val="16A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" cy="731520"/>
          </a:xfrm>
          <a:prstGeom prst="round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Theoretical Breakthrough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5A7"/>
                </a:solidFill>
              </a:defRPr>
            </a:pPr>
            <a:r>
              <a:t>Two-Source Uncertainty Model — 3 predictions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731520" cy="731520"/>
          </a:xfrm>
          <a:prstGeom prst="roundRect">
            <a:avLst/>
          </a:prstGeom>
          <a:solidFill>
            <a:srgbClr val="16A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Experimental Results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5A7"/>
                </a:solidFill>
              </a:defRPr>
            </a:pPr>
            <a:r>
              <a:t>4 environments locked, CAGC ranking #1 &amp; #2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" cy="73152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Principled-Adaptive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5A7"/>
                </a:solidFill>
              </a:defRPr>
            </a:pPr>
            <a:r>
              <a:t>Fully automated gating — APPS +6.8pp over SCG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1: Theoretical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</a:defRPr>
            </a:pPr>
            <a:r>
              <a:t>Two-Source Uncertainty Model — Why Direction Reverses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Problem: Direction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The same signal correlates in opposite directions with rollout utility across environments</a:t>
            </a:r>
          </a:p>
        </p:txBody>
      </p:sp>
      <p:pic>
        <p:nvPicPr>
          <p:cNvPr id="4" name="Picture 3" descr="fig1_direction_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36150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84048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146304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Key Findings: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token_entropy: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HotpotQA: ρ = -0.327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MBPP:      ρ = +0.153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step_count: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MBPP:  ρ = +0.526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APPS:  ρ = -0.274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840480" cy="1645920"/>
          </a:xfrm>
          <a:prstGeom prst="roundRect">
            <a:avLst/>
          </a:prstGeom>
          <a:solidFill>
            <a:srgbClr val="5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206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Wrong-Direction Damage: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LR gate:   SR -34.5pp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MLP gate:  SR -51.2pp (RR=0%)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→ Direction is prerequisite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  for ALL learning-based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Two-Source Uncertainty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Theory + Verification: explains WHY the same signal has opposite meaning</a:t>
            </a:r>
          </a:p>
        </p:txBody>
      </p:sp>
      <p:pic>
        <p:nvPicPr>
          <p:cNvPr id="4" name="Picture 3" descr="fig2_two_sourc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11430000" cy="4702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Three Testable Predictions — All Confirmed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554480"/>
          </a:xfrm>
          <a:prstGeom prst="round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P1: Temporal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Within same env, early steps (more Type I)</a:t>
            </a:r>
            <a:br/>
            <a:r>
              <a:t>have more negative ρ than late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669280" cy="1554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Empirical Evidence: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HotpotQA: early ρ=-0.42 vs late ρ=-0.15  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029200" cy="1554480"/>
          </a:xfrm>
          <a:prstGeom prst="roundRect">
            <a:avLst/>
          </a:prstGeom>
          <a:solidFill>
            <a:srgbClr val="16A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P2: Cross-Env Divergence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Greater task structure difference</a:t>
            </a:r>
            <a:br/>
            <a:r>
              <a:t>→ greater ρ difference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017520"/>
            <a:ext cx="5669280" cy="1554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108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Empirical Evidence: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474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|ρ_HotpotQA - ρ_MBPP| = 0.480 &gt;&gt; |ρ_APPS - ρ_MBPP| = 0.009  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5029200" cy="1554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P3: Signal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Type I-dominant envs' strongest signal</a:t>
            </a:r>
            <a:br/>
            <a:r>
              <a:t>measures 'information sufficiency'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846320"/>
            <a:ext cx="5669280" cy="1554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49377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Empirical Evidence: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035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HotpotQA → evidence_count (ρ=-0.586) 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Cross-Env Transfer: Validates Two-Source Model</a:t>
            </a:r>
          </a:p>
        </p:txBody>
      </p:sp>
      <p:pic>
        <p:nvPicPr>
          <p:cNvPr id="3" name="Picture 2" descr="fig3_transf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439746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097280"/>
            <a:ext cx="5303520" cy="4572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What This Shows: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Diagonal ≈ 1.0 (in-env perfect)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Off-diagonal: 0.17 - 0.65 (poor transfer)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Why It Matters: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Probes trained on one env FAIL on others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Signal direction is environment-specific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Directly validates Two-Source Model: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different p_I compositions →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different ρ(entropy, U) directions →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env-specific probe weights needed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Implication for Paper: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Hidden state has enough info (AUC=1.0)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But the MAPPING is env-specific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Reinforces: bottleneck is the assumption,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not the model's representational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Storyline Impact: v4.0 → v5.0</a:t>
            </a:r>
          </a:p>
        </p:txBody>
      </p:sp>
      <p:pic>
        <p:nvPicPr>
          <p:cNvPr id="3" name="Picture 2" descr="fig9_storyline_up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0" y="824230"/>
            <a:ext cx="11430000" cy="5836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5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2: Experimental Results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2DFDB"/>
                </a:solidFill>
              </a:defRPr>
            </a:pPr>
            <a:r>
              <a:t>4 Environments Locked — Dual Method Dominance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Environment Matrix (4 Locked for Paper)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18 environments tested → 7 GO / 11 NO-GO → 4 selected for diverse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6459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16459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1371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1371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Base 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1371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Oracle SR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11887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Headroom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71600"/>
            <a:ext cx="20116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Paper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874519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874519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HotpotQA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1874519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74519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Multi-hop QA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874519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49.0%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874519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97.0%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874519"/>
            <a:ext cx="11887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+48.0pp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874519"/>
            <a:ext cx="20116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0" y="187451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t>✅ Pareto-dominate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37744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WebShop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237744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Web Shopping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37744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0" y="2377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7.2%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237744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0" y="2377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43.3%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77440"/>
            <a:ext cx="11887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3774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+36.1pp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2377440"/>
            <a:ext cx="20116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t>✅ Pareto-dominate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2880360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2880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APPS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60320" y="2880360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60320" y="2880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Code Generation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2880360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6240" y="2880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58.5%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2880360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0" y="2880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75.0%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2880360"/>
            <a:ext cx="11887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28803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+16.5pp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2880360"/>
            <a:ext cx="20116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89520" y="2880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</a:defRPr>
            </a:pPr>
            <a:r>
              <a:t>⚠ Weak-signal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38328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4400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TWExpress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0320" y="338328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560320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Text Adventure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06240" y="338328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06240" y="3383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64.0%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0" y="338328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03520" y="3383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98.0%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3383280"/>
            <a:ext cx="11887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0" y="33832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+34.0pp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0" y="3383280"/>
            <a:ext cx="20116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89520" y="3383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</a:defRPr>
            </a:pPr>
            <a:r>
              <a:t>⚠ Rollout-safe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" y="4114800"/>
            <a:ext cx="8686800" cy="228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97280" y="4206240"/>
            <a:ext cx="8321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Environment Diversity: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4 domains: QA, web, code, text adventure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Headroom range: +6pp to +48pp (wide spectrum)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Signal types: continuous (ρ), categorical (η²), near-zero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entropy direction: negative (HotpotQA), ~zero (APPS/WebShop), positive (MBPP reference)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18 environments tested total: BabyAI, ALFWorld, ScienceWorld, AppWorld, MiniHack, Jericho,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Sokoban, Maze, τ-bench, InterCode, ToolBench, Plancraft... all NO-GO or negative examples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Full Results: SR / Cost (×base) — 3 Main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82296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97280"/>
            <a:ext cx="25603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09728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HotpotQA</a:t>
            </a:r>
            <a:br/>
            <a:r>
              <a:t>SR /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097280"/>
            <a:ext cx="25603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79" y="109728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APPS</a:t>
            </a:r>
            <a:br/>
            <a:r>
              <a:t>SR /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097280"/>
            <a:ext cx="25603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09728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WebShop</a:t>
            </a:r>
            <a:br/>
            <a:r>
              <a:t>SR /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00200"/>
            <a:ext cx="22860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600200"/>
            <a:ext cx="82296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6002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160020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96.8% / 6.59×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160020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79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58.8% / 1.20×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60020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43.7% / 1.27×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103120"/>
            <a:ext cx="22860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Principled Adaptive†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2103120"/>
            <a:ext cx="82296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21031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Ours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210312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96.9% / 6.49×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10312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9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65.6% / 2.33×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43.3% / 1.90×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606040"/>
            <a:ext cx="228600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2606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2606040"/>
            <a:ext cx="82296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0" y="26060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60" y="260604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93.2% / 10.60×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79" y="260604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79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59.0% / 1.02×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260604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30.5% / 3.44×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108960"/>
            <a:ext cx="22860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CATTS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3108960"/>
            <a:ext cx="82296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0" y="31089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310896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6616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68.3% / 10.50×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79" y="310896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79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6.02×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310896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16.0% / 5.55×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3611880"/>
            <a:ext cx="228600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SEAG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0" y="3611880"/>
            <a:ext cx="82296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0" y="36118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6160" y="361188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6616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67.5% / 6.60×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79" y="361188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79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1.01×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361188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28.0% / 2.84×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114800"/>
            <a:ext cx="22860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4114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CoRefine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0" y="4114800"/>
            <a:ext cx="82296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43200" y="41148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66160" y="411480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6616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68.2% / 6.75×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79" y="411480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126479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1.01×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86800" y="411480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68680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27.5% / 2.77×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4617720"/>
            <a:ext cx="228600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4617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always_trigger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0" y="4617720"/>
            <a:ext cx="82296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43200" y="46177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566160" y="461772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6616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97.0% / 10.64×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26479" y="461772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79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64.5% / 4.30×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686800" y="461772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68680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43.0% / 5.56×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5120640"/>
            <a:ext cx="22860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57200" y="5120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base_only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43200" y="5120640"/>
            <a:ext cx="82296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743200" y="51206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566160" y="512064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56616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49.0% / 1.00×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26479" y="512064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26479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1.00×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86800" y="512064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68680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7.2% / 1.00×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5A7"/>
                </a:solidFill>
              </a:defRPr>
            </a:pPr>
            <a:r>
              <a:t>† = exploitation-only (50ep exploration removed for fair comparison with SCG pre-loaded data)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6035040"/>
            <a:ext cx="1124712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</a:defRPr>
            </a:pPr>
            <a:r>
              <a:t>Key: SCG best on HotpotQA/WebShop (cost-efficient) | Adaptive† best on APPS (+6.8pp over SCG) | Both dominate all CBs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Pareto Frontier: SR vs Token Cost</a:t>
            </a:r>
          </a:p>
        </p:txBody>
      </p:sp>
      <p:pic>
        <p:nvPicPr>
          <p:cNvPr id="3" name="Picture 2" descr="fig4_pareto_3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4232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CAGC Ranking: Our Methods Dominate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CAGC = GapClosed% / Cost — comprehensive metric balancing SR improvement and cost</a:t>
            </a:r>
          </a:p>
        </p:txBody>
      </p:sp>
      <p:pic>
        <p:nvPicPr>
          <p:cNvPr id="4" name="Picture 3" descr="fig5_cagc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2694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280160"/>
            <a:ext cx="3931920" cy="41148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146304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What CAGC Measures: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CAGC = (SR - base_SR) / (oracle_SR - base_SR)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       ÷ normalized_cost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→ How much of the oracle gap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  is closed per unit cost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Results: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• SCG (#1, 44.8%): cost-efficient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  precise triggering saves tokens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• Adaptive (#2, 28.6%): SR-first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  closes more gap but costs more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• Both beat ALL competing baselines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  (CoRefine, CaTS, CATTS, SEAG)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3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3: Principled-Adaptive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DD9D0"/>
                </a:solidFill>
              </a:defRPr>
            </a:pPr>
            <a:r>
              <a:t>Fully Automated Gating — No Domain Knowledge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Motivation: Why We Need a New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5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SCG Limitations: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❌ Requires domain knowledge to design features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 (evidence_count, state_category, etc.)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❌ Weak-signal environments: APPS SR ≈ base_only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 (58.8% vs 58.5% — gate barely triggers)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❌ Manual threshold (0.5) — not optimal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Principled-Adaptive Goals: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✅ Automated feature selection (no domain knowledge)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 Auto feature pool → LASSO → top features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✅ Optimal threshold from data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 Adaptive λ → CMDP-optimal decision boundary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✅ Fully online — no offline data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The APPS Gap — Key Motivation: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• APPS oracle = 75.0%  &gt;&gt;  always_trigger = 64.5%  &gt;&gt;  SCG = 58.8%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• Gap between SCG and oracle: 16.2pp — handcrafted features miss the signal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• Only signal: step_count (ρ = -0.155) — too weak for 5-feature LR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→ Need: automatic discovery of richer feature representations that capture rollout value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→ Hidden state probe showed offline AUC=0.88 but online threshold shift kills end-to-end performance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→ Solution: LASSO on expanded auto feature pool + adaptive threshold calibration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/>
              <a:t>Principled-Adaptive: Architecture</a:t>
            </a:r>
          </a:p>
        </p:txBody>
      </p:sp>
      <p:pic>
        <p:nvPicPr>
          <p:cNvPr id="3" name="Picture 2" descr="fig7_metho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7568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Threshold Optimization: 4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Core bottleneck: ranking is excellent (AUC 0.88-1.00) but threshold calibration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8510" y="118872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Iteration History: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v1 (</a:t>
            </a:r>
            <a:r>
              <a:rPr dirty="0" err="1"/>
              <a:t>nopca</a:t>
            </a:r>
            <a:r>
              <a:rPr dirty="0"/>
              <a:t>):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Heuristic threshold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⚠ APPS over-triggers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v2 (auto):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Fixed </a:t>
            </a:r>
            <a:r>
              <a:rPr dirty="0" err="1"/>
              <a:t>λ</a:t>
            </a:r>
            <a:r>
              <a:rPr dirty="0"/>
              <a:t>=0.05 sweep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❌ </a:t>
            </a:r>
            <a:r>
              <a:rPr dirty="0" err="1"/>
              <a:t>HotpotQA</a:t>
            </a:r>
            <a:r>
              <a:rPr dirty="0"/>
              <a:t> SR crash 68%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v3 (adaptive): ✅ Best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Adaptive </a:t>
            </a:r>
            <a:r>
              <a:rPr dirty="0" err="1"/>
              <a:t>λ</a:t>
            </a:r>
            <a:r>
              <a:rPr dirty="0"/>
              <a:t> from data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</a:t>
            </a:r>
            <a:r>
              <a:rPr dirty="0" err="1"/>
              <a:t>HotpotQA</a:t>
            </a:r>
            <a:r>
              <a:rPr dirty="0"/>
              <a:t> 96.9%, APPS 65.6%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v4 (</a:t>
            </a:r>
            <a:r>
              <a:rPr dirty="0" err="1"/>
              <a:t>fbeta</a:t>
            </a:r>
            <a:r>
              <a:rPr dirty="0"/>
              <a:t>): ⏳ Pending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F-beta threshold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dirty="0"/>
              <a:t>  Expected: fix edge cases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Principled-Adaptive vs SCG: Head-to-Head</a:t>
            </a:r>
          </a:p>
        </p:txBody>
      </p:sp>
      <p:pic>
        <p:nvPicPr>
          <p:cNvPr id="3" name="Picture 2" descr="fig6_principled_vs_s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04320" cy="46645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532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1">
                <a:solidFill>
                  <a:srgbClr val="F5A623"/>
                </a:solidFill>
              </a:defRPr>
            </a:pPr>
            <a:r>
              <a:t>Dual-Method Complementarity: SCG = cost-efficient (strong signals) | Principled = SR-first (weak signals, no domain knowledge)</a:t>
            </a:r>
          </a:p>
          <a:p>
            <a:pPr>
              <a:spcAft>
                <a:spcPts val="259"/>
              </a:spcAft>
              <a:defRPr sz="1300" b="1">
                <a:solidFill>
                  <a:srgbClr val="F5A623"/>
                </a:solidFill>
              </a:defRPr>
            </a:pPr>
            <a:r>
              <a:t>APPS: Principled +6.8pp over SCG — automated features discover what handcrafted miss | HotpotQA/WebShop: both ≈ match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Principled-Adaptive: Full 6-Environment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16459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097280"/>
            <a:ext cx="137160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10972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Adaptive† SR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100584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0972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Ro/ep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09728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097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Cost†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097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SCG SR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09728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1097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SCG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09728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1097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ΔSR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1600200"/>
            <a:ext cx="16459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1600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HotpotQA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1600200"/>
            <a:ext cx="13716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0" y="1600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96.9%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600200"/>
            <a:ext cx="100584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16002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1.07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160020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0" y="1600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6.49×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60020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600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96.8%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60020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1600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6.59×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60020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0" y="1600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+0.1pp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2103120"/>
            <a:ext cx="16459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APPS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2103120"/>
            <a:ext cx="13716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17520" y="21031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65.6%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2103120"/>
            <a:ext cx="100584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21031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1.04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210312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94960" y="21031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2.33×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210312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21031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58.8%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210312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21031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1.20×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210312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0" y="21031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t>+6.8pp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0" y="2606040"/>
            <a:ext cx="16459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71600" y="26060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WebShop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0" y="2606040"/>
            <a:ext cx="13716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17520" y="2606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43.3%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2606040"/>
            <a:ext cx="100584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89120" y="2606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1.46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94960" y="260604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94960" y="2606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1.90×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260604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2606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43.7%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89520" y="260604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2606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1.27×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0" y="260604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0" y="2606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</a:defRPr>
            </a:pPr>
            <a:r>
              <a:t>-0.4pp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71600" y="3108960"/>
            <a:ext cx="16459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371600" y="31089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TWExpress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17520" y="3108960"/>
            <a:ext cx="13716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017520" y="31089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99.1%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0" y="3108960"/>
            <a:ext cx="100584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3.25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94960" y="310896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94960" y="31089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2.10×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92240" y="310896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92240" y="31089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97.0%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589520" y="310896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89520" y="31089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~1.0×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86800" y="3108960"/>
            <a:ext cx="109728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686800" y="31089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t>+2.1pp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71600" y="361188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371600" y="36118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BabyAI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017520" y="3611880"/>
            <a:ext cx="13716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017520" y="3611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8.4%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89120" y="3611880"/>
            <a:ext cx="100584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389120" y="3611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40.26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94960" y="361188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39496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5.08×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92240" y="361188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224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8.8%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89520" y="361188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58952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1.46×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86800" y="361188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8680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</a:defRPr>
            </a:pPr>
            <a:r>
              <a:t>-0.4pp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371600" y="411480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371600" y="4114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Plancraft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017520" y="4114800"/>
            <a:ext cx="13716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017520" y="41148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21.8%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89120" y="4114800"/>
            <a:ext cx="100584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389120" y="41148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5.41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394960" y="411480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94960" y="4114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5.08×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92240" y="411480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92240" y="4114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21.5%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589520" y="411480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589520" y="4114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3.31×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686800" y="411480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686800" y="4114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+0.3pp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371600" y="4846320"/>
            <a:ext cx="4114800" cy="164592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554480" y="49377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✅ Wins (4 envs):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HotpotQA: +0.1pp, lower cost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APPS:  +6.8pp (biggest gain!)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TWExpress: +2.1pp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Plancraft: +0.3pp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943600" y="4846320"/>
            <a:ext cx="4114800" cy="1645920"/>
          </a:xfrm>
          <a:prstGeom prst="round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26480" y="49377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⚠ Tradeoffs: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WebShop: -0.4pp SR but +0.63× cost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BabyAI:  -0.4pp, over-triggers (40 ro/ep!)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Cost generally higher than SCG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→ Threshold tuning still improving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5029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This Week's Achievements: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1. Theory: Two-Source Model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3/3 predictions confirmed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Paper upgraded: Finding → Theory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2. Method: Principled-Adaptive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Fully automated, no domain knowledge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APPS +6.8pp over SCG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CAGC ranking #1 (SCG) + #2 (Adaptive)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3. Environment: 4 locked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18 tested, comprehensive coverage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Cross-env transfer validates theory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4. Bug Fix: hidden_state never passed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All prior probe E2E results invalidated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→ Probe repositioned for analysis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212080" cy="502920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8463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Next Steps: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P0 — Method Finalization: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• Analyze </a:t>
            </a:r>
            <a:r>
              <a:rPr dirty="0" err="1"/>
              <a:t>fbeta</a:t>
            </a:r>
            <a:r>
              <a:rPr dirty="0"/>
              <a:t> threshold results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• Choose final method variant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• Generate unified Pareto figure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1773</Words>
  <Application>Microsoft Macintosh PowerPoint</Application>
  <PresentationFormat>Widescreen</PresentationFormat>
  <Paragraphs>337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ziming li</cp:lastModifiedBy>
  <cp:revision>2</cp:revision>
  <dcterms:created xsi:type="dcterms:W3CDTF">2013-01-27T09:14:16Z</dcterms:created>
  <dcterms:modified xsi:type="dcterms:W3CDTF">2026-03-16T17:29:39Z</dcterms:modified>
  <cp:category/>
</cp:coreProperties>
</file>