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9" r:id="rId13"/>
    <p:sldId id="270" r:id="rId14"/>
    <p:sldId id="271" r:id="rId15"/>
    <p:sldId id="272" r:id="rId16"/>
    <p:sldId id="273" r:id="rId17"/>
    <p:sldId id="276" r:id="rId18"/>
    <p:sldId id="275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9"/>
    <p:restoredTop sz="94719"/>
  </p:normalViewPr>
  <p:slideViewPr>
    <p:cSldViewPr snapToGrid="0" snapToObjects="1">
      <p:cViewPr varScale="1">
        <p:scale>
          <a:sx n="152" d="100"/>
          <a:sy n="152" d="100"/>
        </p:scale>
        <p:origin x="856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3716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Same Signal, Opposite Meaning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16A596"/>
                </a:solidFill>
              </a:defRPr>
            </a:pPr>
            <a:r>
              <a:t>Weekly Research Update — 2026-03-16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332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95A7"/>
                </a:solidFill>
              </a:defRPr>
            </a:pPr>
            <a:r>
              <a:rPr dirty="0"/>
              <a:t>Theory Development + Method Upgrade + Experiment Consolidation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0" y="3474720"/>
            <a:ext cx="6705295" cy="27432"/>
          </a:xfrm>
          <a:prstGeom prst="rect">
            <a:avLst/>
          </a:prstGeom>
          <a:solidFill>
            <a:srgbClr val="16A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Agenda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645920"/>
            <a:ext cx="731520" cy="731520"/>
          </a:xfrm>
          <a:prstGeom prst="roundRect">
            <a:avLst/>
          </a:prstGeom>
          <a:solidFill>
            <a:srgbClr val="328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16459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Theoretical Breakthrough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21031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95A7"/>
                </a:solidFill>
              </a:defRPr>
            </a:pPr>
            <a:r>
              <a:t>Two-Source Uncertainty Model — 3 predictions verified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108960"/>
            <a:ext cx="731520" cy="731520"/>
          </a:xfrm>
          <a:prstGeom prst="roundRect">
            <a:avLst/>
          </a:prstGeom>
          <a:solidFill>
            <a:srgbClr val="16A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310896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31089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Experimental Results Overview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3566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95A7"/>
                </a:solidFill>
              </a:defRPr>
            </a:pPr>
            <a:r>
              <a:t>4 environments locked, CAGC ranking #1 &amp; #2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4572000"/>
            <a:ext cx="731520" cy="731520"/>
          </a:xfrm>
          <a:prstGeom prst="round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457200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4572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Principled-Adaptive Method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50292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95A7"/>
                </a:solidFill>
              </a:defRPr>
            </a:pPr>
            <a:r>
              <a:t>Fully automated gating — APPS +6.8pp over SCG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34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2860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Part 1: Theoretical Breakthrough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BDEFB"/>
                </a:solidFill>
              </a:defRPr>
            </a:pPr>
            <a:r>
              <a:t>Two-Source Uncertainty Model — Why Direction Reverses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The Problem: Direction Reversal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95A7"/>
                </a:solidFill>
              </a:defRPr>
            </a:pPr>
            <a:r>
              <a:t>The same signal correlates in opposite directions with rollout utility across environments</a:t>
            </a:r>
          </a:p>
        </p:txBody>
      </p:sp>
      <p:pic>
        <p:nvPicPr>
          <p:cNvPr id="4" name="Picture 3" descr="fig1_direction_revers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7315200" cy="3615048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046720" y="1371600"/>
            <a:ext cx="3840480" cy="256032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0" y="1463040"/>
            <a:ext cx="3474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39"/>
              </a:spcAft>
              <a:defRPr sz="1200" b="0">
                <a:solidFill>
                  <a:srgbClr val="FFFFFF"/>
                </a:solidFill>
              </a:defRPr>
            </a:pPr>
            <a:r>
              <a:t>Key Findings:</a:t>
            </a:r>
          </a:p>
          <a:p>
            <a:pPr>
              <a:spcAft>
                <a:spcPts val="239"/>
              </a:spcAft>
              <a:defRPr sz="1200" b="0">
                <a:solidFill>
                  <a:srgbClr val="FFFFFF"/>
                </a:solidFill>
              </a:defRPr>
            </a:pPr>
            <a:endParaRPr/>
          </a:p>
          <a:p>
            <a:pPr>
              <a:spcAft>
                <a:spcPts val="239"/>
              </a:spcAft>
              <a:defRPr sz="1200" b="0">
                <a:solidFill>
                  <a:srgbClr val="FFFFFF"/>
                </a:solidFill>
              </a:defRPr>
            </a:pPr>
            <a:r>
              <a:t>token_entropy:</a:t>
            </a:r>
          </a:p>
          <a:p>
            <a:pPr>
              <a:spcAft>
                <a:spcPts val="239"/>
              </a:spcAft>
              <a:defRPr sz="1200" b="0">
                <a:solidFill>
                  <a:srgbClr val="FFFFFF"/>
                </a:solidFill>
              </a:defRPr>
            </a:pPr>
            <a:r>
              <a:t>  HotpotQA: ρ = -0.327</a:t>
            </a:r>
          </a:p>
          <a:p>
            <a:pPr>
              <a:spcAft>
                <a:spcPts val="239"/>
              </a:spcAft>
              <a:defRPr sz="1200" b="0">
                <a:solidFill>
                  <a:srgbClr val="FFFFFF"/>
                </a:solidFill>
              </a:defRPr>
            </a:pPr>
            <a:r>
              <a:t>  MBPP:      ρ = +0.153</a:t>
            </a:r>
          </a:p>
          <a:p>
            <a:pPr>
              <a:spcAft>
                <a:spcPts val="239"/>
              </a:spcAft>
              <a:defRPr sz="1200" b="0">
                <a:solidFill>
                  <a:srgbClr val="FFFFFF"/>
                </a:solidFill>
              </a:defRPr>
            </a:pPr>
            <a:endParaRPr/>
          </a:p>
          <a:p>
            <a:pPr>
              <a:spcAft>
                <a:spcPts val="239"/>
              </a:spcAft>
              <a:defRPr sz="1200" b="0">
                <a:solidFill>
                  <a:srgbClr val="FFFFFF"/>
                </a:solidFill>
              </a:defRPr>
            </a:pPr>
            <a:r>
              <a:t>step_count:</a:t>
            </a:r>
          </a:p>
          <a:p>
            <a:pPr>
              <a:spcAft>
                <a:spcPts val="239"/>
              </a:spcAft>
              <a:defRPr sz="1200" b="0">
                <a:solidFill>
                  <a:srgbClr val="FFFFFF"/>
                </a:solidFill>
              </a:defRPr>
            </a:pPr>
            <a:r>
              <a:t>  MBPP:  ρ = +0.526</a:t>
            </a:r>
          </a:p>
          <a:p>
            <a:pPr>
              <a:spcAft>
                <a:spcPts val="239"/>
              </a:spcAft>
              <a:defRPr sz="1200" b="0">
                <a:solidFill>
                  <a:srgbClr val="FFFFFF"/>
                </a:solidFill>
              </a:defRPr>
            </a:pPr>
            <a:r>
              <a:t>  APPS:  ρ = -0.274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4114800"/>
            <a:ext cx="3840480" cy="1645920"/>
          </a:xfrm>
          <a:prstGeom prst="roundRect">
            <a:avLst/>
          </a:prstGeom>
          <a:solidFill>
            <a:srgbClr val="5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0" y="4206240"/>
            <a:ext cx="3474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9"/>
              </a:spcAft>
              <a:defRPr sz="1100" b="0">
                <a:solidFill>
                  <a:srgbClr val="E0E0E0"/>
                </a:solidFill>
              </a:defRPr>
            </a:pPr>
            <a:r>
              <a:t>Wrong-Direction Damage:</a:t>
            </a:r>
          </a:p>
          <a:p>
            <a:pPr>
              <a:spcAft>
                <a:spcPts val="219"/>
              </a:spcAft>
              <a:defRPr sz="1100" b="0">
                <a:solidFill>
                  <a:srgbClr val="E0E0E0"/>
                </a:solidFill>
              </a:defRPr>
            </a:pPr>
            <a:endParaRPr/>
          </a:p>
          <a:p>
            <a:pPr>
              <a:spcAft>
                <a:spcPts val="219"/>
              </a:spcAft>
              <a:defRPr sz="1100" b="0">
                <a:solidFill>
                  <a:srgbClr val="E0E0E0"/>
                </a:solidFill>
              </a:defRPr>
            </a:pPr>
            <a:r>
              <a:t>LR gate:   SR -34.5pp</a:t>
            </a:r>
          </a:p>
          <a:p>
            <a:pPr>
              <a:spcAft>
                <a:spcPts val="219"/>
              </a:spcAft>
              <a:defRPr sz="1100" b="0">
                <a:solidFill>
                  <a:srgbClr val="E0E0E0"/>
                </a:solidFill>
              </a:defRPr>
            </a:pPr>
            <a:r>
              <a:t>MLP gate:  SR -51.2pp (RR=0%)</a:t>
            </a:r>
          </a:p>
          <a:p>
            <a:pPr>
              <a:spcAft>
                <a:spcPts val="219"/>
              </a:spcAft>
              <a:defRPr sz="1100" b="0">
                <a:solidFill>
                  <a:srgbClr val="E0E0E0"/>
                </a:solidFill>
              </a:defRPr>
            </a:pPr>
            <a:endParaRPr/>
          </a:p>
          <a:p>
            <a:pPr>
              <a:spcAft>
                <a:spcPts val="219"/>
              </a:spcAft>
              <a:defRPr sz="1100" b="0">
                <a:solidFill>
                  <a:srgbClr val="E0E0E0"/>
                </a:solidFill>
              </a:defRPr>
            </a:pPr>
            <a:r>
              <a:t>→ Direction is prerequisite</a:t>
            </a:r>
          </a:p>
          <a:p>
            <a:pPr>
              <a:spcAft>
                <a:spcPts val="219"/>
              </a:spcAft>
              <a:defRPr sz="1100" b="0">
                <a:solidFill>
                  <a:srgbClr val="E0E0E0"/>
                </a:solidFill>
              </a:defRPr>
            </a:pPr>
            <a:r>
              <a:t>  for ALL learning-based gates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Two-Source Uncertainty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95A7"/>
                </a:solidFill>
              </a:defRPr>
            </a:pPr>
            <a:r>
              <a:t>Theory + Verification: explains WHY the same signal has opposite meaning</a:t>
            </a:r>
          </a:p>
        </p:txBody>
      </p:sp>
      <p:pic>
        <p:nvPicPr>
          <p:cNvPr id="4" name="Picture 3" descr="fig2_two_source_mo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0"/>
            <a:ext cx="11430000" cy="470251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Three Testable Predictions — All Confirmed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5029200" cy="1554480"/>
          </a:xfrm>
          <a:prstGeom prst="roundRect">
            <a:avLst/>
          </a:prstGeom>
          <a:solidFill>
            <a:srgbClr val="328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P1: Temporal Shift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663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</a:defRPr>
            </a:pPr>
            <a:r>
              <a:t>Within same env, early steps (more Type I)</a:t>
            </a:r>
            <a:br/>
            <a:r>
              <a:t>have more negative ρ than late steps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1188720"/>
            <a:ext cx="5669280" cy="155448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A623"/>
                </a:solidFill>
              </a:defRPr>
            </a:pPr>
            <a:r>
              <a:t>Empirical Evidence: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HotpotQA: early ρ=-0.42 vs late ρ=-0.15  ✅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017520"/>
            <a:ext cx="5029200" cy="1554480"/>
          </a:xfrm>
          <a:prstGeom prst="roundRect">
            <a:avLst/>
          </a:prstGeom>
          <a:solidFill>
            <a:srgbClr val="16A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310896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P2: Cross-Env Divergence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474720"/>
            <a:ext cx="4663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</a:defRPr>
            </a:pPr>
            <a:r>
              <a:t>Greater task structure difference</a:t>
            </a:r>
            <a:br/>
            <a:r>
              <a:t>→ greater ρ difference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0" y="3017520"/>
            <a:ext cx="5669280" cy="155448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17920" y="310896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A623"/>
                </a:solidFill>
              </a:defRPr>
            </a:pPr>
            <a:r>
              <a:t>Empirical Evidence: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347472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|ρ_HotpotQA - ρ_MBPP| = 0.480 &gt;&gt; |ρ_APPS - ρ_MBPP| = 0.009  ✅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846320"/>
            <a:ext cx="5029200" cy="155448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4937759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P3: Signal Identity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303520"/>
            <a:ext cx="4663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</a:defRPr>
            </a:pPr>
            <a:r>
              <a:t>Type I-dominant envs' strongest signal</a:t>
            </a:r>
            <a:br/>
            <a:r>
              <a:t>measures 'information sufficiency'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35040" y="4846320"/>
            <a:ext cx="5669280" cy="155448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17920" y="493775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A623"/>
                </a:solidFill>
              </a:defRPr>
            </a:pPr>
            <a:r>
              <a:t>Empirical Evidence: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530352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HotpotQA → evidence_count (ρ=-0.586)  ✅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Cross-Env Transfer: Validates Two-Source Model</a:t>
            </a:r>
          </a:p>
        </p:txBody>
      </p:sp>
      <p:pic>
        <p:nvPicPr>
          <p:cNvPr id="3" name="Picture 2" descr="fig3_transfer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5486400" cy="4397461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400800" y="1097280"/>
            <a:ext cx="5303520" cy="457200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0" y="1280160"/>
            <a:ext cx="49377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39"/>
              </a:spcAft>
              <a:defRPr sz="1200" b="0">
                <a:solidFill>
                  <a:srgbClr val="E0E0E0"/>
                </a:solidFill>
              </a:defRPr>
            </a:pPr>
            <a:r>
              <a:t>What This Shows:</a:t>
            </a:r>
          </a:p>
          <a:p>
            <a:pPr>
              <a:spcAft>
                <a:spcPts val="239"/>
              </a:spcAft>
              <a:defRPr sz="1200" b="0">
                <a:solidFill>
                  <a:srgbClr val="E0E0E0"/>
                </a:solidFill>
              </a:defRPr>
            </a:pPr>
            <a:endParaRPr/>
          </a:p>
          <a:p>
            <a:pPr>
              <a:spcAft>
                <a:spcPts val="239"/>
              </a:spcAft>
              <a:defRPr sz="1200" b="0">
                <a:solidFill>
                  <a:srgbClr val="E0E0E0"/>
                </a:solidFill>
              </a:defRPr>
            </a:pPr>
            <a:r>
              <a:t>• Diagonal ≈ 1.0 (in-env perfect)</a:t>
            </a:r>
          </a:p>
          <a:p>
            <a:pPr>
              <a:spcAft>
                <a:spcPts val="239"/>
              </a:spcAft>
              <a:defRPr sz="1200" b="0">
                <a:solidFill>
                  <a:srgbClr val="E0E0E0"/>
                </a:solidFill>
              </a:defRPr>
            </a:pPr>
            <a:r>
              <a:t>• Off-diagonal: 0.17 - 0.65 (poor transfer)</a:t>
            </a:r>
          </a:p>
          <a:p>
            <a:pPr>
              <a:spcAft>
                <a:spcPts val="239"/>
              </a:spcAft>
              <a:defRPr sz="1200" b="0">
                <a:solidFill>
                  <a:srgbClr val="E0E0E0"/>
                </a:solidFill>
              </a:defRPr>
            </a:pPr>
            <a:endParaRPr/>
          </a:p>
          <a:p>
            <a:pPr>
              <a:spcAft>
                <a:spcPts val="239"/>
              </a:spcAft>
              <a:defRPr sz="1200" b="0">
                <a:solidFill>
                  <a:srgbClr val="E0E0E0"/>
                </a:solidFill>
              </a:defRPr>
            </a:pPr>
            <a:r>
              <a:t>Why It Matters:</a:t>
            </a:r>
          </a:p>
          <a:p>
            <a:pPr>
              <a:spcAft>
                <a:spcPts val="239"/>
              </a:spcAft>
              <a:defRPr sz="1200" b="0">
                <a:solidFill>
                  <a:srgbClr val="E0E0E0"/>
                </a:solidFill>
              </a:defRPr>
            </a:pPr>
            <a:endParaRPr/>
          </a:p>
          <a:p>
            <a:pPr>
              <a:spcAft>
                <a:spcPts val="239"/>
              </a:spcAft>
              <a:defRPr sz="1200" b="0">
                <a:solidFill>
                  <a:srgbClr val="E0E0E0"/>
                </a:solidFill>
              </a:defRPr>
            </a:pPr>
            <a:r>
              <a:t>• Probes trained on one env FAIL on others</a:t>
            </a:r>
          </a:p>
          <a:p>
            <a:pPr>
              <a:spcAft>
                <a:spcPts val="239"/>
              </a:spcAft>
              <a:defRPr sz="1200" b="0">
                <a:solidFill>
                  <a:srgbClr val="E0E0E0"/>
                </a:solidFill>
              </a:defRPr>
            </a:pPr>
            <a:r>
              <a:t>• Signal direction is environment-specific</a:t>
            </a:r>
          </a:p>
          <a:p>
            <a:pPr>
              <a:spcAft>
                <a:spcPts val="239"/>
              </a:spcAft>
              <a:defRPr sz="1200" b="0">
                <a:solidFill>
                  <a:srgbClr val="E0E0E0"/>
                </a:solidFill>
              </a:defRPr>
            </a:pPr>
            <a:r>
              <a:t>• Directly validates Two-Source Model:</a:t>
            </a:r>
          </a:p>
          <a:p>
            <a:pPr>
              <a:spcAft>
                <a:spcPts val="239"/>
              </a:spcAft>
              <a:defRPr sz="1200" b="0">
                <a:solidFill>
                  <a:srgbClr val="E0E0E0"/>
                </a:solidFill>
              </a:defRPr>
            </a:pPr>
            <a:r>
              <a:t>  different p_I compositions →</a:t>
            </a:r>
          </a:p>
          <a:p>
            <a:pPr>
              <a:spcAft>
                <a:spcPts val="239"/>
              </a:spcAft>
              <a:defRPr sz="1200" b="0">
                <a:solidFill>
                  <a:srgbClr val="E0E0E0"/>
                </a:solidFill>
              </a:defRPr>
            </a:pPr>
            <a:r>
              <a:t>  different ρ(entropy, U) directions →</a:t>
            </a:r>
          </a:p>
          <a:p>
            <a:pPr>
              <a:spcAft>
                <a:spcPts val="239"/>
              </a:spcAft>
              <a:defRPr sz="1200" b="0">
                <a:solidFill>
                  <a:srgbClr val="E0E0E0"/>
                </a:solidFill>
              </a:defRPr>
            </a:pPr>
            <a:r>
              <a:t>  env-specific probe weights needed</a:t>
            </a:r>
          </a:p>
          <a:p>
            <a:pPr>
              <a:spcAft>
                <a:spcPts val="239"/>
              </a:spcAft>
              <a:defRPr sz="1200" b="0">
                <a:solidFill>
                  <a:srgbClr val="E0E0E0"/>
                </a:solidFill>
              </a:defRPr>
            </a:pPr>
            <a:endParaRPr/>
          </a:p>
          <a:p>
            <a:pPr>
              <a:spcAft>
                <a:spcPts val="239"/>
              </a:spcAft>
              <a:defRPr sz="1200" b="0">
                <a:solidFill>
                  <a:srgbClr val="E0E0E0"/>
                </a:solidFill>
              </a:defRPr>
            </a:pPr>
            <a:r>
              <a:t>Implication for Paper:</a:t>
            </a:r>
          </a:p>
          <a:p>
            <a:pPr>
              <a:spcAft>
                <a:spcPts val="239"/>
              </a:spcAft>
              <a:defRPr sz="1200" b="0">
                <a:solidFill>
                  <a:srgbClr val="E0E0E0"/>
                </a:solidFill>
              </a:defRPr>
            </a:pPr>
            <a:endParaRPr/>
          </a:p>
          <a:p>
            <a:pPr>
              <a:spcAft>
                <a:spcPts val="239"/>
              </a:spcAft>
              <a:defRPr sz="1200" b="0">
                <a:solidFill>
                  <a:srgbClr val="E0E0E0"/>
                </a:solidFill>
              </a:defRPr>
            </a:pPr>
            <a:r>
              <a:t>• Hidden state has enough info (AUC=1.0)</a:t>
            </a:r>
          </a:p>
          <a:p>
            <a:pPr>
              <a:spcAft>
                <a:spcPts val="239"/>
              </a:spcAft>
              <a:defRPr sz="1200" b="0">
                <a:solidFill>
                  <a:srgbClr val="E0E0E0"/>
                </a:solidFill>
              </a:defRPr>
            </a:pPr>
            <a:r>
              <a:t>• But the MAPPING is env-specific</a:t>
            </a:r>
          </a:p>
          <a:p>
            <a:pPr>
              <a:spcAft>
                <a:spcPts val="239"/>
              </a:spcAft>
              <a:defRPr sz="1200" b="0">
                <a:solidFill>
                  <a:srgbClr val="E0E0E0"/>
                </a:solidFill>
              </a:defRPr>
            </a:pPr>
            <a:r>
              <a:t>• Reinforces: bottleneck is the assumption,</a:t>
            </a:r>
          </a:p>
          <a:p>
            <a:pPr>
              <a:spcAft>
                <a:spcPts val="239"/>
              </a:spcAft>
              <a:defRPr sz="1200" b="0">
                <a:solidFill>
                  <a:srgbClr val="E0E0E0"/>
                </a:solidFill>
              </a:defRPr>
            </a:pPr>
            <a:r>
              <a:t>  not the model's representational capacity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Storyline Impact: v4.0 → v5.0</a:t>
            </a:r>
          </a:p>
        </p:txBody>
      </p:sp>
      <p:pic>
        <p:nvPicPr>
          <p:cNvPr id="3" name="Picture 2" descr="fig9_storyline_upgra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430000" cy="583659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A59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2860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Part 2: Experimental Results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2DFDB"/>
                </a:solidFill>
              </a:defRPr>
            </a:pPr>
            <a:r>
              <a:t>4 Environments Locked — Dual Method Dominance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0584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rPr dirty="0"/>
              <a:t>Environment Matrix (</a:t>
            </a:r>
            <a:r>
              <a:rPr lang="en-US" altLang="zh-CN" dirty="0"/>
              <a:t>3</a:t>
            </a:r>
            <a:r>
              <a:rPr dirty="0"/>
              <a:t> Locked for Paper)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371600"/>
            <a:ext cx="1645920" cy="502920"/>
          </a:xfrm>
          <a:prstGeom prst="round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Environment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1371600"/>
            <a:ext cx="1645920" cy="502920"/>
          </a:xfrm>
          <a:prstGeom prst="round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560320" y="137160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Domain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1371600"/>
            <a:ext cx="1097280" cy="502920"/>
          </a:xfrm>
          <a:prstGeom prst="round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206240" y="137160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Base SR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0" y="1371600"/>
            <a:ext cx="1097280" cy="502920"/>
          </a:xfrm>
          <a:prstGeom prst="round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303520" y="137160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Oracle SR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371600"/>
            <a:ext cx="1188720" cy="502920"/>
          </a:xfrm>
          <a:prstGeom prst="round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0" y="1371600"/>
            <a:ext cx="1188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Headroom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0" y="1371600"/>
            <a:ext cx="2011680" cy="502920"/>
          </a:xfrm>
          <a:prstGeom prst="round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589520" y="13716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Paper Role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1874519"/>
            <a:ext cx="1645920" cy="502920"/>
          </a:xfrm>
          <a:prstGeom prst="round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1874519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HotpotQA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560320" y="1874519"/>
            <a:ext cx="1645920" cy="502920"/>
          </a:xfrm>
          <a:prstGeom prst="round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560320" y="1874519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Multi-hop QA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06240" y="1874519"/>
            <a:ext cx="1097280" cy="502920"/>
          </a:xfrm>
          <a:prstGeom prst="round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206240" y="1874519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49.0%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03520" y="1874519"/>
            <a:ext cx="1097280" cy="502920"/>
          </a:xfrm>
          <a:prstGeom prst="round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303520" y="1874519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97.0%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1874519"/>
            <a:ext cx="1188720" cy="502920"/>
          </a:xfrm>
          <a:prstGeom prst="round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0" y="1874519"/>
            <a:ext cx="1188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+48.0pp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89520" y="1874519"/>
            <a:ext cx="2011680" cy="502920"/>
          </a:xfrm>
          <a:prstGeom prst="round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589520" y="1874519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7AE60"/>
                </a:solidFill>
              </a:defRPr>
            </a:pPr>
            <a:r>
              <a:t>✅ Pareto-dominate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" y="2377440"/>
            <a:ext cx="1645920" cy="502920"/>
          </a:xfrm>
          <a:prstGeom prst="roundRect">
            <a:avLst/>
          </a:prstGeom>
          <a:solidFill>
            <a:srgbClr val="1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14400" y="237744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WebShop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560320" y="2377440"/>
            <a:ext cx="1645920" cy="502920"/>
          </a:xfrm>
          <a:prstGeom prst="roundRect">
            <a:avLst/>
          </a:prstGeom>
          <a:solidFill>
            <a:srgbClr val="1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560320" y="237744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Web Shopping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06240" y="2377440"/>
            <a:ext cx="1097280" cy="502920"/>
          </a:xfrm>
          <a:prstGeom prst="roundRect">
            <a:avLst/>
          </a:prstGeom>
          <a:solidFill>
            <a:srgbClr val="1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206240" y="237744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7.2%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303520" y="2377440"/>
            <a:ext cx="1097280" cy="502920"/>
          </a:xfrm>
          <a:prstGeom prst="roundRect">
            <a:avLst/>
          </a:prstGeom>
          <a:solidFill>
            <a:srgbClr val="1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303520" y="237744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43.3%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0" y="2377440"/>
            <a:ext cx="1188720" cy="502920"/>
          </a:xfrm>
          <a:prstGeom prst="roundRect">
            <a:avLst/>
          </a:prstGeom>
          <a:solidFill>
            <a:srgbClr val="1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400800" y="2377440"/>
            <a:ext cx="1188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+36.1pp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589520" y="2377440"/>
            <a:ext cx="2011680" cy="502920"/>
          </a:xfrm>
          <a:prstGeom prst="roundRect">
            <a:avLst/>
          </a:prstGeom>
          <a:solidFill>
            <a:srgbClr val="1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589520" y="23774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7AE60"/>
                </a:solidFill>
              </a:defRPr>
            </a:pPr>
            <a:r>
              <a:rPr dirty="0"/>
              <a:t>✅ Pareto-dominate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" y="2880360"/>
            <a:ext cx="1645920" cy="502920"/>
          </a:xfrm>
          <a:prstGeom prst="round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14400" y="288036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APPS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560320" y="2880360"/>
            <a:ext cx="1645920" cy="502920"/>
          </a:xfrm>
          <a:prstGeom prst="round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2560320" y="288036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Code Generation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206240" y="2880360"/>
            <a:ext cx="1097280" cy="502920"/>
          </a:xfrm>
          <a:prstGeom prst="round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206240" y="288036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58.5%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303520" y="2880360"/>
            <a:ext cx="1097280" cy="502920"/>
          </a:xfrm>
          <a:prstGeom prst="round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303520" y="288036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75.0%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400800" y="2880360"/>
            <a:ext cx="1188720" cy="502920"/>
          </a:xfrm>
          <a:prstGeom prst="round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400800" y="2880360"/>
            <a:ext cx="1188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+16.5pp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589520" y="2880360"/>
            <a:ext cx="2011680" cy="502920"/>
          </a:xfrm>
          <a:prstGeom prst="round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ounded Rectangle 63"/>
          <p:cNvSpPr/>
          <p:nvPr/>
        </p:nvSpPr>
        <p:spPr>
          <a:xfrm>
            <a:off x="914400" y="4114800"/>
            <a:ext cx="8686800" cy="228600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1097280" y="4206240"/>
            <a:ext cx="83210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39"/>
              </a:spcAft>
              <a:defRPr sz="1200" b="0">
                <a:solidFill>
                  <a:srgbClr val="E0E0E0"/>
                </a:solidFill>
              </a:defRPr>
            </a:pPr>
            <a:r>
              <a:t>Environment Diversity:</a:t>
            </a:r>
          </a:p>
          <a:p>
            <a:pPr>
              <a:spcAft>
                <a:spcPts val="239"/>
              </a:spcAft>
              <a:defRPr sz="1200" b="0">
                <a:solidFill>
                  <a:srgbClr val="E0E0E0"/>
                </a:solidFill>
              </a:defRPr>
            </a:pPr>
            <a:endParaRPr/>
          </a:p>
          <a:p>
            <a:pPr>
              <a:spcAft>
                <a:spcPts val="239"/>
              </a:spcAft>
              <a:defRPr sz="1200" b="0">
                <a:solidFill>
                  <a:srgbClr val="E0E0E0"/>
                </a:solidFill>
              </a:defRPr>
            </a:pPr>
            <a:r>
              <a:t>• 4 domains: QA, web, code, text adventure</a:t>
            </a:r>
          </a:p>
          <a:p>
            <a:pPr>
              <a:spcAft>
                <a:spcPts val="239"/>
              </a:spcAft>
              <a:defRPr sz="1200" b="0">
                <a:solidFill>
                  <a:srgbClr val="E0E0E0"/>
                </a:solidFill>
              </a:defRPr>
            </a:pPr>
            <a:r>
              <a:t>• Headroom range: +6pp to +48pp (wide spectrum)</a:t>
            </a:r>
          </a:p>
          <a:p>
            <a:pPr>
              <a:spcAft>
                <a:spcPts val="239"/>
              </a:spcAft>
              <a:defRPr sz="1200" b="0">
                <a:solidFill>
                  <a:srgbClr val="E0E0E0"/>
                </a:solidFill>
              </a:defRPr>
            </a:pPr>
            <a:r>
              <a:t>• Signal types: continuous (ρ), categorical (η²), near-zero</a:t>
            </a:r>
          </a:p>
          <a:p>
            <a:pPr>
              <a:spcAft>
                <a:spcPts val="239"/>
              </a:spcAft>
              <a:defRPr sz="1200" b="0">
                <a:solidFill>
                  <a:srgbClr val="E0E0E0"/>
                </a:solidFill>
              </a:defRPr>
            </a:pPr>
            <a:r>
              <a:t>• entropy direction: negative (HotpotQA), ~zero (APPS/WebShop), positive (MBPP reference)</a:t>
            </a:r>
          </a:p>
          <a:p>
            <a:pPr>
              <a:spcAft>
                <a:spcPts val="239"/>
              </a:spcAft>
              <a:defRPr sz="1200" b="0">
                <a:solidFill>
                  <a:srgbClr val="E0E0E0"/>
                </a:solidFill>
              </a:defRPr>
            </a:pPr>
            <a:endParaRPr/>
          </a:p>
          <a:p>
            <a:pPr>
              <a:spcAft>
                <a:spcPts val="239"/>
              </a:spcAft>
              <a:defRPr sz="1200" b="0">
                <a:solidFill>
                  <a:srgbClr val="E0E0E0"/>
                </a:solidFill>
              </a:defRPr>
            </a:pPr>
            <a:r>
              <a:t>18 environments tested total: BabyAI, ALFWorld, ScienceWorld, AppWorld, MiniHack, Jericho,</a:t>
            </a:r>
          </a:p>
          <a:p>
            <a:pPr>
              <a:spcAft>
                <a:spcPts val="239"/>
              </a:spcAft>
              <a:defRPr sz="1200" b="0">
                <a:solidFill>
                  <a:srgbClr val="E0E0E0"/>
                </a:solidFill>
              </a:defRPr>
            </a:pPr>
            <a:r>
              <a:t>Sokoban, Maze, τ-bench, InterCode, ToolBench, Plancraft... all NO-GO or negative examples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D6AFB73-1258-37BE-D9BB-B3FFC9828385}"/>
              </a:ext>
            </a:extLst>
          </p:cNvPr>
          <p:cNvSpPr txBox="1"/>
          <p:nvPr/>
        </p:nvSpPr>
        <p:spPr>
          <a:xfrm>
            <a:off x="7589520" y="2933603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7AE60"/>
                </a:solidFill>
              </a:defRPr>
            </a:pPr>
            <a:r>
              <a:rPr dirty="0"/>
              <a:t>✅ Pareto-dominate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Full Results: SR / Cost (×base) — 3 Main Environments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2286000" cy="502920"/>
          </a:xfrm>
          <a:prstGeom prst="round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2286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Method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0" y="1097280"/>
            <a:ext cx="822960" cy="502920"/>
          </a:xfrm>
          <a:prstGeom prst="round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0" y="1097280"/>
            <a:ext cx="822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Type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66160" y="1097280"/>
            <a:ext cx="2560320" cy="502920"/>
          </a:xfrm>
          <a:prstGeom prst="round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566160" y="1097280"/>
            <a:ext cx="25603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HotpotQA</a:t>
            </a:r>
            <a:br/>
            <a:r>
              <a:t>SR / Cost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79" y="1097280"/>
            <a:ext cx="2560320" cy="502920"/>
          </a:xfrm>
          <a:prstGeom prst="round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126479" y="1097280"/>
            <a:ext cx="25603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APPS</a:t>
            </a:r>
            <a:br/>
            <a:r>
              <a:t>SR / Cost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0" y="1097280"/>
            <a:ext cx="2560320" cy="502920"/>
          </a:xfrm>
          <a:prstGeom prst="round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0" y="1097280"/>
            <a:ext cx="25603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WebShop</a:t>
            </a:r>
            <a:br/>
            <a:r>
              <a:t>SR / Cost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1600200"/>
            <a:ext cx="2286000" cy="502920"/>
          </a:xfrm>
          <a:prstGeom prst="round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160020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SCG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0" y="1600200"/>
            <a:ext cx="822960" cy="502920"/>
          </a:xfrm>
          <a:prstGeom prst="round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743200" y="1600200"/>
            <a:ext cx="822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6A596"/>
                </a:solidFill>
              </a:defRPr>
            </a:pPr>
            <a:r>
              <a:t>Ours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66160" y="1600200"/>
            <a:ext cx="2560320" cy="502920"/>
          </a:xfrm>
          <a:prstGeom prst="round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566160" y="160020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6A596"/>
                </a:solidFill>
              </a:defRPr>
            </a:pPr>
            <a:r>
              <a:t>96.8% / 6.59×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79" y="1600200"/>
            <a:ext cx="2560320" cy="502920"/>
          </a:xfrm>
          <a:prstGeom prst="round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126479" y="160020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6A596"/>
                </a:solidFill>
              </a:defRPr>
            </a:pPr>
            <a:r>
              <a:t>58.8% / 1.20×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86800" y="1600200"/>
            <a:ext cx="2560320" cy="502920"/>
          </a:xfrm>
          <a:prstGeom prst="round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686800" y="160020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6A596"/>
                </a:solidFill>
              </a:defRPr>
            </a:pPr>
            <a:r>
              <a:t>43.7% / 1.27×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2103120"/>
            <a:ext cx="2286000" cy="502920"/>
          </a:xfrm>
          <a:prstGeom prst="round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" y="210312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 dirty="0"/>
              <a:t>Principled Adaptive†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43200" y="2103120"/>
            <a:ext cx="822960" cy="502920"/>
          </a:xfrm>
          <a:prstGeom prst="round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743200" y="2103120"/>
            <a:ext cx="822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6A596"/>
                </a:solidFill>
              </a:defRPr>
            </a:pPr>
            <a:r>
              <a:t>Ours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566160" y="2103120"/>
            <a:ext cx="2560320" cy="502920"/>
          </a:xfrm>
          <a:prstGeom prst="round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566160" y="210312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6A596"/>
                </a:solidFill>
              </a:defRPr>
            </a:pPr>
            <a:r>
              <a:t>96.9% / 6.49×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26479" y="2103120"/>
            <a:ext cx="2560320" cy="502920"/>
          </a:xfrm>
          <a:prstGeom prst="round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126479" y="210312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6A596"/>
                </a:solidFill>
              </a:defRPr>
            </a:pPr>
            <a:r>
              <a:t>65.6% / 2.33×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686800" y="2103120"/>
            <a:ext cx="2560320" cy="502920"/>
          </a:xfrm>
          <a:prstGeom prst="round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686800" y="210312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6A596"/>
                </a:solidFill>
              </a:defRPr>
            </a:pPr>
            <a:r>
              <a:t>43.3% / 1.90×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2606040"/>
            <a:ext cx="2286000" cy="502920"/>
          </a:xfrm>
          <a:prstGeom prst="round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57200" y="260604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CaTS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743200" y="2606040"/>
            <a:ext cx="822960" cy="502920"/>
          </a:xfrm>
          <a:prstGeom prst="round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743200" y="2606040"/>
            <a:ext cx="822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CB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566160" y="2606040"/>
            <a:ext cx="2560320" cy="502920"/>
          </a:xfrm>
          <a:prstGeom prst="round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566160" y="26060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93.2% / 10.60×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26479" y="2606040"/>
            <a:ext cx="2560320" cy="502920"/>
          </a:xfrm>
          <a:prstGeom prst="round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126479" y="26060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59.0% / 1.02×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686800" y="2606040"/>
            <a:ext cx="2560320" cy="502920"/>
          </a:xfrm>
          <a:prstGeom prst="round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686800" y="26060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30.5% / 3.44×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7200" y="3108960"/>
            <a:ext cx="2286000" cy="502920"/>
          </a:xfrm>
          <a:prstGeom prst="roundRect">
            <a:avLst/>
          </a:prstGeom>
          <a:solidFill>
            <a:srgbClr val="1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57200" y="310896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rPr dirty="0"/>
              <a:t>CATTS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743200" y="3108960"/>
            <a:ext cx="822960" cy="502920"/>
          </a:xfrm>
          <a:prstGeom prst="roundRect">
            <a:avLst/>
          </a:prstGeom>
          <a:solidFill>
            <a:srgbClr val="1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2743200" y="3108960"/>
            <a:ext cx="822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CB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566160" y="3108960"/>
            <a:ext cx="2560320" cy="502920"/>
          </a:xfrm>
          <a:prstGeom prst="roundRect">
            <a:avLst/>
          </a:prstGeom>
          <a:solidFill>
            <a:srgbClr val="1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3566160" y="310896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68.3% / 10.50×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126479" y="3108960"/>
            <a:ext cx="2560320" cy="502920"/>
          </a:xfrm>
          <a:prstGeom prst="roundRect">
            <a:avLst/>
          </a:prstGeom>
          <a:solidFill>
            <a:srgbClr val="1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126479" y="310896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58.5% / 6.02×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686800" y="3108960"/>
            <a:ext cx="2560320" cy="502920"/>
          </a:xfrm>
          <a:prstGeom prst="roundRect">
            <a:avLst/>
          </a:prstGeom>
          <a:solidFill>
            <a:srgbClr val="1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686800" y="310896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16.0% / 5.55×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57200" y="3611880"/>
            <a:ext cx="2286000" cy="502920"/>
          </a:xfrm>
          <a:prstGeom prst="round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457200" y="36118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SEAG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2743200" y="3611880"/>
            <a:ext cx="822960" cy="502920"/>
          </a:xfrm>
          <a:prstGeom prst="round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2743200" y="3611880"/>
            <a:ext cx="822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CB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566160" y="3611880"/>
            <a:ext cx="2560320" cy="502920"/>
          </a:xfrm>
          <a:prstGeom prst="round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3566160" y="361188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67.5% / 6.60×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126479" y="3611880"/>
            <a:ext cx="2560320" cy="502920"/>
          </a:xfrm>
          <a:prstGeom prst="round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6126479" y="361188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58.5% / 1.01×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686800" y="3611880"/>
            <a:ext cx="2560320" cy="502920"/>
          </a:xfrm>
          <a:prstGeom prst="round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8686800" y="361188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28.0% / 2.84×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57200" y="4114800"/>
            <a:ext cx="2286000" cy="502920"/>
          </a:xfrm>
          <a:prstGeom prst="roundRect">
            <a:avLst/>
          </a:prstGeom>
          <a:solidFill>
            <a:srgbClr val="1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457200" y="411480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CoRefine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2743200" y="4114800"/>
            <a:ext cx="822960" cy="502920"/>
          </a:xfrm>
          <a:prstGeom prst="roundRect">
            <a:avLst/>
          </a:prstGeom>
          <a:solidFill>
            <a:srgbClr val="1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2743200" y="4114800"/>
            <a:ext cx="822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CB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3566160" y="4114800"/>
            <a:ext cx="2560320" cy="502920"/>
          </a:xfrm>
          <a:prstGeom prst="roundRect">
            <a:avLst/>
          </a:prstGeom>
          <a:solidFill>
            <a:srgbClr val="1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3566160" y="411480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68.2% / 6.75×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6126479" y="4114800"/>
            <a:ext cx="2560320" cy="502920"/>
          </a:xfrm>
          <a:prstGeom prst="roundRect">
            <a:avLst/>
          </a:prstGeom>
          <a:solidFill>
            <a:srgbClr val="1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6126479" y="411480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58.5% / 1.01×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8686800" y="4114800"/>
            <a:ext cx="2560320" cy="502920"/>
          </a:xfrm>
          <a:prstGeom prst="roundRect">
            <a:avLst/>
          </a:prstGeom>
          <a:solidFill>
            <a:srgbClr val="1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8686800" y="411480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27.5% / 2.77×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457200" y="4617720"/>
            <a:ext cx="2286000" cy="502920"/>
          </a:xfrm>
          <a:prstGeom prst="round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457200" y="461772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always_trigger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2743200" y="4617720"/>
            <a:ext cx="822960" cy="502920"/>
          </a:xfrm>
          <a:prstGeom prst="round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2743200" y="4617720"/>
            <a:ext cx="822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—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3566160" y="4617720"/>
            <a:ext cx="2560320" cy="502920"/>
          </a:xfrm>
          <a:prstGeom prst="round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3566160" y="461772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97.0% / 10.64×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6126479" y="4617720"/>
            <a:ext cx="2560320" cy="502920"/>
          </a:xfrm>
          <a:prstGeom prst="round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6126479" y="461772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64.5% / 4.30×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8686800" y="4617720"/>
            <a:ext cx="2560320" cy="502920"/>
          </a:xfrm>
          <a:prstGeom prst="round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8686800" y="461772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43.0% / 5.56×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457200" y="5120640"/>
            <a:ext cx="2286000" cy="502920"/>
          </a:xfrm>
          <a:prstGeom prst="roundRect">
            <a:avLst/>
          </a:prstGeom>
          <a:solidFill>
            <a:srgbClr val="1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457200" y="512064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base_only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2743200" y="5120640"/>
            <a:ext cx="822960" cy="502920"/>
          </a:xfrm>
          <a:prstGeom prst="roundRect">
            <a:avLst/>
          </a:prstGeom>
          <a:solidFill>
            <a:srgbClr val="1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2743200" y="5120640"/>
            <a:ext cx="822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—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3566160" y="5120640"/>
            <a:ext cx="2560320" cy="502920"/>
          </a:xfrm>
          <a:prstGeom prst="roundRect">
            <a:avLst/>
          </a:prstGeom>
          <a:solidFill>
            <a:srgbClr val="1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3566160" y="51206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49.0% / 1.00×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6126479" y="5120640"/>
            <a:ext cx="2560320" cy="502920"/>
          </a:xfrm>
          <a:prstGeom prst="roundRect">
            <a:avLst/>
          </a:prstGeom>
          <a:solidFill>
            <a:srgbClr val="1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6126479" y="51206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58.5% / 1.00×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8686800" y="5120640"/>
            <a:ext cx="2560320" cy="502920"/>
          </a:xfrm>
          <a:prstGeom prst="roundRect">
            <a:avLst/>
          </a:prstGeom>
          <a:solidFill>
            <a:srgbClr val="1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8686800" y="51206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7.2% / 1.00×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57200" y="5669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95A7"/>
                </a:solidFill>
              </a:defRPr>
            </a:pPr>
            <a:r>
              <a:t>† = exploitation-only (50ep exploration removed for fair comparison with SCG pre-loaded data)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457200" y="6035040"/>
            <a:ext cx="11247120" cy="54864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640080" y="603504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5A623"/>
                </a:solidFill>
              </a:defRPr>
            </a:pPr>
            <a:r>
              <a:t>Key: SCG best on HotpotQA/WebShop (cost-efficient) | Adaptive† best on APPS (+6.8pp over SCG) | Both dominate all CBs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93E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2860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Part 3: Principled-Adaptive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DD9D0"/>
                </a:solidFill>
              </a:defRPr>
            </a:pPr>
            <a:r>
              <a:t>Fully Automated Gating — No Domain Knowledge Required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Motivation: Why We Need a New Method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5029200" cy="2286000"/>
          </a:xfrm>
          <a:prstGeom prst="roundRect">
            <a:avLst/>
          </a:prstGeom>
          <a:solidFill>
            <a:srgbClr val="5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46634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59"/>
              </a:spcAft>
              <a:defRPr sz="1300" b="0">
                <a:solidFill>
                  <a:srgbClr val="E0E0E0"/>
                </a:solidFill>
              </a:defRPr>
            </a:pPr>
            <a:r>
              <a:t>SCG Limitations:</a:t>
            </a:r>
          </a:p>
          <a:p>
            <a:pPr>
              <a:spcAft>
                <a:spcPts val="259"/>
              </a:spcAft>
              <a:defRPr sz="1300" b="0">
                <a:solidFill>
                  <a:srgbClr val="E0E0E0"/>
                </a:solidFill>
              </a:defRPr>
            </a:pPr>
            <a:endParaRPr/>
          </a:p>
          <a:p>
            <a:pPr>
              <a:spcAft>
                <a:spcPts val="259"/>
              </a:spcAft>
              <a:defRPr sz="1300" b="0">
                <a:solidFill>
                  <a:srgbClr val="E0E0E0"/>
                </a:solidFill>
              </a:defRPr>
            </a:pPr>
            <a:r>
              <a:t>❌ Requires domain knowledge to design features</a:t>
            </a:r>
          </a:p>
          <a:p>
            <a:pPr>
              <a:spcAft>
                <a:spcPts val="259"/>
              </a:spcAft>
              <a:defRPr sz="1300" b="0">
                <a:solidFill>
                  <a:srgbClr val="E0E0E0"/>
                </a:solidFill>
              </a:defRPr>
            </a:pPr>
            <a:r>
              <a:t>    (evidence_count, state_category, etc.)</a:t>
            </a:r>
          </a:p>
          <a:p>
            <a:pPr>
              <a:spcAft>
                <a:spcPts val="259"/>
              </a:spcAft>
              <a:defRPr sz="1300" b="0">
                <a:solidFill>
                  <a:srgbClr val="E0E0E0"/>
                </a:solidFill>
              </a:defRPr>
            </a:pPr>
            <a:endParaRPr/>
          </a:p>
          <a:p>
            <a:pPr>
              <a:spcAft>
                <a:spcPts val="259"/>
              </a:spcAft>
              <a:defRPr sz="1300" b="0">
                <a:solidFill>
                  <a:srgbClr val="E0E0E0"/>
                </a:solidFill>
              </a:defRPr>
            </a:pPr>
            <a:r>
              <a:t>❌ Weak-signal environments: APPS SR ≈ base_only</a:t>
            </a:r>
          </a:p>
          <a:p>
            <a:pPr>
              <a:spcAft>
                <a:spcPts val="259"/>
              </a:spcAft>
              <a:defRPr sz="1300" b="0">
                <a:solidFill>
                  <a:srgbClr val="E0E0E0"/>
                </a:solidFill>
              </a:defRPr>
            </a:pPr>
            <a:r>
              <a:t>    (58.8% vs 58.5% — gate barely triggers)</a:t>
            </a:r>
          </a:p>
          <a:p>
            <a:pPr>
              <a:spcAft>
                <a:spcPts val="259"/>
              </a:spcAft>
              <a:defRPr sz="1300" b="0">
                <a:solidFill>
                  <a:srgbClr val="E0E0E0"/>
                </a:solidFill>
              </a:defRPr>
            </a:pPr>
            <a:endParaRPr/>
          </a:p>
          <a:p>
            <a:pPr>
              <a:spcAft>
                <a:spcPts val="259"/>
              </a:spcAft>
              <a:defRPr sz="1300" b="0">
                <a:solidFill>
                  <a:srgbClr val="E0E0E0"/>
                </a:solidFill>
              </a:defRPr>
            </a:pPr>
            <a:r>
              <a:t>❌ Manual threshold (0.5) — not optimal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188720"/>
            <a:ext cx="5029200" cy="2286000"/>
          </a:xfrm>
          <a:prstGeom prst="roundRect">
            <a:avLst/>
          </a:prstGeom>
          <a:solidFill>
            <a:srgbClr val="1A3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0" y="1280160"/>
            <a:ext cx="46634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59"/>
              </a:spcAft>
              <a:defRPr sz="1300" b="0">
                <a:solidFill>
                  <a:srgbClr val="E0E0E0"/>
                </a:solidFill>
              </a:defRPr>
            </a:pPr>
            <a:r>
              <a:rPr dirty="0"/>
              <a:t>Principled-Adaptive Goals:</a:t>
            </a:r>
          </a:p>
          <a:p>
            <a:pPr>
              <a:spcAft>
                <a:spcPts val="259"/>
              </a:spcAft>
              <a:defRPr sz="1300" b="0">
                <a:solidFill>
                  <a:srgbClr val="E0E0E0"/>
                </a:solidFill>
              </a:defRPr>
            </a:pPr>
            <a:endParaRPr dirty="0"/>
          </a:p>
          <a:p>
            <a:pPr>
              <a:spcAft>
                <a:spcPts val="259"/>
              </a:spcAft>
              <a:defRPr sz="1300" b="0">
                <a:solidFill>
                  <a:srgbClr val="E0E0E0"/>
                </a:solidFill>
              </a:defRPr>
            </a:pPr>
            <a:r>
              <a:rPr dirty="0"/>
              <a:t>✅ Automated feature selection (no domain knowledge)</a:t>
            </a:r>
          </a:p>
          <a:p>
            <a:pPr>
              <a:spcAft>
                <a:spcPts val="259"/>
              </a:spcAft>
              <a:defRPr sz="1300" b="0">
                <a:solidFill>
                  <a:srgbClr val="E0E0E0"/>
                </a:solidFill>
              </a:defRPr>
            </a:pPr>
            <a:r>
              <a:rPr dirty="0"/>
              <a:t>    Auto feature pool → LASSO → top features</a:t>
            </a:r>
          </a:p>
          <a:p>
            <a:pPr>
              <a:spcAft>
                <a:spcPts val="259"/>
              </a:spcAft>
              <a:defRPr sz="1300" b="0">
                <a:solidFill>
                  <a:srgbClr val="E0E0E0"/>
                </a:solidFill>
              </a:defRPr>
            </a:pPr>
            <a:endParaRPr dirty="0"/>
          </a:p>
          <a:p>
            <a:pPr>
              <a:spcAft>
                <a:spcPts val="259"/>
              </a:spcAft>
              <a:defRPr sz="1300" b="0">
                <a:solidFill>
                  <a:srgbClr val="E0E0E0"/>
                </a:solidFill>
              </a:defRPr>
            </a:pPr>
            <a:r>
              <a:rPr dirty="0"/>
              <a:t>✅ Optimal threshold from data</a:t>
            </a:r>
          </a:p>
          <a:p>
            <a:pPr>
              <a:spcAft>
                <a:spcPts val="259"/>
              </a:spcAft>
              <a:defRPr sz="1300" b="0">
                <a:solidFill>
                  <a:srgbClr val="E0E0E0"/>
                </a:solidFill>
              </a:defRPr>
            </a:pPr>
            <a:r>
              <a:rPr dirty="0"/>
              <a:t>    Adaptive </a:t>
            </a:r>
            <a:r>
              <a:rPr dirty="0" err="1"/>
              <a:t>λ</a:t>
            </a:r>
            <a:r>
              <a:rPr dirty="0"/>
              <a:t> → CMDP-optimal decision boundary</a:t>
            </a:r>
          </a:p>
          <a:p>
            <a:pPr>
              <a:spcAft>
                <a:spcPts val="259"/>
              </a:spcAft>
              <a:defRPr sz="1300" b="0">
                <a:solidFill>
                  <a:srgbClr val="E0E0E0"/>
                </a:solidFill>
              </a:defRPr>
            </a:pPr>
            <a:endParaRPr dirty="0"/>
          </a:p>
          <a:p>
            <a:pPr>
              <a:spcAft>
                <a:spcPts val="259"/>
              </a:spcAft>
              <a:defRPr sz="1300" b="0">
                <a:solidFill>
                  <a:srgbClr val="E0E0E0"/>
                </a:solidFill>
              </a:defRPr>
            </a:pPr>
            <a:r>
              <a:rPr dirty="0"/>
              <a:t>✅ Fully online — no offline data needed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10698480" cy="256032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4023360"/>
            <a:ext cx="10332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59"/>
              </a:spcAft>
              <a:defRPr sz="1300" b="0">
                <a:solidFill>
                  <a:srgbClr val="E0E0E0"/>
                </a:solidFill>
              </a:defRPr>
            </a:pPr>
            <a:r>
              <a:t>The APPS Gap — Key Motivation:</a:t>
            </a:r>
          </a:p>
          <a:p>
            <a:pPr>
              <a:spcAft>
                <a:spcPts val="259"/>
              </a:spcAft>
              <a:defRPr sz="1300" b="0">
                <a:solidFill>
                  <a:srgbClr val="E0E0E0"/>
                </a:solidFill>
              </a:defRPr>
            </a:pPr>
            <a:endParaRPr/>
          </a:p>
          <a:p>
            <a:pPr>
              <a:spcAft>
                <a:spcPts val="259"/>
              </a:spcAft>
              <a:defRPr sz="1300" b="0">
                <a:solidFill>
                  <a:srgbClr val="E0E0E0"/>
                </a:solidFill>
              </a:defRPr>
            </a:pPr>
            <a:r>
              <a:t>• APPS oracle = 75.0%  &gt;&gt;  always_trigger = 64.5%  &gt;&gt;  SCG = 58.8%</a:t>
            </a:r>
          </a:p>
          <a:p>
            <a:pPr>
              <a:spcAft>
                <a:spcPts val="259"/>
              </a:spcAft>
              <a:defRPr sz="1300" b="0">
                <a:solidFill>
                  <a:srgbClr val="E0E0E0"/>
                </a:solidFill>
              </a:defRPr>
            </a:pPr>
            <a:r>
              <a:t>• Gap between SCG and oracle: 16.2pp — handcrafted features miss the signal</a:t>
            </a:r>
          </a:p>
          <a:p>
            <a:pPr>
              <a:spcAft>
                <a:spcPts val="259"/>
              </a:spcAft>
              <a:defRPr sz="1300" b="0">
                <a:solidFill>
                  <a:srgbClr val="E0E0E0"/>
                </a:solidFill>
              </a:defRPr>
            </a:pPr>
            <a:r>
              <a:t>• Only signal: step_count (ρ = -0.155) — too weak for 5-feature LR</a:t>
            </a:r>
          </a:p>
          <a:p>
            <a:pPr>
              <a:spcAft>
                <a:spcPts val="259"/>
              </a:spcAft>
              <a:defRPr sz="1300" b="0">
                <a:solidFill>
                  <a:srgbClr val="E0E0E0"/>
                </a:solidFill>
              </a:defRPr>
            </a:pPr>
            <a:endParaRPr/>
          </a:p>
          <a:p>
            <a:pPr>
              <a:spcAft>
                <a:spcPts val="259"/>
              </a:spcAft>
              <a:defRPr sz="1300" b="0">
                <a:solidFill>
                  <a:srgbClr val="E0E0E0"/>
                </a:solidFill>
              </a:defRPr>
            </a:pPr>
            <a:r>
              <a:t>→ Need: automatic discovery of richer feature representations that capture rollout value</a:t>
            </a:r>
          </a:p>
          <a:p>
            <a:pPr>
              <a:spcAft>
                <a:spcPts val="259"/>
              </a:spcAft>
              <a:defRPr sz="1300" b="0">
                <a:solidFill>
                  <a:srgbClr val="E0E0E0"/>
                </a:solidFill>
              </a:defRPr>
            </a:pPr>
            <a:r>
              <a:t>→ Hidden state probe showed offline AUC=0.88 but online threshold shift kills end-to-end performance</a:t>
            </a:r>
          </a:p>
          <a:p>
            <a:pPr>
              <a:spcAft>
                <a:spcPts val="259"/>
              </a:spcAft>
              <a:defRPr sz="1300" b="0">
                <a:solidFill>
                  <a:srgbClr val="E0E0E0"/>
                </a:solidFill>
              </a:defRPr>
            </a:pPr>
            <a:r>
              <a:t>→ Solution: LASSO on expanded auto feature pool + adaptive threshold calibration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Principled-Adaptive: Architecture</a:t>
            </a:r>
          </a:p>
        </p:txBody>
      </p:sp>
      <p:pic>
        <p:nvPicPr>
          <p:cNvPr id="3" name="Picture 2" descr="fig7_method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11612880" cy="580231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Threshold Optimization: 4 Iterations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95A7"/>
                </a:solidFill>
              </a:defRPr>
            </a:pPr>
            <a:r>
              <a:t>Core bottleneck: ranking is excellent (AUC 0.88-1.00) but threshold calibration is hard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3108960" cy="46884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9"/>
              </a:spcAft>
              <a:defRPr sz="1100" b="0">
                <a:solidFill>
                  <a:srgbClr val="E0E0E0"/>
                </a:solidFill>
              </a:defRPr>
            </a:pPr>
            <a:r>
              <a:rPr sz="1600" dirty="0"/>
              <a:t>Iteration History:</a:t>
            </a:r>
          </a:p>
          <a:p>
            <a:pPr>
              <a:spcAft>
                <a:spcPts val="219"/>
              </a:spcAft>
              <a:defRPr sz="1100" b="0">
                <a:solidFill>
                  <a:srgbClr val="E0E0E0"/>
                </a:solidFill>
              </a:defRPr>
            </a:pPr>
            <a:endParaRPr sz="1600" dirty="0"/>
          </a:p>
          <a:p>
            <a:pPr>
              <a:spcAft>
                <a:spcPts val="219"/>
              </a:spcAft>
              <a:defRPr sz="1100" b="0">
                <a:solidFill>
                  <a:srgbClr val="E0E0E0"/>
                </a:solidFill>
              </a:defRPr>
            </a:pPr>
            <a:r>
              <a:rPr sz="1600" dirty="0"/>
              <a:t>v1 (</a:t>
            </a:r>
            <a:r>
              <a:rPr sz="1600" dirty="0" err="1"/>
              <a:t>nopca</a:t>
            </a:r>
            <a:r>
              <a:rPr sz="1600" dirty="0"/>
              <a:t>):</a:t>
            </a:r>
          </a:p>
          <a:p>
            <a:pPr>
              <a:spcAft>
                <a:spcPts val="219"/>
              </a:spcAft>
              <a:defRPr sz="1100" b="0">
                <a:solidFill>
                  <a:srgbClr val="E0E0E0"/>
                </a:solidFill>
              </a:defRPr>
            </a:pPr>
            <a:r>
              <a:rPr sz="1600" dirty="0"/>
              <a:t>  Heuristic threshold</a:t>
            </a:r>
          </a:p>
          <a:p>
            <a:pPr>
              <a:spcAft>
                <a:spcPts val="219"/>
              </a:spcAft>
              <a:defRPr sz="1100" b="0">
                <a:solidFill>
                  <a:srgbClr val="E0E0E0"/>
                </a:solidFill>
              </a:defRPr>
            </a:pPr>
            <a:r>
              <a:rPr sz="1600" dirty="0"/>
              <a:t>  ⚠ APPS over-triggers</a:t>
            </a:r>
          </a:p>
          <a:p>
            <a:pPr>
              <a:spcAft>
                <a:spcPts val="219"/>
              </a:spcAft>
              <a:defRPr sz="1100" b="0">
                <a:solidFill>
                  <a:srgbClr val="E0E0E0"/>
                </a:solidFill>
              </a:defRPr>
            </a:pPr>
            <a:endParaRPr sz="1600" dirty="0"/>
          </a:p>
          <a:p>
            <a:pPr>
              <a:spcAft>
                <a:spcPts val="219"/>
              </a:spcAft>
              <a:defRPr sz="1100" b="0">
                <a:solidFill>
                  <a:srgbClr val="E0E0E0"/>
                </a:solidFill>
              </a:defRPr>
            </a:pPr>
            <a:r>
              <a:rPr sz="1600" dirty="0"/>
              <a:t>v2 (auto):</a:t>
            </a:r>
          </a:p>
          <a:p>
            <a:pPr>
              <a:spcAft>
                <a:spcPts val="219"/>
              </a:spcAft>
              <a:defRPr sz="1100" b="0">
                <a:solidFill>
                  <a:srgbClr val="E0E0E0"/>
                </a:solidFill>
              </a:defRPr>
            </a:pPr>
            <a:r>
              <a:rPr sz="1600" dirty="0"/>
              <a:t>  Fixed </a:t>
            </a:r>
            <a:r>
              <a:rPr sz="1600" dirty="0" err="1"/>
              <a:t>λ</a:t>
            </a:r>
            <a:r>
              <a:rPr sz="1600" dirty="0"/>
              <a:t>=0.05 sweep</a:t>
            </a:r>
          </a:p>
          <a:p>
            <a:pPr>
              <a:spcAft>
                <a:spcPts val="219"/>
              </a:spcAft>
              <a:defRPr sz="1100" b="0">
                <a:solidFill>
                  <a:srgbClr val="E0E0E0"/>
                </a:solidFill>
              </a:defRPr>
            </a:pPr>
            <a:r>
              <a:rPr sz="1600" dirty="0"/>
              <a:t>  ❌ </a:t>
            </a:r>
            <a:r>
              <a:rPr sz="1600" dirty="0" err="1"/>
              <a:t>HotpotQA</a:t>
            </a:r>
            <a:r>
              <a:rPr sz="1600" dirty="0"/>
              <a:t> SR crash 68%</a:t>
            </a:r>
          </a:p>
          <a:p>
            <a:pPr>
              <a:spcAft>
                <a:spcPts val="219"/>
              </a:spcAft>
              <a:defRPr sz="1100" b="0">
                <a:solidFill>
                  <a:srgbClr val="E0E0E0"/>
                </a:solidFill>
              </a:defRPr>
            </a:pPr>
            <a:endParaRPr sz="1600" dirty="0"/>
          </a:p>
          <a:p>
            <a:pPr>
              <a:spcAft>
                <a:spcPts val="219"/>
              </a:spcAft>
              <a:defRPr sz="1100" b="0">
                <a:solidFill>
                  <a:srgbClr val="E0E0E0"/>
                </a:solidFill>
              </a:defRPr>
            </a:pPr>
            <a:r>
              <a:rPr sz="1600" dirty="0"/>
              <a:t>v3 (adaptive): ✅ Best</a:t>
            </a:r>
          </a:p>
          <a:p>
            <a:pPr>
              <a:spcAft>
                <a:spcPts val="219"/>
              </a:spcAft>
              <a:defRPr sz="1100" b="0">
                <a:solidFill>
                  <a:srgbClr val="E0E0E0"/>
                </a:solidFill>
              </a:defRPr>
            </a:pPr>
            <a:r>
              <a:rPr sz="1600" dirty="0"/>
              <a:t>  Adaptive </a:t>
            </a:r>
            <a:r>
              <a:rPr sz="1600" dirty="0" err="1"/>
              <a:t>λ</a:t>
            </a:r>
            <a:r>
              <a:rPr sz="1600" dirty="0"/>
              <a:t> from data</a:t>
            </a:r>
          </a:p>
          <a:p>
            <a:pPr>
              <a:spcAft>
                <a:spcPts val="219"/>
              </a:spcAft>
              <a:defRPr sz="1100" b="0">
                <a:solidFill>
                  <a:srgbClr val="E0E0E0"/>
                </a:solidFill>
              </a:defRPr>
            </a:pPr>
            <a:r>
              <a:rPr sz="1600" dirty="0"/>
              <a:t>  </a:t>
            </a:r>
            <a:r>
              <a:rPr sz="1600" dirty="0" err="1"/>
              <a:t>HotpotQA</a:t>
            </a:r>
            <a:r>
              <a:rPr sz="1600" dirty="0"/>
              <a:t> 96.9%, APPS 65.6%</a:t>
            </a:r>
          </a:p>
          <a:p>
            <a:pPr>
              <a:spcAft>
                <a:spcPts val="219"/>
              </a:spcAft>
              <a:defRPr sz="1100" b="0">
                <a:solidFill>
                  <a:srgbClr val="E0E0E0"/>
                </a:solidFill>
              </a:defRPr>
            </a:pPr>
            <a:endParaRPr sz="1600" dirty="0"/>
          </a:p>
          <a:p>
            <a:pPr>
              <a:spcAft>
                <a:spcPts val="219"/>
              </a:spcAft>
              <a:defRPr sz="1100" b="0">
                <a:solidFill>
                  <a:srgbClr val="E0E0E0"/>
                </a:solidFill>
              </a:defRPr>
            </a:pPr>
            <a:r>
              <a:rPr sz="1600" dirty="0"/>
              <a:t>v4 (</a:t>
            </a:r>
            <a:r>
              <a:rPr sz="1600" dirty="0" err="1"/>
              <a:t>fbeta</a:t>
            </a:r>
            <a:r>
              <a:rPr sz="1600" dirty="0"/>
              <a:t>): ⏳ Pending</a:t>
            </a:r>
          </a:p>
          <a:p>
            <a:pPr>
              <a:spcAft>
                <a:spcPts val="219"/>
              </a:spcAft>
              <a:defRPr sz="1100" b="0">
                <a:solidFill>
                  <a:srgbClr val="E0E0E0"/>
                </a:solidFill>
              </a:defRPr>
            </a:pPr>
            <a:r>
              <a:rPr sz="1600" dirty="0"/>
              <a:t>  F-beta threshold</a:t>
            </a:r>
          </a:p>
          <a:p>
            <a:pPr>
              <a:spcAft>
                <a:spcPts val="219"/>
              </a:spcAft>
              <a:defRPr sz="1100" b="0">
                <a:solidFill>
                  <a:srgbClr val="E0E0E0"/>
                </a:solidFill>
              </a:defRPr>
            </a:pPr>
            <a:r>
              <a:rPr sz="1600" dirty="0"/>
              <a:t>  Expected: fix edge cases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Principled-Adaptive vs SCG: Head-to-Head</a:t>
            </a:r>
          </a:p>
        </p:txBody>
      </p:sp>
      <p:pic>
        <p:nvPicPr>
          <p:cNvPr id="3" name="Picture 2" descr="fig6_principled_vs_sc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0"/>
            <a:ext cx="11704320" cy="4664502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457200" y="5486400"/>
            <a:ext cx="11247120" cy="109728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553212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59"/>
              </a:spcAft>
              <a:defRPr sz="1300" b="1">
                <a:solidFill>
                  <a:srgbClr val="F5A623"/>
                </a:solidFill>
              </a:defRPr>
            </a:pPr>
            <a:r>
              <a:t>Dual-Method Complementarity: SCG = cost-efficient (strong signals) | Principled = SR-first (weak signals, no domain knowledge)</a:t>
            </a:r>
          </a:p>
          <a:p>
            <a:pPr>
              <a:spcAft>
                <a:spcPts val="259"/>
              </a:spcAft>
              <a:defRPr sz="1300" b="1">
                <a:solidFill>
                  <a:srgbClr val="F5A623"/>
                </a:solidFill>
              </a:defRPr>
            </a:pPr>
            <a:r>
              <a:t>APPS: Principled +6.8pp over SCG — automated features discover what handcrafted miss | HotpotQA/WebShop: both ≈ match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Principled-Adaptive: Architecture</a:t>
            </a:r>
          </a:p>
        </p:txBody>
      </p:sp>
      <p:pic>
        <p:nvPicPr>
          <p:cNvPr id="3" name="Picture 2" descr="fig7_method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11612880" cy="5802310"/>
          </a:xfrm>
          <a:prstGeom prst="rect">
            <a:avLst/>
          </a:prstGeom>
        </p:spPr>
      </p:pic>
      <p:pic>
        <p:nvPicPr>
          <p:cNvPr id="1026" name="Picture 2" descr="Claude | Slack Marketplace">
            <a:extLst>
              <a:ext uri="{FF2B5EF4-FFF2-40B4-BE49-F238E27FC236}">
                <a16:creationId xmlns:a16="http://schemas.microsoft.com/office/drawing/2014/main" id="{A957F0D9-6A01-ADF8-1476-7A077DFE8C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4033" y="3010016"/>
            <a:ext cx="837967" cy="837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C645F9A-C30C-64B1-6D84-11C4F11EFCF2}"/>
              </a:ext>
            </a:extLst>
          </p:cNvPr>
          <p:cNvCxnSpPr/>
          <p:nvPr/>
        </p:nvCxnSpPr>
        <p:spPr>
          <a:xfrm flipV="1">
            <a:off x="1577130" y="3847983"/>
            <a:ext cx="2483142" cy="4220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02401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Summary &amp; Next Steps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5029200" cy="502920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44880" y="1463040"/>
            <a:ext cx="4663440" cy="4347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59"/>
              </a:spcAft>
              <a:defRPr sz="1300" b="0">
                <a:solidFill>
                  <a:srgbClr val="E0E0E0"/>
                </a:solidFill>
              </a:defRPr>
            </a:pPr>
            <a:r>
              <a:rPr dirty="0"/>
              <a:t>This Week's Achievements:</a:t>
            </a:r>
          </a:p>
          <a:p>
            <a:pPr>
              <a:spcAft>
                <a:spcPts val="259"/>
              </a:spcAft>
              <a:defRPr sz="1300" b="0">
                <a:solidFill>
                  <a:srgbClr val="E0E0E0"/>
                </a:solidFill>
              </a:defRPr>
            </a:pPr>
            <a:endParaRPr dirty="0"/>
          </a:p>
          <a:p>
            <a:pPr>
              <a:spcAft>
                <a:spcPts val="259"/>
              </a:spcAft>
              <a:defRPr sz="1300" b="0">
                <a:solidFill>
                  <a:srgbClr val="E0E0E0"/>
                </a:solidFill>
              </a:defRPr>
            </a:pPr>
            <a:r>
              <a:rPr dirty="0"/>
              <a:t>1. Theory: Two-Source Model</a:t>
            </a:r>
          </a:p>
          <a:p>
            <a:pPr>
              <a:spcAft>
                <a:spcPts val="259"/>
              </a:spcAft>
              <a:defRPr sz="1300" b="0">
                <a:solidFill>
                  <a:srgbClr val="E0E0E0"/>
                </a:solidFill>
              </a:defRPr>
            </a:pPr>
            <a:r>
              <a:rPr dirty="0"/>
              <a:t>   → 3/3 predictions confirmed</a:t>
            </a:r>
          </a:p>
          <a:p>
            <a:pPr>
              <a:spcAft>
                <a:spcPts val="259"/>
              </a:spcAft>
              <a:defRPr sz="1300" b="0">
                <a:solidFill>
                  <a:srgbClr val="E0E0E0"/>
                </a:solidFill>
              </a:defRPr>
            </a:pPr>
            <a:r>
              <a:rPr dirty="0"/>
              <a:t>   → Paper upgraded: Finding → Theory</a:t>
            </a:r>
          </a:p>
          <a:p>
            <a:pPr>
              <a:spcAft>
                <a:spcPts val="259"/>
              </a:spcAft>
              <a:defRPr sz="1300" b="0">
                <a:solidFill>
                  <a:srgbClr val="E0E0E0"/>
                </a:solidFill>
              </a:defRPr>
            </a:pPr>
            <a:endParaRPr dirty="0"/>
          </a:p>
          <a:p>
            <a:pPr>
              <a:spcAft>
                <a:spcPts val="259"/>
              </a:spcAft>
              <a:defRPr sz="1300" b="0">
                <a:solidFill>
                  <a:srgbClr val="E0E0E0"/>
                </a:solidFill>
              </a:defRPr>
            </a:pPr>
            <a:r>
              <a:rPr dirty="0"/>
              <a:t>2. Method: Principled-Adaptive</a:t>
            </a:r>
          </a:p>
          <a:p>
            <a:pPr>
              <a:spcAft>
                <a:spcPts val="259"/>
              </a:spcAft>
              <a:defRPr sz="1300" b="0">
                <a:solidFill>
                  <a:srgbClr val="E0E0E0"/>
                </a:solidFill>
              </a:defRPr>
            </a:pPr>
            <a:r>
              <a:rPr dirty="0"/>
              <a:t>   → Fully automated, no domain knowledge</a:t>
            </a:r>
          </a:p>
          <a:p>
            <a:pPr>
              <a:spcAft>
                <a:spcPts val="259"/>
              </a:spcAft>
              <a:defRPr sz="1300" b="0">
                <a:solidFill>
                  <a:srgbClr val="E0E0E0"/>
                </a:solidFill>
              </a:defRPr>
            </a:pPr>
            <a:r>
              <a:rPr dirty="0"/>
              <a:t>   → APPS +6.8pp over SCG</a:t>
            </a:r>
          </a:p>
          <a:p>
            <a:pPr>
              <a:spcAft>
                <a:spcPts val="259"/>
              </a:spcAft>
              <a:defRPr sz="1300" b="0">
                <a:solidFill>
                  <a:srgbClr val="E0E0E0"/>
                </a:solidFill>
              </a:defRPr>
            </a:pPr>
            <a:r>
              <a:rPr dirty="0"/>
              <a:t>   → CAGC ranking #1 (SCG) + #2 (Adaptive)</a:t>
            </a:r>
          </a:p>
          <a:p>
            <a:pPr>
              <a:spcAft>
                <a:spcPts val="259"/>
              </a:spcAft>
              <a:defRPr sz="1300" b="0">
                <a:solidFill>
                  <a:srgbClr val="E0E0E0"/>
                </a:solidFill>
              </a:defRPr>
            </a:pPr>
            <a:endParaRPr dirty="0"/>
          </a:p>
          <a:p>
            <a:pPr>
              <a:spcAft>
                <a:spcPts val="259"/>
              </a:spcAft>
              <a:defRPr sz="1300" b="0">
                <a:solidFill>
                  <a:srgbClr val="E0E0E0"/>
                </a:solidFill>
              </a:defRPr>
            </a:pPr>
            <a:r>
              <a:rPr dirty="0"/>
              <a:t>3. Environment: </a:t>
            </a:r>
            <a:r>
              <a:rPr lang="en-US" altLang="zh-CN" dirty="0"/>
              <a:t>3</a:t>
            </a:r>
            <a:r>
              <a:rPr dirty="0"/>
              <a:t> locked</a:t>
            </a:r>
          </a:p>
          <a:p>
            <a:pPr>
              <a:spcAft>
                <a:spcPts val="259"/>
              </a:spcAft>
              <a:defRPr sz="1300" b="0">
                <a:solidFill>
                  <a:srgbClr val="E0E0E0"/>
                </a:solidFill>
              </a:defRPr>
            </a:pPr>
            <a:r>
              <a:rPr dirty="0"/>
              <a:t>   → 18 tested, comprehensive coverage</a:t>
            </a:r>
          </a:p>
          <a:p>
            <a:pPr>
              <a:spcAft>
                <a:spcPts val="259"/>
              </a:spcAft>
              <a:defRPr sz="1300" b="0">
                <a:solidFill>
                  <a:srgbClr val="E0E0E0"/>
                </a:solidFill>
              </a:defRPr>
            </a:pPr>
            <a:r>
              <a:rPr dirty="0"/>
              <a:t>   → Cross-env transfer validates theory</a:t>
            </a:r>
          </a:p>
          <a:p>
            <a:pPr>
              <a:spcAft>
                <a:spcPts val="259"/>
              </a:spcAft>
              <a:defRPr sz="1300" b="0">
                <a:solidFill>
                  <a:srgbClr val="E0E0E0"/>
                </a:solidFill>
              </a:defRPr>
            </a:pPr>
            <a:endParaRPr dirty="0"/>
          </a:p>
          <a:p>
            <a:pPr>
              <a:spcAft>
                <a:spcPts val="259"/>
              </a:spcAft>
              <a:defRPr sz="1300" b="0">
                <a:solidFill>
                  <a:srgbClr val="E0E0E0"/>
                </a:solidFill>
              </a:defRPr>
            </a:pPr>
            <a:r>
              <a:rPr dirty="0"/>
              <a:t>4. Bug Fix: </a:t>
            </a:r>
            <a:r>
              <a:rPr dirty="0" err="1"/>
              <a:t>hidden_state</a:t>
            </a:r>
            <a:r>
              <a:rPr dirty="0"/>
              <a:t> never passed</a:t>
            </a:r>
          </a:p>
          <a:p>
            <a:pPr>
              <a:spcAft>
                <a:spcPts val="259"/>
              </a:spcAft>
              <a:defRPr sz="1300" b="0">
                <a:solidFill>
                  <a:srgbClr val="E0E0E0"/>
                </a:solidFill>
              </a:defRPr>
            </a:pPr>
            <a:r>
              <a:rPr dirty="0"/>
              <a:t>   → All prior probe E2E results invalidated</a:t>
            </a:r>
          </a:p>
          <a:p>
            <a:pPr>
              <a:spcAft>
                <a:spcPts val="259"/>
              </a:spcAft>
              <a:defRPr sz="1300" b="0">
                <a:solidFill>
                  <a:srgbClr val="E0E0E0"/>
                </a:solidFill>
              </a:defRPr>
            </a:pPr>
            <a:r>
              <a:rPr dirty="0"/>
              <a:t>   → Probe repositioned for analysis only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097280"/>
            <a:ext cx="5212080" cy="5029200"/>
          </a:xfrm>
          <a:prstGeom prst="round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0" y="1188720"/>
            <a:ext cx="4846320" cy="14850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59"/>
              </a:spcAft>
              <a:defRPr sz="1300" b="0">
                <a:solidFill>
                  <a:srgbClr val="E0E0E0"/>
                </a:solidFill>
              </a:defRPr>
            </a:pPr>
            <a:r>
              <a:rPr dirty="0"/>
              <a:t>Next Steps:</a:t>
            </a:r>
          </a:p>
          <a:p>
            <a:pPr>
              <a:spcAft>
                <a:spcPts val="259"/>
              </a:spcAft>
              <a:defRPr sz="1300" b="0">
                <a:solidFill>
                  <a:srgbClr val="E0E0E0"/>
                </a:solidFill>
              </a:defRPr>
            </a:pPr>
            <a:endParaRPr dirty="0"/>
          </a:p>
          <a:p>
            <a:pPr>
              <a:spcAft>
                <a:spcPts val="259"/>
              </a:spcAft>
              <a:defRPr sz="1300" b="0">
                <a:solidFill>
                  <a:srgbClr val="E0E0E0"/>
                </a:solidFill>
              </a:defRPr>
            </a:pPr>
            <a:r>
              <a:rPr dirty="0"/>
              <a:t>P0 — Method Finalization:</a:t>
            </a:r>
          </a:p>
          <a:p>
            <a:pPr>
              <a:spcAft>
                <a:spcPts val="259"/>
              </a:spcAft>
              <a:defRPr sz="1300" b="0">
                <a:solidFill>
                  <a:srgbClr val="E0E0E0"/>
                </a:solidFill>
              </a:defRPr>
            </a:pPr>
            <a:r>
              <a:rPr dirty="0"/>
              <a:t>  • Analyze </a:t>
            </a:r>
            <a:r>
              <a:rPr dirty="0" err="1"/>
              <a:t>fbeta</a:t>
            </a:r>
            <a:r>
              <a:rPr dirty="0"/>
              <a:t> threshold results</a:t>
            </a:r>
          </a:p>
          <a:p>
            <a:pPr>
              <a:spcAft>
                <a:spcPts val="259"/>
              </a:spcAft>
              <a:defRPr sz="1300" b="0">
                <a:solidFill>
                  <a:srgbClr val="E0E0E0"/>
                </a:solidFill>
              </a:defRPr>
            </a:pPr>
            <a:r>
              <a:rPr dirty="0"/>
              <a:t>  • Choose final method variant</a:t>
            </a:r>
          </a:p>
          <a:p>
            <a:pPr>
              <a:spcAft>
                <a:spcPts val="259"/>
              </a:spcAft>
              <a:defRPr sz="1300" b="0">
                <a:solidFill>
                  <a:srgbClr val="E0E0E0"/>
                </a:solidFill>
              </a:defRPr>
            </a:pPr>
            <a:r>
              <a:rPr dirty="0"/>
              <a:t>  • Generate unified Pareto figure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1254</Words>
  <Application>Microsoft Macintosh PowerPoint</Application>
  <PresentationFormat>Widescreen</PresentationFormat>
  <Paragraphs>233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ziming li</cp:lastModifiedBy>
  <cp:revision>3</cp:revision>
  <dcterms:created xsi:type="dcterms:W3CDTF">2013-01-27T09:14:16Z</dcterms:created>
  <dcterms:modified xsi:type="dcterms:W3CDTF">2026-03-17T00:48:23Z</dcterms:modified>
  <cp:category/>
</cp:coreProperties>
</file>