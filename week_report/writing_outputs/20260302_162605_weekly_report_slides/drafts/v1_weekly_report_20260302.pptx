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20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12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2F73E-5FAD-C640-8035-0ED42B2040C0}" type="datetimeFigureOut">
              <a:rPr lang="en-CN" smtClean="0"/>
              <a:t>2026/3/2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84471-EEBF-E14B-92DD-41720BC8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053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84471-EEBF-E14B-92DD-41720BC802BD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918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Direction-Aware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C6"/>
                </a:solidFill>
                <a:latin typeface="Arial"/>
              </a:defRPr>
            </a:pPr>
            <a:r>
              <a:t>Adaptive Test-Time Optimizer Triggering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66160"/>
            <a:ext cx="2743200" cy="36576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73152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 dirty="0"/>
              <a:t>Weekly Report  |  2026-03-02</a:t>
            </a:r>
          </a:p>
          <a:p>
            <a:pPr>
              <a:spcAft>
                <a:spcPts val="599"/>
              </a:spcAft>
              <a:defRPr sz="1800" b="0">
                <a:solidFill>
                  <a:srgbClr val="FFC107"/>
                </a:solidFill>
                <a:latin typeface="Arial"/>
              </a:defRPr>
            </a:pPr>
            <a:r>
              <a:rPr dirty="0"/>
              <a:t>Core Question: For any test-time optimizer T, can we learn WHEN to use it?</a:t>
            </a:r>
          </a:p>
          <a:p>
            <a:pPr>
              <a:spcAft>
                <a:spcPts val="599"/>
              </a:spcAft>
              <a:defRPr sz="1600" b="1">
                <a:solidFill>
                  <a:srgbClr val="4EC9B0"/>
                </a:solidFill>
                <a:latin typeface="Arial"/>
              </a:defRPr>
            </a:pPr>
            <a:r>
              <a:rPr dirty="0"/>
              <a:t>Status: Phase 0-4 Complete  |  Phase 5 Ready to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310128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C6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Full Experiment 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6 Environments  ×  10 Methods  ×  3 Seeds  ×  200 Episodes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Environment Overview &amp; Optimizer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246888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00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234440"/>
            <a:ext cx="105156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Main Exp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Model: Qwen3-4B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Actions: K≤5 (search/lookup/finish)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Arial"/>
              </a:defRPr>
            </a:pPr>
            <a:r>
              <a:t>Optimizer T: Per-action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4688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APPS (Intro)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1508760" cy="292608"/>
          </a:xfrm>
          <a:prstGeom prst="round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2nd Effective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Model: Qwen3-4B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Actions: Single (code gen)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Arial"/>
              </a:defRPr>
            </a:pPr>
            <a:r>
              <a:rPr dirty="0"/>
              <a:t>Optimizer T: K-variant gen (K=5)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566160" cy="24688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234440"/>
            <a:ext cx="1508760" cy="292608"/>
          </a:xfrm>
          <a:prstGeom prst="round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3rd Effective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Model: Qwen3-4B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Actions: Medium (search/click/buy)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Arial"/>
              </a:defRPr>
            </a:pPr>
            <a:r>
              <a:t>Optimizer T: LLM-Propose-K (K=5,H=3)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566160" cy="24688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ALFWorld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3108960" y="3977640"/>
            <a:ext cx="7772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NO-GO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Model: Qwen3-8B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Actions: Medium discrete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Arial"/>
              </a:defRPr>
            </a:pPr>
            <a:r>
              <a:t>Optimizer T: LLM-as-Sim / Batch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40480"/>
            <a:ext cx="3566160" cy="24688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HumanEval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977640"/>
            <a:ext cx="960120" cy="292608"/>
          </a:xfrm>
          <a:prstGeom prst="round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34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Model: Qwen3-4B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Actions: Single (code gen)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Arial"/>
              </a:defRPr>
            </a:pPr>
            <a:r>
              <a:t>Optimizer T: K-variant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3566160" cy="24688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MBPP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3977640"/>
            <a:ext cx="960120" cy="292608"/>
          </a:xfrm>
          <a:prstGeom prst="round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Ceiling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34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Model: Qwen3-4B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Actions: Single (code gen)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Arial"/>
              </a:defRPr>
            </a:pPr>
            <a:r>
              <a:t>Optimizer T: K-variant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Base vs Always-Trigger: Does the Optimizer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rPr dirty="0"/>
              <a:t>Base 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rPr dirty="0"/>
              <a:t>Always 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Δ (lift)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Arial"/>
              </a:defRPr>
            </a:pPr>
            <a:r>
              <a:t>Verdict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49.0%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rPr dirty="0"/>
              <a:t>97.0%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Arial"/>
              </a:defRPr>
            </a:pPr>
            <a:r>
              <a:t>+48.0pp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57.8%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64.8%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Arial"/>
              </a:defRPr>
            </a:pPr>
            <a:r>
              <a:t>+7.0pp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11247120" cy="54864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7.2%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rPr dirty="0"/>
              <a:t>43.0%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Arial"/>
              </a:defRPr>
            </a:pPr>
            <a:r>
              <a:t>+35.8pp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79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033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ALFWorld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7033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7033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7033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Arial"/>
              </a:defRPr>
            </a:pPr>
            <a:r>
              <a:rPr dirty="0"/>
              <a:t>−10.0pp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033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Arial"/>
              </a:defRPr>
            </a:pPr>
            <a:r>
              <a:t>NO-GO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HumanEval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92.1%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92.3%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99999"/>
                </a:solidFill>
                <a:latin typeface="Arial"/>
              </a:defRPr>
            </a:pPr>
            <a:r>
              <a:t>+0.2pp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99999"/>
                </a:solidFill>
                <a:latin typeface="Arial"/>
              </a:defRPr>
            </a:pPr>
            <a:r>
              <a:t>Ceiling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MBPP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92.7%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92.7%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99999"/>
                </a:solidFill>
                <a:latin typeface="Arial"/>
              </a:defRPr>
            </a:pPr>
            <a:r>
              <a:t>+0.0pp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99999"/>
                </a:solidFill>
                <a:latin typeface="Arial"/>
              </a:defRPr>
            </a:pPr>
            <a:r>
              <a:t>Ceiling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Arial"/>
              </a:defRPr>
            </a:pPr>
            <a:r>
              <a:t>Key: 3 effective environments (GO) + 1 boundary result (NO-GO) + 2 ceiling environments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91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HotpotQA</a:t>
            </a:r>
            <a:r>
              <a:rPr dirty="0"/>
              <a:t>: Main Experiment (10 Methods × 3 Seeds)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320040"/>
            <a:ext cx="1920239" cy="32004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MAIN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24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SR (mean±std)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241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rPr dirty="0"/>
              <a:t>RR 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0241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rPr dirty="0"/>
              <a:t>CS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0241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base_only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rPr dirty="0"/>
              <a:t>49.0±1.9%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100.0%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0.000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always_trigger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rPr dirty="0"/>
              <a:t>97.0±0.4%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0.000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23160"/>
            <a:ext cx="11430000" cy="41148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random_50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89.0±0.8%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51.4%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48.6%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0.614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880360"/>
            <a:ext cx="114300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entropy_threshold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67.2±3.3%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21.5%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78.5%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926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0.509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37560"/>
            <a:ext cx="11430000" cy="41148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best_sigma_wrong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6B"/>
                </a:solidFill>
                <a:latin typeface="Arial"/>
              </a:defRPr>
            </a:pPr>
            <a:r>
              <a:t>58.2±2.5%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383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49.9%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383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50.1%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383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6B"/>
                </a:solidFill>
                <a:latin typeface="Arial"/>
              </a:defRPr>
            </a:pPr>
            <a:r>
              <a:t>0.277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94760"/>
            <a:ext cx="114300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scg_prompt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840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95.7±0.5%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82.1%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17.9%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251960"/>
            <a:ext cx="11430000" cy="41148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scg_mlp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297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96.7±0.6%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63.7%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36.3%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709160"/>
            <a:ext cx="1143000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75488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Arial"/>
              </a:defRPr>
            </a:pPr>
            <a:r>
              <a:rPr dirty="0" err="1"/>
              <a:t>scg_finetune</a:t>
            </a:r>
            <a:endParaRPr dirty="0"/>
          </a:p>
        </p:txBody>
      </p:sp>
      <p:sp>
        <p:nvSpPr>
          <p:cNvPr id="54" name="TextBox 53"/>
          <p:cNvSpPr txBox="1"/>
          <p:nvPr/>
        </p:nvSpPr>
        <p:spPr>
          <a:xfrm>
            <a:off x="265176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C107"/>
                </a:solidFill>
                <a:latin typeface="Arial"/>
              </a:defRPr>
            </a:pPr>
            <a:r>
              <a:rPr dirty="0"/>
              <a:t>96.7±0.6%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754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55.9%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4754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44.1%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0.609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166360"/>
            <a:ext cx="11430000" cy="41148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C6"/>
                </a:solidFill>
                <a:latin typeface="Arial"/>
              </a:defRPr>
            </a:pPr>
            <a:r>
              <a:rPr dirty="0"/>
              <a:t>oracle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2C6"/>
                </a:solidFill>
                <a:latin typeface="Arial"/>
              </a:defRPr>
            </a:pPr>
            <a:r>
              <a:rPr dirty="0"/>
              <a:t>97.0±0.4%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33.0%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67.0%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2C6"/>
                </a:solidFill>
                <a:latin typeface="Arial"/>
              </a:defRPr>
            </a:pPr>
            <a:r>
              <a:t>0.802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5760720"/>
            <a:ext cx="7589520" cy="91440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585216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400" b="1">
                <a:solidFill>
                  <a:srgbClr val="FFC107"/>
                </a:solidFill>
                <a:latin typeface="Arial"/>
              </a:defRPr>
            </a:pPr>
            <a:r>
              <a:t>SCG-LR Pareto-dominates random: SR 96.7% &gt;&gt; 89.0%, comparable CS</a:t>
            </a:r>
          </a:p>
          <a:p>
            <a:pPr>
              <a:spcAft>
                <a:spcPts val="479"/>
              </a:spcAft>
              <a:defRPr sz="1400" b="1">
                <a:solidFill>
                  <a:srgbClr val="FF6B6B"/>
                </a:solidFill>
                <a:latin typeface="Arial"/>
              </a:defRPr>
            </a:pPr>
            <a:r>
              <a:t>Wrong-direction SR crashes to 58.2% (−38.8pp vs correct)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APPS &amp; </a:t>
            </a:r>
            <a:r>
              <a:rPr dirty="0" err="1"/>
              <a:t>WebShop</a:t>
            </a:r>
            <a:r>
              <a:rPr dirty="0"/>
              <a:t>: Supporting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5669280" cy="530352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5" y="1146453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58BFF"/>
                </a:solidFill>
                <a:latin typeface="Arial"/>
              </a:defRPr>
            </a:pPr>
            <a:r>
              <a:rPr dirty="0"/>
              <a:t>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143000"/>
            <a:ext cx="1042415" cy="320040"/>
          </a:xfrm>
          <a:prstGeom prst="round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2nd 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80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 err="1"/>
              <a:t>base_only</a:t>
            </a:r>
            <a:r>
              <a:rPr dirty="0"/>
              <a:t>        SR 57.8%    RR 0%</a:t>
            </a:r>
          </a:p>
          <a:p>
            <a:pPr>
              <a:spcAft>
                <a:spcPts val="980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 err="1"/>
              <a:t>always_trigger</a:t>
            </a:r>
            <a:r>
              <a:rPr dirty="0"/>
              <a:t>   SR 64.8%    RR 100%</a:t>
            </a:r>
          </a:p>
          <a:p>
            <a:pPr>
              <a:spcAft>
                <a:spcPts val="980"/>
              </a:spcAft>
              <a:defRPr sz="1300" b="0">
                <a:solidFill>
                  <a:srgbClr val="FF6B6B"/>
                </a:solidFill>
                <a:latin typeface="Courier New"/>
              </a:defRPr>
            </a:pPr>
            <a:r>
              <a:rPr dirty="0" err="1"/>
              <a:t>sigma_wrong</a:t>
            </a:r>
            <a:r>
              <a:rPr dirty="0"/>
              <a:t>      SR 58.5%    RR 0%</a:t>
            </a:r>
          </a:p>
          <a:p>
            <a:pPr>
              <a:spcAft>
                <a:spcPts val="980"/>
              </a:spcAft>
              <a:defRPr sz="1300" b="1">
                <a:solidFill>
                  <a:srgbClr val="FFC107"/>
                </a:solidFill>
                <a:latin typeface="Courier New"/>
              </a:defRPr>
            </a:pPr>
            <a:r>
              <a:rPr dirty="0" err="1"/>
              <a:t>scg_finetune_lr</a:t>
            </a:r>
            <a:r>
              <a:rPr dirty="0"/>
              <a:t>  SR 65.0%    RR 40.2%</a:t>
            </a:r>
          </a:p>
          <a:p>
            <a:pPr>
              <a:spcAft>
                <a:spcPts val="980"/>
              </a:spcAft>
              <a:defRPr sz="1300" b="0">
                <a:solidFill>
                  <a:srgbClr val="00D2C6"/>
                </a:solidFill>
                <a:latin typeface="Courier New"/>
              </a:defRPr>
            </a:pPr>
            <a:r>
              <a:rPr dirty="0"/>
              <a:t>oracle           SR 66.8%    RR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530352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325332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9"/>
              </a:spcAft>
              <a:defRPr sz="1300" b="1">
                <a:solidFill>
                  <a:srgbClr val="FF6B6B"/>
                </a:solidFill>
                <a:latin typeface="Arial"/>
              </a:defRPr>
            </a:pPr>
            <a:r>
              <a:rPr dirty="0"/>
              <a:t>Wrong-</a:t>
            </a:r>
            <a:r>
              <a:rPr dirty="0" err="1"/>
              <a:t>dir</a:t>
            </a:r>
            <a:r>
              <a:rPr dirty="0"/>
              <a:t>: RR=0% — passive abandonment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5669280" cy="530352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1110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58BFF"/>
                </a:solidFill>
                <a:latin typeface="Arial"/>
              </a:defRPr>
            </a:pPr>
            <a:r>
              <a:rPr dirty="0" err="1"/>
              <a:t>WebShop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418320" y="1143000"/>
            <a:ext cx="1042415" cy="320040"/>
          </a:xfrm>
          <a:prstGeom prst="round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3rd 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30352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 err="1"/>
              <a:t>base_only</a:t>
            </a:r>
            <a:r>
              <a:rPr dirty="0"/>
              <a:t>        SR  7.2%   RR  0%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 err="1"/>
              <a:t>always_trigger</a:t>
            </a:r>
            <a:r>
              <a:rPr dirty="0"/>
              <a:t>   SR 43.0%   RR 100%  </a:t>
            </a:r>
            <a:endParaRPr lang="en-US" dirty="0"/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 err="1"/>
              <a:t>sigma_wrong</a:t>
            </a:r>
            <a:r>
              <a:rPr dirty="0"/>
              <a:t>      SR  7.2%   RR 37.1% </a:t>
            </a:r>
          </a:p>
          <a:p>
            <a:pPr>
              <a:spcAft>
                <a:spcPts val="850"/>
              </a:spcAft>
              <a:defRPr sz="1300" b="1">
                <a:solidFill>
                  <a:srgbClr val="FFC107"/>
                </a:solidFill>
                <a:latin typeface="Courier New"/>
              </a:defRPr>
            </a:pPr>
            <a:r>
              <a:rPr dirty="0" err="1"/>
              <a:t>scg_finetune_lr</a:t>
            </a:r>
            <a:r>
              <a:rPr dirty="0"/>
              <a:t>  SR 43.7%   RR 16.9% </a:t>
            </a:r>
          </a:p>
          <a:p>
            <a:pPr>
              <a:spcAft>
                <a:spcPts val="850"/>
              </a:spcAft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rPr dirty="0" err="1"/>
              <a:t>scg_lora</a:t>
            </a:r>
            <a:r>
              <a:rPr dirty="0"/>
              <a:t>         SR 42.8%   RR 17.7% </a:t>
            </a:r>
          </a:p>
          <a:p>
            <a:pPr>
              <a:spcAft>
                <a:spcPts val="850"/>
              </a:spcAft>
              <a:defRPr sz="1300" b="0">
                <a:solidFill>
                  <a:srgbClr val="00D2C6"/>
                </a:solidFill>
                <a:latin typeface="Courier New"/>
              </a:defRPr>
            </a:pPr>
            <a:r>
              <a:rPr dirty="0"/>
              <a:t>oracle           SR 43.3%   RR 13.1%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206240"/>
            <a:ext cx="530352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9"/>
              </a:spcAft>
              <a:defRPr sz="1300" b="1">
                <a:solidFill>
                  <a:srgbClr val="FFC107"/>
                </a:solidFill>
                <a:latin typeface="Arial"/>
              </a:defRPr>
            </a:pPr>
            <a:r>
              <a:t>SR ≈ oracle (43.7% vs 43.3%), precision 75.1%</a:t>
            </a:r>
          </a:p>
          <a:p>
            <a:pPr>
              <a:spcAft>
                <a:spcPts val="459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6× compute efficiency (RR=16.9%) — best case!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623560"/>
            <a:ext cx="11430000" cy="45720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Arial"/>
              </a:defRPr>
            </a:pPr>
            <a:r>
              <a:t>ALFWorld (NO-GO): Always-trigger SR 20% &lt; Base 30%. Failure: confirmation bias, LLM hallucination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28416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Arial"/>
              </a:defRPr>
            </a:pPr>
            <a:r>
              <a:t>SECTION 02-03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rPr dirty="0"/>
              <a:t>Core Empirical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C107"/>
                </a:solidFill>
                <a:latin typeface="Arial"/>
              </a:defRPr>
            </a:pPr>
            <a:r>
              <a:t>Direction Reversal  +  Signal Replacement  →  Zero prior papers report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Finding 1: Signal-Utility Direction is NOT Fixed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0" y="320040"/>
            <a:ext cx="1700784" cy="32004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NOVEL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03520" cy="53035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Arial"/>
              </a:defRPr>
            </a:pPr>
            <a:r>
              <a:t>token_entropy × Optimizer Utility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93776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ρ = −0.327 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High entropy = confused → optimizer useless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493776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MBPP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ρ = +0.153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High entropy = diverse solutions → optimizer helps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493776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947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94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ρ = +0.144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Same direction as MBPP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493776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ρ = +0.133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Same direction as MBPP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52EBA3-D25E-7BC4-F68D-0A38F19BF876}"/>
              </a:ext>
            </a:extLst>
          </p:cNvPr>
          <p:cNvGrpSpPr/>
          <p:nvPr/>
        </p:nvGrpSpPr>
        <p:grpSpPr>
          <a:xfrm>
            <a:off x="6215415" y="4960620"/>
            <a:ext cx="5303520" cy="914400"/>
            <a:chOff x="365760" y="5303520"/>
            <a:chExt cx="5303520" cy="914400"/>
          </a:xfrm>
        </p:grpSpPr>
        <p:sp>
          <p:nvSpPr>
            <p:cNvPr id="22" name="Rounded Rectangle 21"/>
            <p:cNvSpPr/>
            <p:nvPr/>
          </p:nvSpPr>
          <p:spPr>
            <a:xfrm>
              <a:off x="365760" y="5303520"/>
              <a:ext cx="5303520" cy="914400"/>
            </a:xfrm>
            <a:prstGeom prst="roundRect">
              <a:avLst/>
            </a:prstGeom>
            <a:solidFill>
              <a:srgbClr val="1A1A2E"/>
            </a:solidFill>
            <a:ln w="19050">
              <a:solidFill>
                <a:srgbClr val="FFC10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48640" y="5349240"/>
              <a:ext cx="493776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59"/>
                </a:spcAft>
                <a:defRPr sz="1400" b="1">
                  <a:solidFill>
                    <a:srgbClr val="FFC107"/>
                  </a:solidFill>
                  <a:latin typeface="Arial"/>
                </a:defRPr>
              </a:pPr>
              <a:r>
                <a:t>Implication:</a:t>
              </a:r>
            </a:p>
            <a:p>
              <a:pPr>
                <a:spcAft>
                  <a:spcPts val="459"/>
                </a:spcAft>
                <a:defRPr sz="1300" b="0">
                  <a:solidFill>
                    <a:srgbClr val="FFFFFF"/>
                  </a:solidFill>
                  <a:latin typeface="Arial"/>
                </a:defRPr>
              </a:pPr>
              <a:r>
                <a:t>Methods assuming fixed direction (CoRefine, SEAG,</a:t>
              </a:r>
            </a:p>
            <a:p>
              <a:pPr>
                <a:spcAft>
                  <a:spcPts val="459"/>
                </a:spcAft>
                <a:defRPr sz="1300" b="0">
                  <a:solidFill>
                    <a:srgbClr val="FFFFFF"/>
                  </a:solidFill>
                  <a:latin typeface="Arial"/>
                </a:defRPr>
              </a:pPr>
              <a:r>
                <a:t>Think Just Enough) WILL fail on HotpotQA</a:t>
              </a:r>
            </a:p>
          </p:txBody>
        </p:sp>
      </p:grpSp>
      <p:pic>
        <p:nvPicPr>
          <p:cNvPr id="24" name="Picture 23" descr="fig13_direction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36719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fig15_wrong_dir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66" y="594301"/>
            <a:ext cx="10058400" cy="5477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Finding 2: Strongest Signal Differs Per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0" y="320040"/>
            <a:ext cx="1700784" cy="32004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NOVEL FINDING</a:t>
            </a:r>
          </a:p>
        </p:txBody>
      </p:sp>
      <p:pic>
        <p:nvPicPr>
          <p:cNvPr id="4" name="Picture 3" descr="fig14_signa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35143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097280"/>
            <a:ext cx="5669280" cy="50292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92240" y="1280160"/>
            <a:ext cx="53035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Arial"/>
              </a:defRPr>
            </a:pPr>
            <a:r>
              <a:t>1. Direction not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token_entropy: HotpotQA negative, MBPP/APPS/WebShop positive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377439"/>
            <a:ext cx="53035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4688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8BFF"/>
                </a:solidFill>
                <a:latin typeface="Arial"/>
              </a:defRPr>
            </a:pPr>
            <a:r>
              <a:t>2. Strongest signal not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QA→evidence_count, Code→step_count, Web→state_category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474720"/>
            <a:ext cx="53035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C6"/>
                </a:solidFill>
                <a:latin typeface="Arial"/>
              </a:defRPr>
            </a:pPr>
            <a:r>
              <a:t>3. Signal TYPE not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HotpotQA/APPS: continuous; WebShop: categorical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572000"/>
            <a:ext cx="53035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Arial"/>
              </a:defRPr>
            </a:pPr>
            <a:r>
              <a:t>4. step_count direction also reverses!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MBPP ρ=+0.526 vs APPS ρ=−0.274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669280"/>
            <a:ext cx="11430000" cy="64008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Arial"/>
              </a:defRPr>
            </a:pPr>
            <a:r>
              <a:t>Pre-selecting a fixed signal + fixed direction (11+ concurrent methods) is SYSTEMATICALLY FRAGILE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55848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C6"/>
                </a:solidFill>
                <a:latin typeface="Arial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Paper Storyline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NOT 'we propose a new gate'  →  'we discovered a phenomenon + phenomenon drives method'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Paper Narrative: Three-Act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749039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00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914400" cy="320040"/>
          </a:xfrm>
          <a:prstGeom prst="round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Problem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3474720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Background: Test-time optimizers widely used but costly (5-15×)</a:t>
            </a: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Status quo: 11+ concurrent works study 'when to trigger'</a:t>
            </a: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Hidden assumption: All methods share UNVERIFIED assumption</a:t>
            </a: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— signal-utility direction is </a:t>
            </a:r>
            <a:r>
              <a:rPr dirty="0">
                <a:solidFill>
                  <a:srgbClr val="FF0000"/>
                </a:solidFill>
              </a:rPr>
              <a:t>fixed</a:t>
            </a:r>
            <a:endParaRPr lang="en-US" dirty="0">
              <a:solidFill>
                <a:srgbClr val="FF0000"/>
              </a:solidFill>
            </a:endParaRP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— signal is </a:t>
            </a:r>
            <a:r>
              <a:rPr lang="en-US" dirty="0">
                <a:solidFill>
                  <a:srgbClr val="FF0000"/>
                </a:solidFill>
              </a:rPr>
              <a:t>fixed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pre-define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749039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914400" cy="32004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  <a:latin typeface="Arial"/>
              </a:defRPr>
            </a:pPr>
            <a:r>
              <a:t>Empirical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347472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Finding 1: Direction reversal across environments</a:t>
            </a:r>
          </a:p>
          <a:p>
            <a:pPr>
              <a:spcAft>
                <a:spcPts val="71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rPr dirty="0"/>
              <a:t>  </a:t>
            </a:r>
            <a:r>
              <a:rPr dirty="0" err="1"/>
              <a:t>token_entropy</a:t>
            </a:r>
            <a:r>
              <a:rPr dirty="0"/>
              <a:t>: </a:t>
            </a:r>
            <a:r>
              <a:rPr dirty="0" err="1"/>
              <a:t>HotpotQA</a:t>
            </a:r>
            <a:r>
              <a:rPr dirty="0"/>
              <a:t> </a:t>
            </a:r>
            <a:r>
              <a:rPr dirty="0" err="1"/>
              <a:t>ρ</a:t>
            </a:r>
            <a:r>
              <a:rPr dirty="0"/>
              <a:t>=−0.327 vs MBPP </a:t>
            </a:r>
            <a:r>
              <a:rPr dirty="0" err="1"/>
              <a:t>ρ</a:t>
            </a:r>
            <a:r>
              <a:rPr dirty="0"/>
              <a:t>=+0.153</a:t>
            </a: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Finding 2: Signal replacement (identity differs per env)</a:t>
            </a: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QA: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evidence_count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, APPS: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step_count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WebShop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state_category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749039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914400" cy="320040"/>
          </a:xfrm>
          <a:prstGeom prst="round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26959"/>
            <a:ext cx="3474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58BFF"/>
                </a:solidFill>
                <a:latin typeface="Arial"/>
              </a:defRPr>
            </a:pPr>
            <a:r>
              <a:rPr dirty="0"/>
              <a:t>Method + Validation</a:t>
            </a:r>
            <a:br>
              <a:rPr lang="en-US" dirty="0"/>
            </a:br>
            <a:r>
              <a:rPr lang="en-US" dirty="0"/>
              <a:t>(Next Phase)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Findings derive two requirements:</a:t>
            </a:r>
          </a:p>
          <a:p>
            <a:pPr>
              <a:spcAft>
                <a:spcPts val="71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  (1) Auto-discover environment-specific features</a:t>
            </a:r>
          </a:p>
          <a:p>
            <a:pPr>
              <a:spcAft>
                <a:spcPts val="71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  (2) Probe signal-utility direction</a:t>
            </a:r>
          </a:p>
          <a:p>
            <a:pPr>
              <a:spcAft>
                <a:spcPts val="719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Validation: 3 envs + 1 boundary + wrong-dir 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1A1A2E"/>
                </a:solidFill>
                <a:latin typeface="Arial"/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6263640"/>
            <a:ext cx="1261872" cy="32004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CORE FIRE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Arial"/>
              </a:defRPr>
            </a:pPr>
            <a:r>
              <a:t>Act 2 is the CORE contribution — novel empirical finding that no prior paper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20/22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F24EDF-190A-E90E-0F3D-D8906A714675}"/>
              </a:ext>
            </a:extLst>
          </p:cNvPr>
          <p:cNvSpPr txBox="1"/>
          <p:nvPr/>
        </p:nvSpPr>
        <p:spPr>
          <a:xfrm>
            <a:off x="338203" y="247565"/>
            <a:ext cx="1475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/>
              <a:t>Phase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D730D-BA6A-6876-2C80-95B4833D17BE}"/>
              </a:ext>
            </a:extLst>
          </p:cNvPr>
          <p:cNvSpPr txBox="1"/>
          <p:nvPr/>
        </p:nvSpPr>
        <p:spPr>
          <a:xfrm>
            <a:off x="382044" y="883084"/>
            <a:ext cx="11561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automatic feature discovery framework that replaces hand-crafted signal engineering with learned representations. The framework extracts features from the agent‘s state automatically, then trains a</a:t>
            </a:r>
            <a:r>
              <a:rPr lang="zh-CN" alt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lightweight direction-aware gate on these features using calibration data.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EF5783-31F9-EDAC-3039-46B9B6EC4CFA}"/>
              </a:ext>
            </a:extLst>
          </p:cNvPr>
          <p:cNvSpPr/>
          <p:nvPr/>
        </p:nvSpPr>
        <p:spPr>
          <a:xfrm>
            <a:off x="832980" y="2492678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 dirty="0"/>
              <a:t>Proposer Hidden</a:t>
            </a:r>
            <a:r>
              <a:rPr lang="zh-CN" altLang="en-US" sz="1600" dirty="0"/>
              <a:t> </a:t>
            </a:r>
            <a:r>
              <a:rPr lang="en-US" altLang="zh-CN" sz="1600" dirty="0"/>
              <a:t>State</a:t>
            </a:r>
            <a:endParaRPr lang="en-CN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24573B-16DE-3EFB-8BF0-4E3BCAA64D16}"/>
              </a:ext>
            </a:extLst>
          </p:cNvPr>
          <p:cNvSpPr/>
          <p:nvPr/>
        </p:nvSpPr>
        <p:spPr>
          <a:xfrm>
            <a:off x="832980" y="3191005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Text embedding</a:t>
            </a:r>
            <a:endParaRPr lang="en-CN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D96B25-9762-E2EA-9FEC-2FA1A6F884E9}"/>
              </a:ext>
            </a:extLst>
          </p:cNvPr>
          <p:cNvSpPr/>
          <p:nvPr/>
        </p:nvSpPr>
        <p:spPr>
          <a:xfrm>
            <a:off x="832980" y="3889332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LLM-Guided</a:t>
            </a:r>
            <a:br>
              <a:rPr lang="en-US" sz="1600" dirty="0"/>
            </a:br>
            <a:r>
              <a:rPr lang="en-US" sz="1600" dirty="0"/>
              <a:t>Discovery</a:t>
            </a:r>
            <a:endParaRPr lang="en-C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A4022-195A-384E-835F-925B30E54667}"/>
              </a:ext>
            </a:extLst>
          </p:cNvPr>
          <p:cNvSpPr txBox="1"/>
          <p:nvPr/>
        </p:nvSpPr>
        <p:spPr>
          <a:xfrm>
            <a:off x="2805830" y="2438284"/>
            <a:ext cx="5862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Extract the LLM‘s last-layer hidden state (d=2560) during inference; </a:t>
            </a:r>
            <a:b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train an MLP or fine tune LLM to predict VOC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(Value of Computation)</a:t>
            </a:r>
            <a:endParaRPr lang="en-US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D455D5-A290-3D0D-C241-64A10B1C8B28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129424" y="2730672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89F9D9-8DA2-1653-C302-2D1956BFB34E}"/>
              </a:ext>
            </a:extLst>
          </p:cNvPr>
          <p:cNvSpPr txBox="1"/>
          <p:nvPr/>
        </p:nvSpPr>
        <p:spPr>
          <a:xfrm>
            <a:off x="2805830" y="3136612"/>
            <a:ext cx="6262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Encode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state_text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with a lightweight sentence-transformer (d=384/768);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train an MLP to predict VOC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DD41DF-6DD5-9FF9-7257-0D47488B98DD}"/>
              </a:ext>
            </a:extLst>
          </p:cNvPr>
          <p:cNvCxnSpPr/>
          <p:nvPr/>
        </p:nvCxnSpPr>
        <p:spPr>
          <a:xfrm flipV="1">
            <a:off x="2129424" y="3428998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D0FED1-626C-EC45-2916-0700CD69F6AB}"/>
              </a:ext>
            </a:extLst>
          </p:cNvPr>
          <p:cNvSpPr txBox="1"/>
          <p:nvPr/>
        </p:nvSpPr>
        <p:spPr>
          <a:xfrm>
            <a:off x="2805829" y="3889330"/>
            <a:ext cx="60625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analyze "optimizer-helpful" vs. "optimizer-unhelpful" trajectory samples from a calibration set, directly generate a pure Python function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should_trigger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 that jointly performs feature extraction and triggering decisions, then iteratively refine it over 2–3 rounds of error feedback, ultimately producing an environment-adaptive gate with zero deployment overhead and no hand-crafted features.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ECB04C-164D-77CC-27E0-7F2B35E36BE1}"/>
              </a:ext>
            </a:extLst>
          </p:cNvPr>
          <p:cNvCxnSpPr/>
          <p:nvPr/>
        </p:nvCxnSpPr>
        <p:spPr>
          <a:xfrm flipV="1">
            <a:off x="2129423" y="4161883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90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1141</Words>
  <Application>Microsoft Macintosh PowerPoint</Application>
  <PresentationFormat>Widescreen</PresentationFormat>
  <Paragraphs>228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ziming li</cp:lastModifiedBy>
  <cp:revision>5</cp:revision>
  <dcterms:created xsi:type="dcterms:W3CDTF">2013-01-27T09:14:16Z</dcterms:created>
  <dcterms:modified xsi:type="dcterms:W3CDTF">2026-03-03T01:30:28Z</dcterms:modified>
  <cp:category/>
</cp:coreProperties>
</file>