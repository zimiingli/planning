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69" r:id="rId13"/>
    <p:sldId id="270" r:id="rId14"/>
    <p:sldId id="271" r:id="rId15"/>
    <p:sldId id="276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74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720"/>
  </p:normalViewPr>
  <p:slideViewPr>
    <p:cSldViewPr snapToGrid="0" snapToObjects="1">
      <p:cViewPr varScale="1">
        <p:scale>
          <a:sx n="215" d="100"/>
          <a:sy n="215" d="100"/>
        </p:scale>
        <p:origin x="1016" y="192"/>
      </p:cViewPr>
      <p:guideLst>
        <p:guide orient="horz" pos="504"/>
        <p:guide pos="74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Direction-Aware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C6"/>
                </a:solidFill>
                <a:latin typeface="Arial"/>
              </a:defRPr>
            </a:pPr>
            <a:r>
              <a:rPr dirty="0"/>
              <a:t>Adaptive Test-Time Optimizer Triggering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73152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2000" b="0">
                <a:solidFill>
                  <a:srgbClr val="CCCCCC"/>
                </a:solidFill>
                <a:latin typeface="Arial"/>
              </a:defRPr>
            </a:pPr>
            <a:r>
              <a:rPr dirty="0"/>
              <a:t>Weekly Report  |  2026-03-09</a:t>
            </a:r>
          </a:p>
          <a:p>
            <a:pPr>
              <a:spcAft>
                <a:spcPts val="599"/>
              </a:spcAft>
              <a:defRPr sz="1800" b="0">
                <a:solidFill>
                  <a:srgbClr val="FFC107"/>
                </a:solidFill>
                <a:latin typeface="Arial"/>
              </a:defRPr>
            </a:pPr>
            <a:r>
              <a:rPr dirty="0"/>
              <a:t>Core Question: For any test-time optimizer T, can we learn WHEN to use it?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8760" y="1417320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Updated Storyline (v4.0)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Three-layer narrative with token cost quantification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2240280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Token Cost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SR vs Cost Pareto frontier across 3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3063240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CATTS Failure &amp; Adaptive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975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rPr dirty="0"/>
              <a:t>Why vote-based gating fails; emergent RR adaptation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886199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37033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Environment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0233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3 new GO + 1 negative example + 11 NO-GO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4709160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Limitations Revealed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What the rejections tell us about method boundaries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5532120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Next Week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Complete experiments, cost analysis, begin paper writing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355848"/>
            <a:ext cx="12191695" cy="54864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C6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rPr dirty="0"/>
              <a:t>Updated Storylin</a:t>
            </a:r>
            <a:r>
              <a:rPr lang="en-US" dirty="0"/>
              <a:t>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From 'direction reversal' to 'direction reversal + token cost damage'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Paper Narrative: Three-Act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48640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Act 1: The Hidden Assumption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Test-time optimizers cost 4-36x more tokens per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11+ concurrent methods address 'when to trigger'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9768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ALL assume signal-utility direction is fixed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09728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097280"/>
            <a:ext cx="3657600" cy="5486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143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Act 2: The Empirical Finding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92024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Finding 1: Direction reverses across environments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10896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Finding 2: Best signal identity also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29768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Wrong-direction: LR -34.5pp, MLP -51.2pp (RR=0%)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09728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097280"/>
            <a:ext cx="3657600" cy="54864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143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Act 3: Method + Cost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192024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SCG-LR: LR on 5 features, &lt;1s training, zero GPU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310896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NEW: Pareto-dominates ALL competitors on SR-Cost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429768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38-77% cheaper than always_trigger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577840"/>
            <a:ext cx="11430000" cy="5486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Arial"/>
              </a:defRPr>
            </a:pPr>
            <a:r>
              <a:t>v4.0 KEY CHANGE: Token cost quantification elevates 'why not always trigger?' from intuition to proven Pareto dominance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Storyline Evolution: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Arial"/>
              </a:defRPr>
            </a:pPr>
            <a:r>
              <a:t>Aspect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143000"/>
            <a:ext cx="4114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Arial"/>
              </a:defRPr>
            </a:pPr>
            <a:r>
              <a:rPr dirty="0"/>
              <a:t>Last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143000"/>
            <a:ext cx="4389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Arial"/>
              </a:defRPr>
            </a:pPr>
            <a:r>
              <a:rPr dirty="0"/>
              <a:t>This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Primary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647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Direction reversal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7647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Direction reversal + token cost damage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'Why not always?'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591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Acknowledged but not quantified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591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rPr dirty="0"/>
              <a:t>Fully quantified: 4-36x cost, Pareto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11247120" cy="50292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9535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Method justification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9535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Near-oracle 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535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Near-oracle SR at fraction of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1124712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5478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Competitor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5478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SR-only comparisons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47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SR vs Token Cost Pareto frontier (Table 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92482"/>
            <a:ext cx="1124712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06563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Environment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06563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3 validated + 1 NO-GO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06563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6 GO + 1 negative + 11 NO-GO (17 total)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86842"/>
            <a:ext cx="11247120" cy="50292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65999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Adaptive behavior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65999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Mentioned briefly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65999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Elevated to Layer B -- emergent, not programmed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Arial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Token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Answering: 'always_trigger has high SR, why not use it every step?'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SR vs Token Cost: FRVC Pareto-Dominates All Competitors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320040"/>
            <a:ext cx="1371600" cy="32004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KEY RESULT</a:t>
            </a:r>
          </a:p>
        </p:txBody>
      </p:sp>
      <p:pic>
        <p:nvPicPr>
          <p:cNvPr id="4" name="Picture 3" descr="fig20_pareto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91791"/>
            <a:ext cx="11612880" cy="42946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760720"/>
            <a:ext cx="11430000" cy="7315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400" b="1">
                <a:solidFill>
                  <a:srgbClr val="4EC9B0"/>
                </a:solidFill>
                <a:latin typeface="Arial"/>
              </a:defRPr>
            </a:pPr>
            <a:r>
              <a:t>FRVC achieves near-oracle SR at fraction of cost: 6.55x (HotpotQA), 1.23x (APPS), 1.27x (WebShop)</a:t>
            </a:r>
          </a:p>
          <a:p>
            <a:pPr>
              <a:spcAft>
                <a:spcPts val="47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Upper-left = better (high SR, low cost).  Green star = FRVC consistently in ideal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Token Savings: Up to 77% Cheaper While Retaining &gt;91% SR</a:t>
            </a:r>
          </a:p>
        </p:txBody>
      </p:sp>
      <p:pic>
        <p:nvPicPr>
          <p:cNvPr id="3" name="Picture 2" descr="fig27_token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372556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1097280"/>
            <a:ext cx="4389120" cy="16459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8BFF"/>
                </a:solidFill>
                <a:latin typeface="Arial"/>
              </a:defRPr>
            </a:pPr>
            <a:r>
              <a:t>HotpotQA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5544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9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Saved: 38% tokens  |  SR Retained: 100%</a:t>
            </a:r>
          </a:p>
          <a:p>
            <a:pPr>
              <a:spcAft>
                <a:spcPts val="499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FRVC 6.55x  vs  Always 10.64x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926080"/>
            <a:ext cx="4389120" cy="16459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Arial"/>
              </a:defRPr>
            </a:pPr>
            <a:r>
              <a:t>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3832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9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Saved: 71% tokens  |  SR Retained: 91%</a:t>
            </a:r>
          </a:p>
          <a:p>
            <a:pPr>
              <a:spcAft>
                <a:spcPts val="499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FRVC 1.23x  vs  Always 4.30x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754880"/>
            <a:ext cx="4389120" cy="16459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Arial"/>
              </a:defRPr>
            </a:pPr>
            <a:r>
              <a:t>WebShop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2120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9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Saved: 77% tokens  |  SR Retained: 92%</a:t>
            </a:r>
          </a:p>
          <a:p>
            <a:pPr>
              <a:spcAft>
                <a:spcPts val="499"/>
              </a:spcAft>
              <a:defRPr sz="1300" b="0">
                <a:solidFill>
                  <a:srgbClr val="CCCCCC"/>
                </a:solidFill>
                <a:latin typeface="Arial"/>
              </a:defRPr>
            </a:pPr>
            <a:r>
              <a:t>FRVC 1.27x  vs  Always 5.56x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Cost-Effectiveness &amp; CATTS Failure Analysis</a:t>
            </a:r>
          </a:p>
        </p:txBody>
      </p:sp>
      <p:pic>
        <p:nvPicPr>
          <p:cNvPr id="3" name="Picture 2" descr="fig21_c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400800" cy="289311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914400"/>
            <a:ext cx="5029200" cy="53035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Arial"/>
              </a:defRPr>
            </a:pPr>
            <a:r>
              <a:t>CATTS: Uniformly Worst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645920"/>
            <a:ext cx="466344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HotpotQA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011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Arial"/>
              </a:defRPr>
            </a:pPr>
            <a:r>
              <a:t>SR=0.683  |  Cost=10.5x  |  Low SR + high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834640"/>
            <a:ext cx="466344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2004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Arial"/>
              </a:defRPr>
            </a:pPr>
            <a:r>
              <a:t>SR=0.585  |  Cost=6.02x  |  ZERO SR gain!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92324" y="2880360"/>
            <a:ext cx="2359151" cy="3200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C_vote &gt; C_rollout!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4023360"/>
            <a:ext cx="466344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WebShop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3891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Arial"/>
              </a:defRPr>
            </a:pPr>
            <a:r>
              <a:t>SR=0.160  |  Cost=5.55x  |  Near-baseline SR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5212080"/>
            <a:ext cx="466344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52578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9"/>
              </a:spcAft>
              <a:defRPr sz="1300" b="1">
                <a:solidFill>
                  <a:srgbClr val="FFC107"/>
                </a:solidFill>
                <a:latin typeface="Arial"/>
              </a:defRPr>
            </a:pPr>
            <a:r>
              <a:t>Root cause: K=5 voting every step</a:t>
            </a:r>
          </a:p>
          <a:p>
            <a:pPr>
              <a:spcAft>
                <a:spcPts val="45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regardless of rollout trigger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237807"/>
            <a:ext cx="12191695" cy="54864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8BFF"/>
                </a:solidFill>
                <a:latin typeface="Arial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836" y="2450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Environment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17 environments evaluated: 6 GO, 1 negative example, 11 NO-GO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3 Newly Accepted Environments (Phase 5 GO)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54864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BabyAI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Grid-world navigation</a:t>
            </a:r>
          </a:p>
          <a:p>
            <a:pPr>
              <a:spcAft>
                <a:spcPts val="620"/>
              </a:spcAft>
              <a:defRPr sz="1100" b="0">
                <a:solidFill>
                  <a:srgbClr val="999999"/>
                </a:solidFill>
                <a:latin typeface="Arial"/>
              </a:defRPr>
            </a:pPr>
            <a:r>
              <a:t>GoTo-v0, 7 discrete actions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Base SR:    2.0%</a:t>
            </a:r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Always SR:  11.3%</a:t>
            </a:r>
          </a:p>
          <a:p>
            <a:pPr>
              <a:spcAft>
                <a:spcPts val="620"/>
              </a:spcAft>
              <a:defRPr sz="1600" b="1">
                <a:solidFill>
                  <a:srgbClr val="FFC107"/>
                </a:solidFill>
                <a:latin typeface="Arial"/>
              </a:defRPr>
            </a:pPr>
            <a:r>
              <a:t>Delta:      +9.3pp</a:t>
            </a:r>
          </a:p>
          <a:p>
            <a:pPr>
              <a:spcAft>
                <a:spcPts val="620"/>
              </a:spcAft>
              <a:defRPr sz="1600" b="1">
                <a:solidFill>
                  <a:srgbClr val="4EC9B0"/>
                </a:solidFill>
                <a:latin typeface="Arial"/>
              </a:defRPr>
            </a:pPr>
            <a:r>
              <a:t>SCG-LR SR:  8.8%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300" b="1">
                <a:solidFill>
                  <a:srgbClr val="4EC9B0"/>
                </a:solidFill>
                <a:latin typeface="Arial"/>
              </a:defRPr>
            </a:pPr>
            <a:r>
              <a:t>Status: 18/18 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548640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TextWorldExpress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CoinCollector (text)</a:t>
            </a:r>
          </a:p>
          <a:p>
            <a:pPr>
              <a:spcAft>
                <a:spcPts val="620"/>
              </a:spcAft>
              <a:defRPr sz="1100" b="0">
                <a:solidFill>
                  <a:srgbClr val="999999"/>
                </a:solidFill>
                <a:latin typeface="Arial"/>
              </a:defRPr>
            </a:pPr>
            <a:r>
              <a:t>Medium difficulty, max 50 steps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Base SR:    64%</a:t>
            </a:r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Always SR:  98%</a:t>
            </a:r>
          </a:p>
          <a:p>
            <a:pPr>
              <a:spcAft>
                <a:spcPts val="620"/>
              </a:spcAft>
              <a:defRPr sz="1600" b="1">
                <a:solidFill>
                  <a:srgbClr val="FFC107"/>
                </a:solidFill>
                <a:latin typeface="Arial"/>
              </a:defRPr>
            </a:pPr>
            <a:r>
              <a:t>Delta:      +34pp</a:t>
            </a:r>
          </a:p>
          <a:p>
            <a:pPr>
              <a:spcAft>
                <a:spcPts val="620"/>
              </a:spcAft>
              <a:defRPr sz="1600" b="1">
                <a:solidFill>
                  <a:srgbClr val="458BFF"/>
                </a:solidFill>
                <a:latin typeface="Arial"/>
              </a:defRPr>
            </a:pPr>
            <a:r>
              <a:t>SCG-LR SR:  ~97%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300" b="1">
                <a:solidFill>
                  <a:srgbClr val="458BFF"/>
                </a:solidFill>
                <a:latin typeface="Arial"/>
              </a:defRPr>
            </a:pPr>
            <a:r>
              <a:t>Status: 11/18 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0584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005840"/>
            <a:ext cx="3657600" cy="548640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TextWorld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Text adventure</a:t>
            </a:r>
          </a:p>
          <a:p>
            <a:pPr>
              <a:spcAft>
                <a:spcPts val="620"/>
              </a:spcAft>
              <a:defRPr sz="1100" b="0">
                <a:solidFill>
                  <a:srgbClr val="999999"/>
                </a:solidFill>
                <a:latin typeface="Arial"/>
              </a:defRPr>
            </a:pPr>
            <a:r>
              <a:t>5 rooms, 8 objects, quest=8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Base SR:    58%</a:t>
            </a:r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Always SR:  68%</a:t>
            </a:r>
          </a:p>
          <a:p>
            <a:pPr>
              <a:spcAft>
                <a:spcPts val="620"/>
              </a:spcAft>
              <a:defRPr sz="1600" b="1">
                <a:solidFill>
                  <a:srgbClr val="FFC107"/>
                </a:solidFill>
                <a:latin typeface="Arial"/>
              </a:defRPr>
            </a:pPr>
            <a:r>
              <a:t>Delta:      +10pp</a:t>
            </a:r>
          </a:p>
          <a:p>
            <a:pPr>
              <a:spcAft>
                <a:spcPts val="620"/>
              </a:spcAft>
              <a:defRPr sz="1600" b="1">
                <a:solidFill>
                  <a:srgbClr val="458BFF"/>
                </a:solidFill>
                <a:latin typeface="Arial"/>
              </a:defRPr>
            </a:pPr>
            <a:r>
              <a:t>SCG-LR SR:  TBD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300" b="1">
                <a:solidFill>
                  <a:srgbClr val="458BFF"/>
                </a:solidFill>
                <a:latin typeface="Arial"/>
              </a:defRPr>
            </a:pPr>
            <a:r>
              <a:t>Status: 3/6 shards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669280"/>
            <a:ext cx="11430000" cy="45720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Arial"/>
              </a:defRPr>
            </a:pPr>
            <a:r>
              <a:t>TextWorldExpress has LARGEST headroom of all environments (+34pp) -- strongest validation of adaptive gating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Negative Example &amp; Rejected Environments</a:t>
            </a:r>
          </a:p>
        </p:txBody>
      </p:sp>
      <p:pic>
        <p:nvPicPr>
          <p:cNvPr id="19" name="Picture 18" descr="fig25_env_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810868"/>
            <a:ext cx="11612880" cy="57728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Limitations Revealed by Rejected Environments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320040"/>
            <a:ext cx="1920239" cy="320040"/>
          </a:xfrm>
          <a:prstGeom prst="round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HONEST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11430000" cy="123444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Arial"/>
              </a:defRPr>
            </a:pPr>
            <a:r>
              <a:t>1. Model Capacity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51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Requirement: Base agent needs SR &gt; 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ScienceWorld (0%), Sokoban (0%), Maze (4%): Qwen3-4B fundamentally cannot perform the task. No amount of gating or rollout helps.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Arial"/>
              </a:defRPr>
            </a:pPr>
            <a:r>
              <a:t>-&gt; Inherent to all test-time optimization, not specific to our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77440"/>
            <a:ext cx="11430000" cy="123444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Arial"/>
              </a:defRPr>
            </a:pPr>
            <a:r>
              <a:t>2. Meaningful Rollout Headroom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Requirement: Need Delta &gt;= 3pp from 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MiniHack (+2pp), tau-bench (+2pp): When the optimizer barely helps, there's nothing for the gate to optimize.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Arial"/>
              </a:defRPr>
            </a:pPr>
            <a:r>
              <a:t>-&gt; Our method is most valuable in 'high-value, high-cost' regime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49039"/>
            <a:ext cx="11430000" cy="123444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Arial"/>
              </a:defRPr>
            </a:pPr>
            <a:r>
              <a:t>3. Reliable Rollout Mechanism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5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Requirement: Need deepcopy or deterministic 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7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ALFWorld: LLM-as-Simulator hallucinates, Batch Scoring has confirmation bias (2.9/10 vs 6.6/10).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Arial"/>
              </a:defRPr>
            </a:pPr>
            <a:r>
              <a:t>-&gt; Rollout quality hierarchy: env.deepcopy &gt; deterministic eval &gt; LLM simulation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20640"/>
            <a:ext cx="11430000" cy="123444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8BFF"/>
                </a:solidFill>
                <a:latin typeface="Arial"/>
              </a:defRPr>
            </a:pPr>
            <a:r>
              <a:t>4. Within-Episode Variability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166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Requirement: Not bimodal performance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Jericho 11 games: Either 0% or 100% SR per game. No 'sweet spot' for per-step gating.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58BFF"/>
                </a:solidFill>
                <a:latin typeface="Arial"/>
              </a:defRPr>
            </a:pPr>
            <a:r>
              <a:t>-&gt; Per-step gating assumes variability; per-instance estimation is different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760720"/>
            <a:ext cx="11430000" cy="54864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Arial"/>
              </a:defRPr>
            </a:pPr>
            <a:r>
              <a:t>These are reasonable prerequisites for any adaptive compute method. Plancraft shows gate is ROBUST (learns to abstain).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388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Complete Environment Summary: 6 GO Environments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51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Base 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51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Always 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051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Delta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051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SCG-LR 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051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051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Best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051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Arial"/>
              </a:defRPr>
            </a:pPr>
            <a:r>
              <a:t>HotpotQA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64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49.0%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6642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97.0%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642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+48pp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664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96.8%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6642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6.55x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evidence_count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6642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03120"/>
            <a:ext cx="1143000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167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Arial"/>
              </a:defRPr>
            </a:pPr>
            <a:r>
              <a:t>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1671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57.8%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1671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64.5%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1671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+6.7pp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167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58.8%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671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1.23x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167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step_count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167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606040"/>
            <a:ext cx="11430000" cy="45720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2670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Arial"/>
              </a:defRPr>
            </a:pPr>
            <a:r>
              <a:t>WebShop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7.2%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2670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47.5%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26700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+40pp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2670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43.7%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670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1.27x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670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state_category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108960"/>
            <a:ext cx="1143000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31729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8BFF"/>
                </a:solidFill>
                <a:latin typeface="Arial"/>
              </a:defRPr>
            </a:pPr>
            <a:r>
              <a:t>BabyAI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3172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2.0%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1729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11.3%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31729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+9.3pp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3172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172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172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3172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58BFF"/>
                </a:solidFill>
                <a:latin typeface="Arial"/>
              </a:defRPr>
            </a:pPr>
            <a:r>
              <a:t>18/18 Done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611880"/>
            <a:ext cx="11430000" cy="45720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3675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8BFF"/>
                </a:solidFill>
                <a:latin typeface="Arial"/>
              </a:defRPr>
            </a:pPr>
            <a:r>
              <a:t>TWExpress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3675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64%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36758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98%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3675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+34pp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960" y="3675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~97%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36758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3675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step_count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3675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58BFF"/>
                </a:solidFill>
                <a:latin typeface="Arial"/>
              </a:defRPr>
            </a:pPr>
            <a:r>
              <a:t>11/18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41788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8BFF"/>
                </a:solidFill>
                <a:latin typeface="Arial"/>
              </a:defRPr>
            </a:pPr>
            <a:r>
              <a:t>TextWorld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7440" y="4178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58%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41788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41788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+10pp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4960" y="4178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41788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4178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41788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58BFF"/>
                </a:solidFill>
                <a:latin typeface="Arial"/>
              </a:defRPr>
            </a:pPr>
            <a:r>
              <a:t>3/6 shards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617720"/>
            <a:ext cx="11430000" cy="45720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4681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Arial"/>
              </a:defRPr>
            </a:pPr>
            <a:r>
              <a:t>Plancraft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7440" y="4681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29.8%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4681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21.3%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0560" y="4681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Arial"/>
              </a:defRPr>
            </a:pPr>
            <a:r>
              <a:t>-8.5pp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4960" y="4681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Abstain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664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Arial"/>
              </a:defRPr>
            </a:pPr>
            <a:r>
              <a:t>Weak (has_output 0.16)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46817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  <a:latin typeface="Arial"/>
              </a:defRPr>
            </a:pPr>
            <a:r>
              <a:t>Negative Example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5760" y="5303520"/>
            <a:ext cx="11430000" cy="7315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00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400" b="1">
                <a:solidFill>
                  <a:srgbClr val="00D2C6"/>
                </a:solidFill>
                <a:latin typeface="Arial"/>
              </a:defRPr>
            </a:pPr>
            <a:r>
              <a:t>Green = Phase 1 validated  |  Blue = Phase 5 new  |  Gold = Negative example  |  9 adapters built</a:t>
            </a:r>
          </a:p>
          <a:p>
            <a:pPr>
              <a:spcAft>
                <a:spcPts val="47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Each env uses different best signal -- reinforcing the core finding of signal-utility environment dependence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F24EDF-190A-E90E-0F3D-D8906A714675}"/>
              </a:ext>
            </a:extLst>
          </p:cNvPr>
          <p:cNvSpPr txBox="1"/>
          <p:nvPr/>
        </p:nvSpPr>
        <p:spPr>
          <a:xfrm>
            <a:off x="338203" y="247565"/>
            <a:ext cx="1475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/>
              <a:t>Phase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D730D-BA6A-6876-2C80-95B4833D17BE}"/>
              </a:ext>
            </a:extLst>
          </p:cNvPr>
          <p:cNvSpPr txBox="1"/>
          <p:nvPr/>
        </p:nvSpPr>
        <p:spPr>
          <a:xfrm>
            <a:off x="382044" y="883084"/>
            <a:ext cx="11561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automatic feature discovery framework that replaces hand-crafted signal engineering with learned representations. The framework extracts features from the agent‘s state automatically, then trains a</a:t>
            </a:r>
            <a:r>
              <a:rPr lang="zh-CN" alt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lightweight direction-aware gate on these features using calibration data.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EF5783-31F9-EDAC-3039-46B9B6EC4CFA}"/>
              </a:ext>
            </a:extLst>
          </p:cNvPr>
          <p:cNvSpPr/>
          <p:nvPr/>
        </p:nvSpPr>
        <p:spPr>
          <a:xfrm>
            <a:off x="832980" y="2492678"/>
            <a:ext cx="1296444" cy="475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600" dirty="0"/>
              <a:t>Proposer Hidden</a:t>
            </a:r>
            <a:r>
              <a:rPr lang="zh-CN" altLang="en-US" sz="1600" dirty="0"/>
              <a:t> </a:t>
            </a:r>
            <a:r>
              <a:rPr lang="en-US" altLang="zh-CN" sz="1600" dirty="0"/>
              <a:t>State</a:t>
            </a:r>
            <a:endParaRPr lang="en-CN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24573B-16DE-3EFB-8BF0-4E3BCAA64D16}"/>
              </a:ext>
            </a:extLst>
          </p:cNvPr>
          <p:cNvSpPr/>
          <p:nvPr/>
        </p:nvSpPr>
        <p:spPr>
          <a:xfrm>
            <a:off x="832980" y="3191005"/>
            <a:ext cx="1296444" cy="475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Text embedding</a:t>
            </a:r>
            <a:endParaRPr lang="en-CN" sz="16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D96B25-9762-E2EA-9FEC-2FA1A6F884E9}"/>
              </a:ext>
            </a:extLst>
          </p:cNvPr>
          <p:cNvSpPr/>
          <p:nvPr/>
        </p:nvSpPr>
        <p:spPr>
          <a:xfrm>
            <a:off x="832980" y="3889332"/>
            <a:ext cx="1296444" cy="475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LLM-Guided</a:t>
            </a:r>
            <a:br>
              <a:rPr lang="en-US" sz="1600" dirty="0"/>
            </a:br>
            <a:r>
              <a:rPr lang="en-US" sz="1600" dirty="0"/>
              <a:t>Discovery</a:t>
            </a:r>
            <a:endParaRPr lang="en-C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A4022-195A-384E-835F-925B30E54667}"/>
              </a:ext>
            </a:extLst>
          </p:cNvPr>
          <p:cNvSpPr txBox="1"/>
          <p:nvPr/>
        </p:nvSpPr>
        <p:spPr>
          <a:xfrm>
            <a:off x="2805830" y="2438284"/>
            <a:ext cx="5862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Extract the LLM‘s last-layer hidden state (d=2560) during inference; </a:t>
            </a:r>
            <a:b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train an MLP or fine tune LLM to predict VOC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(Value of Computation)</a:t>
            </a:r>
            <a:endParaRPr lang="en-US" sz="1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D455D5-A290-3D0D-C241-64A10B1C8B28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2129424" y="2730672"/>
            <a:ext cx="676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89F9D9-8DA2-1653-C302-2D1956BFB34E}"/>
              </a:ext>
            </a:extLst>
          </p:cNvPr>
          <p:cNvSpPr txBox="1"/>
          <p:nvPr/>
        </p:nvSpPr>
        <p:spPr>
          <a:xfrm>
            <a:off x="2805830" y="3136612"/>
            <a:ext cx="6262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Encode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state_text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with a lightweight sentence-transformer (d=384/768);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train an MLP to predict VOC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DD41DF-6DD5-9FF9-7257-0D47488B98DD}"/>
              </a:ext>
            </a:extLst>
          </p:cNvPr>
          <p:cNvCxnSpPr/>
          <p:nvPr/>
        </p:nvCxnSpPr>
        <p:spPr>
          <a:xfrm flipV="1">
            <a:off x="2129424" y="3428998"/>
            <a:ext cx="676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3D0FED1-626C-EC45-2916-0700CD69F6AB}"/>
              </a:ext>
            </a:extLst>
          </p:cNvPr>
          <p:cNvSpPr txBox="1"/>
          <p:nvPr/>
        </p:nvSpPr>
        <p:spPr>
          <a:xfrm>
            <a:off x="2805829" y="3889330"/>
            <a:ext cx="60625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analyze "optimizer-helpful" vs. "optimizer-unhelpful" trajectory samples from a calibration set, directly generate a pure Python function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should_trigger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() that jointly performs feature extraction and triggering decisions, then iteratively refine it over 2–3 rounds of error feedback, ultimately producing an environment-adaptive gate with zero deployment overhead and no hand-crafted features.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ECB04C-164D-77CC-27E0-7F2B35E36BE1}"/>
              </a:ext>
            </a:extLst>
          </p:cNvPr>
          <p:cNvCxnSpPr/>
          <p:nvPr/>
        </p:nvCxnSpPr>
        <p:spPr>
          <a:xfrm flipV="1">
            <a:off x="2129423" y="4161883"/>
            <a:ext cx="676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ultiply 7">
            <a:extLst>
              <a:ext uri="{FF2B5EF4-FFF2-40B4-BE49-F238E27FC236}">
                <a16:creationId xmlns:a16="http://schemas.microsoft.com/office/drawing/2014/main" id="{90F33F94-8C1B-2290-7F98-9680872E78F5}"/>
              </a:ext>
            </a:extLst>
          </p:cNvPr>
          <p:cNvSpPr/>
          <p:nvPr/>
        </p:nvSpPr>
        <p:spPr>
          <a:xfrm>
            <a:off x="1745673" y="2250374"/>
            <a:ext cx="718293" cy="718293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C56BE356-12CB-DFC3-47E1-91DCAF7AD002}"/>
              </a:ext>
            </a:extLst>
          </p:cNvPr>
          <p:cNvSpPr/>
          <p:nvPr/>
        </p:nvSpPr>
        <p:spPr>
          <a:xfrm>
            <a:off x="1745672" y="2923594"/>
            <a:ext cx="718293" cy="718293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2190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Next Week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Complete experiments -&gt; Cost analysis -&gt; Begin paper 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Next Week Plan &amp; Key 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3657600" cy="320040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4572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Priority 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Complete TextWorldExpress Step 2 (7 remaining jobs)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Complete TextWorld Step 1 (3 shards) -&gt; 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Run Plancraft K=3 rerun (negative example validation)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05840"/>
            <a:ext cx="3657600" cy="320040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4572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Priority 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Run full cost analysis on new environments (BabyAI, TWExpress, TW)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Merge all results into unified Table 1 (SR) and Table 2 (Cost)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05840"/>
            <a:ext cx="3657600" cy="320040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657600" cy="457200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Priority 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Begin paper writing: Section 2 (Empirical Finding) + Section 4 (Experiments)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/>
              </a:defRPr>
            </a:pPr>
            <a:r>
              <a:t>Generate Pareto frontier plots for 6 environments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480560"/>
            <a:ext cx="11430000" cy="16459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Arial"/>
              </a:defRPr>
            </a:pPr>
            <a:r>
              <a:t>Key Milestones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C6"/>
                </a:solidFill>
                <a:latin typeface="Arial"/>
              </a:defRPr>
            </a:pPr>
            <a:r>
              <a:t>Tue 03-10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All Phase 5 environment experiments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Arial"/>
              </a:defRPr>
            </a:pPr>
            <a:r>
              <a:t>Thu 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Unified cost analysis across 6 environments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58BFF"/>
                </a:solidFill>
                <a:latin typeface="Arial"/>
              </a:defRPr>
            </a:pPr>
            <a:r>
              <a:t>Sat 03-14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Paper Section 2 + Section 4 first 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Arial"/>
              </a:defRPr>
            </a:pPr>
            <a:r>
              <a:t>Risk 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029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Arial"/>
              </a:defRPr>
            </a:pPr>
            <a:r>
              <a:t>TextWorld shards may fail again (fallback: 3/6)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349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Arial"/>
              </a:defRPr>
            </a:pPr>
            <a:r>
              <a:t>TWExpress oracle jobs timeout (partial OK)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669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Arial"/>
              </a:defRPr>
            </a:pPr>
            <a:r>
              <a:t>Plancraft K=3: either outcome is informative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1395</Words>
  <Application>Microsoft Macintosh PowerPoint</Application>
  <PresentationFormat>Widescreen</PresentationFormat>
  <Paragraphs>259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ziming li</cp:lastModifiedBy>
  <cp:revision>2</cp:revision>
  <dcterms:created xsi:type="dcterms:W3CDTF">2013-01-27T09:14:16Z</dcterms:created>
  <dcterms:modified xsi:type="dcterms:W3CDTF">2026-03-09T17:50:50Z</dcterms:modified>
  <cp:category/>
</cp:coreProperties>
</file>