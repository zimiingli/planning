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6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20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122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Direction-Aware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C6"/>
                </a:solidFill>
                <a:latin typeface="Arial"/>
              </a:defRPr>
            </a:pPr>
            <a:r>
              <a:rPr dirty="0"/>
              <a:t>Adaptive Test-Time Optimizer Triggering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2743200" cy="36576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73152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99"/>
              </a:spcAft>
              <a:defRPr sz="2000" b="0">
                <a:solidFill>
                  <a:srgbClr val="CCCCCC"/>
                </a:solidFill>
                <a:latin typeface="Arial"/>
              </a:defRPr>
            </a:pPr>
            <a:r>
              <a:rPr dirty="0"/>
              <a:t>Weekly Report  |  2026-03-09</a:t>
            </a:r>
          </a:p>
          <a:p>
            <a:pPr>
              <a:spcAft>
                <a:spcPts val="599"/>
              </a:spcAft>
              <a:defRPr sz="1800" b="0">
                <a:solidFill>
                  <a:srgbClr val="FFC107"/>
                </a:solidFill>
                <a:latin typeface="Arial"/>
              </a:defRPr>
            </a:pPr>
            <a:r>
              <a:rPr dirty="0"/>
              <a:t>Core Question: For any test-time optimizer T, can we learn WHEN to use it?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8760" y="1417320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234440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Updated Storyline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Three-layer narrative with token cost quantification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2240280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Token Cost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SR vs Cost Pareto frontier across 3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3063240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749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886199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28644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Environment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1844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3 new GO + 1 negative example + 11 NO-GO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C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4709160"/>
            <a:ext cx="73152" cy="73152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36873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Limitations Revealed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007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What the rejections tell us about method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5103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Next Week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8303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Complete experiments, cost analysis, begin paper writing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374136"/>
            <a:ext cx="12191695" cy="54864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C6"/>
                </a:solidFill>
                <a:latin typeface="Arial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rPr dirty="0"/>
              <a:t>Updated Storyline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From 'direction reversal' to 'direction reversal + token cost damage'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Paper Narrative: Three-Act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48640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Act 1: The Hidden Assumption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Test-time optimizers cost 4-36x more tokens per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11+ concurrent methods address 'when to trigger'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9768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ALL assume signal-utility direction is fixed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09728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097280"/>
            <a:ext cx="3657600" cy="5486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143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Act 2: The Empirical Finding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92024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Finding 1: Direction reverses across environments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10896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Finding 2: Best signal identity also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29768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Wrong-direction: LR -34.5pp, MLP -51.2pp (RR=0%)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09728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1097280"/>
            <a:ext cx="3657600" cy="54864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1143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Arial"/>
              </a:defRPr>
            </a:pPr>
            <a:r>
              <a:t>Act 3: Method + Cost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192024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20116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SCG-LR: LR on 5 features, &lt;1s training, zero GPU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310896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2004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NEW: Pareto-dominates ALL competitors on SR-Cost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4297680"/>
            <a:ext cx="3383280" cy="1005840"/>
          </a:xfrm>
          <a:prstGeom prst="roundRect">
            <a:avLst/>
          </a:prstGeom>
          <a:solidFill>
            <a:srgbClr val="1A1A2E"/>
          </a:solidFill>
          <a:ln w="63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Arial"/>
              </a:defRPr>
            </a:pPr>
            <a:r>
              <a:t>38-77% cheaper than always_trigger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Storyline Evolution: v3.0 vs v4.0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Arial"/>
              </a:defRPr>
            </a:pPr>
            <a:r>
              <a:t>Aspect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143000"/>
            <a:ext cx="4114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Arial"/>
              </a:defRPr>
            </a:pPr>
            <a:r>
              <a:rPr dirty="0"/>
              <a:t>Last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143000"/>
            <a:ext cx="4389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Arial"/>
              </a:defRPr>
            </a:pPr>
            <a:r>
              <a:rPr dirty="0"/>
              <a:t>This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50292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Primary 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6479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Direction reversal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76479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Direction reversal + token cost damage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'Why not always?'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591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Acknowledged but not quantified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591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Fully quantified: 4-36x cost, Pareto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11247120" cy="50292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9535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Method justification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95351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Near-oracle 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5351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Near-oracle SR at fraction of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74720"/>
            <a:ext cx="1124712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5478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Competitor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5478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SR-only comparisons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478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SR vs Token Cost Pareto frontier (Table 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05072"/>
            <a:ext cx="11247120" cy="50292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11313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Environment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11313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3 validated + 1 NO-GO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11313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6 GO + 1 negative + 11 NO-GO (17 total)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0749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C6"/>
                </a:solidFill>
                <a:latin typeface="Arial"/>
              </a:defRPr>
            </a:pPr>
            <a:r>
              <a:t>Adaptive behavior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70749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Mentioned briefly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70749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Arial"/>
              </a:defRPr>
            </a:pPr>
            <a:r>
              <a:t>Elevated to Layer B -- emergent, not programmed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377" y="3328416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  <a:latin typeface="Arial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Token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Answering: 'always_trigger has high SR, why not use it every step?'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SR vs Token Cost: FRVC Pareto-Dominates All Competitors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320040"/>
            <a:ext cx="1371600" cy="320040"/>
          </a:xfrm>
          <a:prstGeom prst="round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KEY RESULT</a:t>
            </a:r>
          </a:p>
        </p:txBody>
      </p:sp>
      <p:pic>
        <p:nvPicPr>
          <p:cNvPr id="4" name="Picture 3" descr="fig20_pareto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2120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760720"/>
            <a:ext cx="11430000" cy="7315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400" b="1">
                <a:solidFill>
                  <a:srgbClr val="4EC9B0"/>
                </a:solidFill>
                <a:latin typeface="Arial"/>
              </a:defRPr>
            </a:pPr>
            <a:r>
              <a:t>FRVC achieves near-oracle SR at fraction of cost: 6.55x (HotpotQA), 1.23x (APPS), 1.27x (WebShop)</a:t>
            </a:r>
          </a:p>
          <a:p>
            <a:pPr>
              <a:spcAft>
                <a:spcPts val="47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Upper-left = better (high SR, low cost).  Green star = FRVC consistently in ideal region.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Token Cost: FRVC vs Competitors (×base)</a:t>
            </a:r>
          </a:p>
        </p:txBody>
      </p:sp>
      <p:pic>
        <p:nvPicPr>
          <p:cNvPr id="3" name="Picture 2" descr="fig27_token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246634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1097280"/>
            <a:ext cx="4389120" cy="16459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0" y="1188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58BFF"/>
                </a:solidFill>
                <a:latin typeface="Arial"/>
              </a:defRPr>
            </a:pPr>
            <a:r>
              <a:t>HotpotQA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554480"/>
            <a:ext cx="4023360" cy="84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9"/>
              </a:spcAft>
              <a:defRPr sz="1500" b="1">
                <a:solidFill>
                  <a:srgbClr val="4EC9B0"/>
                </a:solidFill>
                <a:latin typeface="Arial"/>
              </a:defRPr>
            </a:pPr>
            <a:r>
              <a:rPr dirty="0"/>
              <a:t>FRVC: 6.55×  </a:t>
            </a:r>
            <a:endParaRPr lang="en-US" dirty="0"/>
          </a:p>
          <a:p>
            <a:pPr>
              <a:spcAft>
                <a:spcPts val="499"/>
              </a:spcAft>
              <a:defRPr sz="1500" b="1">
                <a:solidFill>
                  <a:srgbClr val="4EC9B0"/>
                </a:solidFill>
                <a:latin typeface="Arial"/>
              </a:defRPr>
            </a:pPr>
            <a:r>
              <a:rPr dirty="0"/>
              <a:t>CATTS: 10.50×  </a:t>
            </a:r>
            <a:r>
              <a:rPr dirty="0" err="1"/>
              <a:t>CoRefine</a:t>
            </a:r>
            <a:r>
              <a:rPr dirty="0"/>
              <a:t>: 6.12×  SEAG: 7.40×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926080"/>
            <a:ext cx="4389120" cy="16459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Arial"/>
              </a:defRPr>
            </a:pPr>
            <a:r>
              <a:t>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3832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9"/>
              </a:spcAft>
              <a:defRPr sz="1500" b="1">
                <a:solidFill>
                  <a:srgbClr val="4EC9B0"/>
                </a:solidFill>
                <a:latin typeface="Arial"/>
              </a:defRPr>
            </a:pPr>
            <a:r>
              <a:t>FRVC: 1.23×  (lowest cost)</a:t>
            </a:r>
          </a:p>
          <a:p>
            <a:pPr>
              <a:spcAft>
                <a:spcPts val="49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CATTS: 6.02×  CoRefine: 3.25×  SEAG: 2.01×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754880"/>
            <a:ext cx="4389120" cy="16459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Arial"/>
              </a:defRPr>
            </a:pPr>
            <a:r>
              <a:t>WebShop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2120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99"/>
              </a:spcAft>
              <a:defRPr sz="1500" b="1">
                <a:solidFill>
                  <a:srgbClr val="4EC9B0"/>
                </a:solidFill>
                <a:latin typeface="Arial"/>
              </a:defRPr>
            </a:pPr>
            <a:r>
              <a:t>FRVC: 1.27×  (lowest cost)</a:t>
            </a:r>
          </a:p>
          <a:p>
            <a:pPr>
              <a:spcAft>
                <a:spcPts val="49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CATTS: 5.55×  CoRefine: 3.67×  SEAG: 2.84×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Token Cost Breakdown: Where Do Tokens Go?</a:t>
            </a:r>
          </a:p>
        </p:txBody>
      </p:sp>
      <p:pic>
        <p:nvPicPr>
          <p:cNvPr id="3" name="Picture 2" descr="fig22_cos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41386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65760" y="5669280"/>
            <a:ext cx="11430000" cy="7315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400" b="1">
                <a:solidFill>
                  <a:srgbClr val="FF6B6B"/>
                </a:solidFill>
                <a:latin typeface="Arial"/>
              </a:defRPr>
            </a:pPr>
            <a:r>
              <a:t>CATTS vote overhead (red) is massive: 3,720 (HotpotQA), 8,396 (APPS), 33,850 (WebShop) tokens/episode</a:t>
            </a:r>
          </a:p>
          <a:p>
            <a:pPr>
              <a:spcAft>
                <a:spcPts val="479"/>
              </a:spcAft>
              <a:defRPr sz="1300" b="1">
                <a:solidFill>
                  <a:srgbClr val="FFC107"/>
                </a:solidFill>
                <a:latin typeface="Arial"/>
              </a:defRPr>
            </a:pPr>
            <a:r>
              <a:t>In APPS: C_vote (4,198) &gt; C_rollout (3,306) -- voting costs MORE than the optimizer itself!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8BFF"/>
                </a:solidFill>
                <a:latin typeface="Arial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Environment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17 environments evaluated: 6 GO, 1 negative example, 11 NO-GO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3 Newly Accepted Environments (Phase 5 GO)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54864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BabyAI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Grid-world navigation</a:t>
            </a:r>
          </a:p>
          <a:p>
            <a:pPr>
              <a:spcAft>
                <a:spcPts val="620"/>
              </a:spcAft>
              <a:defRPr sz="1100" b="0">
                <a:solidFill>
                  <a:srgbClr val="999999"/>
                </a:solidFill>
                <a:latin typeface="Arial"/>
              </a:defRPr>
            </a:pPr>
            <a:r>
              <a:t>GoTo-v0, 7 discrete actions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Base SR:    2.0%</a:t>
            </a:r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Always SR:  11.3%</a:t>
            </a:r>
          </a:p>
          <a:p>
            <a:pPr>
              <a:spcAft>
                <a:spcPts val="620"/>
              </a:spcAft>
              <a:defRPr sz="1600" b="1">
                <a:solidFill>
                  <a:srgbClr val="FFC107"/>
                </a:solidFill>
                <a:latin typeface="Arial"/>
              </a:defRPr>
            </a:pPr>
            <a:r>
              <a:t>Delta:      +9.3pp</a:t>
            </a:r>
          </a:p>
          <a:p>
            <a:pPr>
              <a:spcAft>
                <a:spcPts val="620"/>
              </a:spcAft>
              <a:defRPr sz="1600" b="1">
                <a:solidFill>
                  <a:srgbClr val="4EC9B0"/>
                </a:solidFill>
                <a:latin typeface="Arial"/>
              </a:defRPr>
            </a:pPr>
            <a:r>
              <a:t>SCG-LR SR:  8.8%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300" b="1">
                <a:solidFill>
                  <a:srgbClr val="4EC9B0"/>
                </a:solidFill>
                <a:latin typeface="Arial"/>
              </a:defRPr>
            </a:pPr>
            <a:r>
              <a:t>Status: 18/18 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548640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TextWorldExpress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CoinCollector (text)</a:t>
            </a:r>
          </a:p>
          <a:p>
            <a:pPr>
              <a:spcAft>
                <a:spcPts val="620"/>
              </a:spcAft>
              <a:defRPr sz="1100" b="0">
                <a:solidFill>
                  <a:srgbClr val="999999"/>
                </a:solidFill>
                <a:latin typeface="Arial"/>
              </a:defRPr>
            </a:pPr>
            <a:r>
              <a:t>Medium difficulty, max 50 steps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Base SR:    64%</a:t>
            </a:r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Always SR:  98%</a:t>
            </a:r>
          </a:p>
          <a:p>
            <a:pPr>
              <a:spcAft>
                <a:spcPts val="620"/>
              </a:spcAft>
              <a:defRPr sz="1600" b="1">
                <a:solidFill>
                  <a:srgbClr val="FFC107"/>
                </a:solidFill>
                <a:latin typeface="Arial"/>
              </a:defRPr>
            </a:pPr>
            <a:r>
              <a:t>Delta:      +34pp</a:t>
            </a:r>
          </a:p>
          <a:p>
            <a:pPr>
              <a:spcAft>
                <a:spcPts val="620"/>
              </a:spcAft>
              <a:defRPr sz="1600" b="1">
                <a:solidFill>
                  <a:srgbClr val="458BFF"/>
                </a:solidFill>
                <a:latin typeface="Arial"/>
              </a:defRPr>
            </a:pPr>
            <a:r>
              <a:t>SCG-LR SR:  ~97%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300" b="1">
                <a:solidFill>
                  <a:srgbClr val="458BFF"/>
                </a:solidFill>
                <a:latin typeface="Arial"/>
              </a:defRPr>
            </a:pPr>
            <a:r>
              <a:t>Status: 11/18 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05840"/>
            <a:ext cx="3657600" cy="5029200"/>
          </a:xfrm>
          <a:prstGeom prst="roundRect">
            <a:avLst/>
          </a:prstGeom>
          <a:solidFill>
            <a:srgbClr val="242440"/>
          </a:solidFill>
          <a:ln w="254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005840"/>
            <a:ext cx="3657600" cy="548640"/>
          </a:xfrm>
          <a:prstGeom prst="rect">
            <a:avLst/>
          </a:prstGeom>
          <a:solidFill>
            <a:srgbClr val="45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Arial"/>
              </a:defRPr>
            </a:pPr>
            <a:r>
              <a:t>TextWorld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Text adventure</a:t>
            </a:r>
          </a:p>
          <a:p>
            <a:pPr>
              <a:spcAft>
                <a:spcPts val="620"/>
              </a:spcAft>
              <a:defRPr sz="1100" b="0">
                <a:solidFill>
                  <a:srgbClr val="999999"/>
                </a:solidFill>
                <a:latin typeface="Arial"/>
              </a:defRPr>
            </a:pPr>
            <a:r>
              <a:t>5 rooms, 8 objects, quest=8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Base SR:    58%</a:t>
            </a:r>
          </a:p>
          <a:p>
            <a:pPr>
              <a:spcAft>
                <a:spcPts val="620"/>
              </a:spcAft>
              <a:defRPr sz="1400" b="0">
                <a:solidFill>
                  <a:srgbClr val="CCCCCC"/>
                </a:solidFill>
                <a:latin typeface="Arial"/>
              </a:defRPr>
            </a:pPr>
            <a:r>
              <a:t>Always SR:  68%</a:t>
            </a:r>
          </a:p>
          <a:p>
            <a:pPr>
              <a:spcAft>
                <a:spcPts val="620"/>
              </a:spcAft>
              <a:defRPr sz="1600" b="1">
                <a:solidFill>
                  <a:srgbClr val="FFC107"/>
                </a:solidFill>
                <a:latin typeface="Arial"/>
              </a:defRPr>
            </a:pPr>
            <a:r>
              <a:t>Delta:      +10pp</a:t>
            </a:r>
          </a:p>
          <a:p>
            <a:pPr>
              <a:spcAft>
                <a:spcPts val="620"/>
              </a:spcAft>
              <a:defRPr sz="1600" b="1">
                <a:solidFill>
                  <a:srgbClr val="458BFF"/>
                </a:solidFill>
                <a:latin typeface="Arial"/>
              </a:defRPr>
            </a:pPr>
            <a:r>
              <a:t>SCG-LR SR:  TBD</a:t>
            </a:r>
          </a:p>
          <a:p>
            <a:pPr>
              <a:spcAft>
                <a:spcPts val="620"/>
              </a:spcAft>
              <a:defRPr sz="800" b="0">
                <a:solidFill>
                  <a:srgbClr val="FFFFFF"/>
                </a:solidFill>
                <a:latin typeface="Arial"/>
              </a:defRPr>
            </a:pPr>
            <a:endParaRPr/>
          </a:p>
          <a:p>
            <a:pPr>
              <a:spcAft>
                <a:spcPts val="620"/>
              </a:spcAft>
              <a:defRPr sz="1300" b="1">
                <a:solidFill>
                  <a:srgbClr val="458BFF"/>
                </a:solidFill>
                <a:latin typeface="Arial"/>
              </a:defRPr>
            </a:pPr>
            <a:r>
              <a:t>Status: 3/6 shards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669280"/>
            <a:ext cx="11430000" cy="45720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Arial"/>
              </a:defRPr>
            </a:pPr>
            <a:r>
              <a:t>TextWorldExpress has LARGEST headroom of all environments (+34pp) -- strongest validation of adaptive gating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Negative Example &amp; Rejected Environments</a:t>
            </a:r>
          </a:p>
        </p:txBody>
      </p:sp>
      <p:pic>
        <p:nvPicPr>
          <p:cNvPr id="19" name="Picture 18" descr="fig25_env_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71" y="833728"/>
            <a:ext cx="11612880" cy="57728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Limitations Revealed by Rejected Environments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26880" y="320040"/>
            <a:ext cx="1920239" cy="320040"/>
          </a:xfrm>
          <a:prstGeom prst="round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HONEST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11430000" cy="123444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Arial"/>
              </a:defRPr>
            </a:pPr>
            <a:r>
              <a:rPr dirty="0"/>
              <a:t>1. Model Capacity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51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Requirement: Base agent needs SR &gt; 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rPr dirty="0" err="1"/>
              <a:t>ScienceWorld</a:t>
            </a:r>
            <a:r>
              <a:rPr dirty="0"/>
              <a:t> (0%), Sokoban (0%), Maze (4%): Qwen3-4B fundamentally cannot perform the task. No amount of gating or rollout helps.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Arial"/>
              </a:defRPr>
            </a:pPr>
            <a:r>
              <a:rPr dirty="0"/>
              <a:t>-&gt; Inherent to all test-time optimization, not specific to our 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377440"/>
            <a:ext cx="11430000" cy="123444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Arial"/>
              </a:defRPr>
            </a:pPr>
            <a:r>
              <a:rPr dirty="0"/>
              <a:t>2. Meaningful Rollout Headroom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Requirement: Need Delta &gt;= 3pp from 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MiniHack (+2pp), tau-bench (+2pp): When the optimizer barely helps, there's nothing for the gate to optimize.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Arial"/>
              </a:defRPr>
            </a:pPr>
            <a:r>
              <a:t>-&gt; Our method is most valuable in 'high-value, high-cost' regime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49039"/>
            <a:ext cx="11430000" cy="123444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Arial"/>
              </a:defRPr>
            </a:pPr>
            <a:r>
              <a:rPr dirty="0"/>
              <a:t>3. Reliable Rollout Mechanism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5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Requirement: Need </a:t>
            </a:r>
            <a:r>
              <a:rPr dirty="0" err="1"/>
              <a:t>deepcopy</a:t>
            </a:r>
            <a:r>
              <a:rPr dirty="0"/>
              <a:t> or deterministic 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7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ALFWorld: LLM-as-Simulator hallucinates, Batch Scoring has confirmation bias (2.9/10 vs 6.6/10).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Arial"/>
              </a:defRPr>
            </a:pPr>
            <a:r>
              <a:t>-&gt; Rollout quality hierarchy: env.deepcopy &gt; deterministic eval &gt; LLM simulation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20640"/>
            <a:ext cx="11430000" cy="1234440"/>
          </a:xfrm>
          <a:prstGeom prst="roundRect">
            <a:avLst/>
          </a:prstGeom>
          <a:solidFill>
            <a:srgbClr val="242440"/>
          </a:solidFill>
          <a:ln w="12700">
            <a:solidFill>
              <a:srgbClr val="45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58BFF"/>
                </a:solidFill>
                <a:latin typeface="Arial"/>
              </a:defRPr>
            </a:pPr>
            <a:r>
              <a:t>4. Within-Episode Variability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1663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Requirement: Not bimodal performance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rPr dirty="0"/>
              <a:t>Jericho 11 games: Either 0% or 100% SR per game. No 'sweet spot' for per-step gating.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58BFF"/>
                </a:solidFill>
                <a:latin typeface="Arial"/>
              </a:defRPr>
            </a:pPr>
            <a:r>
              <a:t>-&gt; Per-step gating assumes variability; per-instance estimation is different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760720"/>
            <a:ext cx="11430000" cy="54864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Arial"/>
              </a:defRPr>
            </a:pPr>
            <a:r>
              <a:t>These are reasonable prerequisites for any adaptive compute method. Plancraft shows gate is ROBUST (learns to abstain).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3014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Complete Environment Summary: 6 GO Environments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solidFill>
            <a:srgbClr val="00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51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rPr dirty="0"/>
              <a:t>Base 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51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rPr dirty="0"/>
              <a:t>Always SR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051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Delta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051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rPr dirty="0"/>
              <a:t>SCG-LR SR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Cost (×base)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051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Best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051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11430000" cy="45720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Arial"/>
              </a:defRPr>
            </a:pPr>
            <a:r>
              <a:t>HotpotQA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642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49.0%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6642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97.0%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642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+48pp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664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96.8%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6642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6.55x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evidence_count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6642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103120"/>
            <a:ext cx="1143000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1671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Arial"/>
              </a:defRPr>
            </a:pPr>
            <a:r>
              <a:t>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1671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57.8%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1671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64.5%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1671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+6.7pp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167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58.8%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6712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1.23x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167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step_count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167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606040"/>
            <a:ext cx="11430000" cy="45720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2670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Arial"/>
              </a:defRPr>
            </a:pPr>
            <a:r>
              <a:t>WebShop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7.2%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2670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47.5%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26700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+40pp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267004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43.7%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670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EC9B0"/>
                </a:solidFill>
                <a:latin typeface="Arial"/>
              </a:defRPr>
            </a:pPr>
            <a:r>
              <a:t>1.27x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670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state_category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108960"/>
            <a:ext cx="1143000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31729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8BFF"/>
                </a:solidFill>
                <a:latin typeface="Arial"/>
              </a:defRPr>
            </a:pPr>
            <a:r>
              <a:t>BabyAI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31729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2.0%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1729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rPr dirty="0"/>
              <a:t>11.3%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31729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+9.3pp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3172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rPr dirty="0"/>
              <a:t>8.8%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17296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172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3172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58BFF"/>
                </a:solidFill>
                <a:latin typeface="Arial"/>
              </a:defRPr>
            </a:pPr>
            <a:r>
              <a:t>18/18 Done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611880"/>
            <a:ext cx="11430000" cy="45720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3675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8BFF"/>
                </a:solidFill>
                <a:latin typeface="Arial"/>
              </a:defRPr>
            </a:pPr>
            <a:r>
              <a:t>TWExpress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367588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64%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36758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98%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36758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+34pp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960" y="36758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~97%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36758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3675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step_count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36758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58BFF"/>
                </a:solidFill>
                <a:latin typeface="Arial"/>
              </a:defRPr>
            </a:pPr>
            <a:r>
              <a:t>11/18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7200" y="41788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58BFF"/>
                </a:solidFill>
                <a:latin typeface="Arial"/>
              </a:defRPr>
            </a:pPr>
            <a:r>
              <a:t>TextWorld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77440" y="4178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58%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41788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41788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+10pp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94960" y="41788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41788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0" y="4178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Arial"/>
              </a:defRPr>
            </a:pPr>
            <a:r>
              <a:t>TBD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41788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58BFF"/>
                </a:solidFill>
                <a:latin typeface="Arial"/>
              </a:defRPr>
            </a:pPr>
            <a:r>
              <a:t>3/6 shards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617720"/>
            <a:ext cx="11430000" cy="457200"/>
          </a:xfrm>
          <a:prstGeom prst="rect">
            <a:avLst/>
          </a:prstGeom>
          <a:solidFill>
            <a:srgbClr val="24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46817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Arial"/>
              </a:defRPr>
            </a:pPr>
            <a:r>
              <a:t>Plancraft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7440" y="4681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29.8%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46817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Arial"/>
              </a:defRPr>
            </a:pPr>
            <a:r>
              <a:t>21.3%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0560" y="4681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Arial"/>
              </a:defRPr>
            </a:pPr>
            <a:r>
              <a:t>-8.5pp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94960" y="46817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107"/>
                </a:solidFill>
                <a:latin typeface="Arial"/>
              </a:defRPr>
            </a:pPr>
            <a:r>
              <a:t>Abstain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664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Arial"/>
              </a:defRPr>
            </a:pPr>
            <a:r>
              <a:t>Weak (has_output 0.16)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46817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  <a:latin typeface="Arial"/>
              </a:defRPr>
            </a:pPr>
            <a:r>
              <a:t>Negative Example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5760" y="5303520"/>
            <a:ext cx="11430000" cy="731520"/>
          </a:xfrm>
          <a:prstGeom prst="roundRect">
            <a:avLst/>
          </a:prstGeom>
          <a:solidFill>
            <a:srgbClr val="242440"/>
          </a:solidFill>
          <a:ln w="19050">
            <a:solidFill>
              <a:srgbClr val="00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79"/>
              </a:spcAft>
              <a:defRPr sz="1400" b="1">
                <a:solidFill>
                  <a:srgbClr val="00D2C6"/>
                </a:solidFill>
                <a:latin typeface="Arial"/>
              </a:defRPr>
            </a:pPr>
            <a:r>
              <a:t>Green = Phase 1 validated  |  Blue = Phase 5 new  |  Gold = Negative example  |  9 adapters built</a:t>
            </a:r>
          </a:p>
          <a:p>
            <a:pPr>
              <a:spcAft>
                <a:spcPts val="479"/>
              </a:spcAft>
              <a:defRPr sz="1200" b="0">
                <a:solidFill>
                  <a:srgbClr val="CCCCCC"/>
                </a:solidFill>
                <a:latin typeface="Arial"/>
              </a:defRPr>
            </a:pPr>
            <a:r>
              <a:t>Each env uses different best signal -- reinforcing the core finding of signal-utility environment dependence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F24EDF-190A-E90E-0F3D-D8906A714675}"/>
              </a:ext>
            </a:extLst>
          </p:cNvPr>
          <p:cNvSpPr txBox="1"/>
          <p:nvPr/>
        </p:nvSpPr>
        <p:spPr>
          <a:xfrm>
            <a:off x="338203" y="247565"/>
            <a:ext cx="1475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3200" dirty="0"/>
              <a:t>Phase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D730D-BA6A-6876-2C80-95B4833D17BE}"/>
              </a:ext>
            </a:extLst>
          </p:cNvPr>
          <p:cNvSpPr txBox="1"/>
          <p:nvPr/>
        </p:nvSpPr>
        <p:spPr>
          <a:xfrm>
            <a:off x="382044" y="883084"/>
            <a:ext cx="11561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 automatic feature discovery framework that replaces hand-crafted signal engineering with learned representations. The framework extracts features from the agent‘s state automatically, then trains a</a:t>
            </a:r>
            <a:r>
              <a:rPr lang="zh-CN" alt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lightweight direction-aware gate on these features using calibration data.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EF5783-31F9-EDAC-3039-46B9B6EC4CFA}"/>
              </a:ext>
            </a:extLst>
          </p:cNvPr>
          <p:cNvSpPr/>
          <p:nvPr/>
        </p:nvSpPr>
        <p:spPr>
          <a:xfrm>
            <a:off x="832980" y="2492678"/>
            <a:ext cx="1296444" cy="475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600" dirty="0"/>
              <a:t>Proposer Hidden</a:t>
            </a:r>
            <a:r>
              <a:rPr lang="zh-CN" altLang="en-US" sz="1600" dirty="0"/>
              <a:t> </a:t>
            </a:r>
            <a:r>
              <a:rPr lang="en-US" altLang="zh-CN" sz="1600" dirty="0"/>
              <a:t>State</a:t>
            </a:r>
            <a:endParaRPr lang="en-CN" sz="16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24573B-16DE-3EFB-8BF0-4E3BCAA64D16}"/>
              </a:ext>
            </a:extLst>
          </p:cNvPr>
          <p:cNvSpPr/>
          <p:nvPr/>
        </p:nvSpPr>
        <p:spPr>
          <a:xfrm>
            <a:off x="832980" y="3191005"/>
            <a:ext cx="1296444" cy="475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Text embedding</a:t>
            </a:r>
            <a:endParaRPr lang="en-CN" sz="16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D96B25-9762-E2EA-9FEC-2FA1A6F884E9}"/>
              </a:ext>
            </a:extLst>
          </p:cNvPr>
          <p:cNvSpPr/>
          <p:nvPr/>
        </p:nvSpPr>
        <p:spPr>
          <a:xfrm>
            <a:off x="832980" y="3889332"/>
            <a:ext cx="1296444" cy="4759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LLM-Guided</a:t>
            </a:r>
            <a:br>
              <a:rPr lang="en-US" sz="1600" dirty="0"/>
            </a:br>
            <a:r>
              <a:rPr lang="en-US" sz="1600" dirty="0"/>
              <a:t>Discovery</a:t>
            </a:r>
            <a:endParaRPr lang="en-C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A4022-195A-384E-835F-925B30E54667}"/>
              </a:ext>
            </a:extLst>
          </p:cNvPr>
          <p:cNvSpPr txBox="1"/>
          <p:nvPr/>
        </p:nvSpPr>
        <p:spPr>
          <a:xfrm>
            <a:off x="2805830" y="2438284"/>
            <a:ext cx="5862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Extract the LLM‘s last-layer hidden state (d=2560) during inference; </a:t>
            </a:r>
            <a:b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train an MLP or fine tune LLM to predict VOC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(Value of Computation)</a:t>
            </a:r>
            <a:endParaRPr lang="en-US" sz="16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D455D5-A290-3D0D-C241-64A10B1C8B28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2129424" y="2730672"/>
            <a:ext cx="676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289F9D9-8DA2-1653-C302-2D1956BFB34E}"/>
              </a:ext>
            </a:extLst>
          </p:cNvPr>
          <p:cNvSpPr txBox="1"/>
          <p:nvPr/>
        </p:nvSpPr>
        <p:spPr>
          <a:xfrm>
            <a:off x="2805830" y="3136612"/>
            <a:ext cx="6262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Encode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state_text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with a lightweight sentence-transformer (d=384/768);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train an MLP to predict VOC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DD41DF-6DD5-9FF9-7257-0D47488B98DD}"/>
              </a:ext>
            </a:extLst>
          </p:cNvPr>
          <p:cNvCxnSpPr/>
          <p:nvPr/>
        </p:nvCxnSpPr>
        <p:spPr>
          <a:xfrm flipV="1">
            <a:off x="2129424" y="3428998"/>
            <a:ext cx="676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3D0FED1-626C-EC45-2916-0700CD69F6AB}"/>
              </a:ext>
            </a:extLst>
          </p:cNvPr>
          <p:cNvSpPr txBox="1"/>
          <p:nvPr/>
        </p:nvSpPr>
        <p:spPr>
          <a:xfrm>
            <a:off x="2805829" y="3889330"/>
            <a:ext cx="60625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analyze "optimizer-helpful" vs. "optimizer-unhelpful" trajectory samples from a calibration set, directly generate a pure Python function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should_trigger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() that jointly performs feature extraction and triggering decisions, then iteratively refine it over 2–3 rounds of error feedback, ultimately producing an environment-adaptive gate with zero deployment overhead and no hand-crafted features.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ECB04C-164D-77CC-27E0-7F2B35E36BE1}"/>
              </a:ext>
            </a:extLst>
          </p:cNvPr>
          <p:cNvCxnSpPr/>
          <p:nvPr/>
        </p:nvCxnSpPr>
        <p:spPr>
          <a:xfrm flipV="1">
            <a:off x="2129423" y="4161883"/>
            <a:ext cx="676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Multiply 7">
            <a:extLst>
              <a:ext uri="{FF2B5EF4-FFF2-40B4-BE49-F238E27FC236}">
                <a16:creationId xmlns:a16="http://schemas.microsoft.com/office/drawing/2014/main" id="{FBB4A2C5-343B-3685-E314-0C7DD3F5766D}"/>
              </a:ext>
            </a:extLst>
          </p:cNvPr>
          <p:cNvSpPr/>
          <p:nvPr/>
        </p:nvSpPr>
        <p:spPr>
          <a:xfrm>
            <a:off x="1813287" y="2244436"/>
            <a:ext cx="605642" cy="605642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Multiply 13">
            <a:extLst>
              <a:ext uri="{FF2B5EF4-FFF2-40B4-BE49-F238E27FC236}">
                <a16:creationId xmlns:a16="http://schemas.microsoft.com/office/drawing/2014/main" id="{AA4E8ACC-9369-F311-1599-C14BAB2005EC}"/>
              </a:ext>
            </a:extLst>
          </p:cNvPr>
          <p:cNvSpPr/>
          <p:nvPr/>
        </p:nvSpPr>
        <p:spPr>
          <a:xfrm>
            <a:off x="1813287" y="2930700"/>
            <a:ext cx="605642" cy="605642"/>
          </a:xfrm>
          <a:prstGeom prst="mathMultiply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2190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Arial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5059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rial"/>
              </a:defRPr>
            </a:pPr>
            <a:r>
              <a:t>Next Week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Arial"/>
              </a:defRPr>
            </a:pPr>
            <a:r>
              <a:t>Complete experiments -&gt; Cost analysis -&gt; Begin paper 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rPr dirty="0"/>
              <a:t>Next Week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Arial"/>
              </a:defRPr>
            </a:pPr>
            <a:r>
              <a:t>18/18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0AE9DD-E3C1-A67C-828A-D0CD4D1F538E}"/>
              </a:ext>
            </a:extLst>
          </p:cNvPr>
          <p:cNvSpPr txBox="1"/>
          <p:nvPr/>
        </p:nvSpPr>
        <p:spPr>
          <a:xfrm>
            <a:off x="659081" y="979715"/>
            <a:ext cx="399526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</a:t>
            </a:r>
            <a:r>
              <a:rPr lang="en-CN" dirty="0">
                <a:solidFill>
                  <a:schemeClr val="bg1"/>
                </a:solidFill>
              </a:rPr>
              <a:t>ollowing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environment’s experiments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Compare with ourselves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Compare with others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CoRefine</a:t>
            </a:r>
            <a:endParaRPr lang="en-US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SEAG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CATTS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Maybe more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Auto feature engineering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1226</Words>
  <Application>Microsoft Macintosh PowerPoint</Application>
  <PresentationFormat>Widescreen</PresentationFormat>
  <Paragraphs>235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ziming li</cp:lastModifiedBy>
  <cp:revision>5</cp:revision>
  <dcterms:created xsi:type="dcterms:W3CDTF">2013-01-27T09:14:16Z</dcterms:created>
  <dcterms:modified xsi:type="dcterms:W3CDTF">2026-03-10T00:21:11Z</dcterms:modified>
  <cp:category/>
</cp:coreProperties>
</file>