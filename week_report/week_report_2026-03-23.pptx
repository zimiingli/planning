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46"/>
    <p:restoredTop sz="94610"/>
  </p:normalViewPr>
  <p:slideViewPr>
    <p:cSldViewPr snapToGrid="0" snapToObjects="1">
      <p:cViewPr varScale="1">
        <p:scale>
          <a:sx n="303" d="100"/>
          <a:sy n="303" d="100"/>
        </p:scale>
        <p:origin x="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165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015901"/>
            <a:ext cx="7902041" cy="1386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4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Signal, Opposite Meaning:</a:t>
            </a:r>
            <a:endParaRPr lang="en-US" sz="2800" dirty="0"/>
          </a:p>
          <a:p>
            <a:pPr marL="0" indent="0" algn="l">
              <a:lnSpc>
                <a:spcPts val="364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Adaptive Compute Fails Across Environments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2503736"/>
            <a:ext cx="79020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0"/>
              </a:spcAft>
              <a:buNone/>
            </a:pPr>
            <a:r>
              <a:rPr lang="en-US" sz="1400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  |  2026-03-23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3094286"/>
            <a:ext cx="79020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</a:t>
            </a: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EAAG (Environment-Aware Adaptive Gating)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3330923"/>
            <a:ext cx="79020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Type:</a:t>
            </a: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Finding + Theory + 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3957786"/>
            <a:ext cx="79020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buNone/>
            </a:pPr>
            <a:r>
              <a:rPr lang="en-US" sz="1200" dirty="0">
                <a:solidFill>
                  <a:srgbClr val="E6A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Overview: Method, Datasets, Baselines, Results, Storyline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2102"/>
          </a:xfrm>
          <a:prstGeom prst="rect">
            <a:avLst/>
          </a:prstGeom>
          <a:solidFill>
            <a:srgbClr val="0D3B4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876002"/>
            <a:ext cx="3937099" cy="1504652"/>
          </a:xfrm>
          <a:prstGeom prst="rect">
            <a:avLst/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876002"/>
            <a:ext cx="0" cy="1504652"/>
          </a:xfrm>
          <a:prstGeom prst="line">
            <a:avLst/>
          </a:prstGeom>
          <a:noFill/>
          <a:ln w="5715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768251" y="1053703"/>
            <a:ext cx="354312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uncertainty signal reverses direction across environments.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251" y="1523554"/>
            <a:ext cx="354312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entropy correlates </a:t>
            </a:r>
            <a:r>
              <a:rPr lang="en-US" sz="11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negatively</a:t>
            </a:r>
            <a:r>
              <a:rPr lang="en-US" sz="11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rollout utility in FEVER (rho = -0.119) but </a:t>
            </a:r>
            <a:r>
              <a:rPr lang="en-US" sz="11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positively</a:t>
            </a:r>
            <a:r>
              <a:rPr lang="en-US" sz="11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APPS Interview (rho = +0.317).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558355"/>
            <a:ext cx="3937099" cy="1806178"/>
          </a:xfrm>
          <a:prstGeom prst="rect">
            <a:avLst/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6525" y="2558355"/>
            <a:ext cx="0" cy="1806178"/>
          </a:xfrm>
          <a:prstGeom prst="line">
            <a:avLst/>
          </a:prstGeom>
          <a:noFill/>
          <a:ln w="5715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768251" y="2736056"/>
            <a:ext cx="354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Two-Source Uncertainty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251" y="3037582"/>
            <a:ext cx="354312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 (Info-Poverty):</a:t>
            </a:r>
            <a:r>
              <a:rPr lang="en-US" sz="11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 lacks info; rollouts cannot help. High entropy = bad.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251" y="3507432"/>
            <a:ext cx="354312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 (Decision-Diff):</a:t>
            </a:r>
            <a:r>
              <a:rPr lang="en-US" sz="11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 has info but faces choices; rollouts explore alternatives. High entropy = good.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4542234"/>
            <a:ext cx="40158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of Simpson's Paradox in signal-utility space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98950" y="876002"/>
            <a:ext cx="3937099" cy="1545878"/>
          </a:xfrm>
          <a:prstGeom prst="rect">
            <a:avLst/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27525" y="876002"/>
            <a:ext cx="0" cy="1545878"/>
          </a:xfrm>
          <a:prstGeom prst="line">
            <a:avLst/>
          </a:prstGeom>
          <a:noFill/>
          <a:ln w="5715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4959251" y="1053703"/>
            <a:ext cx="354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(Necessity)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59251" y="1355229"/>
            <a:ext cx="3543121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discovery is a </a:t>
            </a:r>
            <a:r>
              <a:rPr lang="en-US" sz="11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necessary condition</a:t>
            </a:r>
            <a:r>
              <a:rPr lang="en-US" sz="11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cross-environment non-negative value of computation. No fixed-direction gate can satisfy both Type I and Type D environments.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9001" y="2599581"/>
            <a:ext cx="1867049" cy="838051"/>
          </a:xfrm>
          <a:prstGeom prst="roundRect">
            <a:avLst>
              <a:gd name="adj" fmla="val 6062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31585" y="2726531"/>
            <a:ext cx="15418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6A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-37 pp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31585" y="3050381"/>
            <a:ext cx="15418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Direction Cost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8950" y="2599581"/>
            <a:ext cx="1866900" cy="838051"/>
          </a:xfrm>
          <a:prstGeom prst="roundRect">
            <a:avLst>
              <a:gd name="adj" fmla="val 6062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61536" y="2726531"/>
            <a:ext cx="154172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6A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61536" y="3050381"/>
            <a:ext cx="15417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98950" y="3526482"/>
            <a:ext cx="1867049" cy="838051"/>
          </a:xfrm>
          <a:prstGeom prst="roundRect">
            <a:avLst>
              <a:gd name="adj" fmla="val 6062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61534" y="3653432"/>
            <a:ext cx="15418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6A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861534" y="3977282"/>
            <a:ext cx="15418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Beat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2102"/>
          </a:xfrm>
          <a:prstGeom prst="rect">
            <a:avLst/>
          </a:prstGeom>
          <a:solidFill>
            <a:srgbClr val="0D3B4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EAAG (Environment-Aware Adaptive Gating)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825252"/>
            <a:ext cx="2353717" cy="1493341"/>
          </a:xfrm>
          <a:prstGeom prst="roundRect">
            <a:avLst>
              <a:gd name="adj" fmla="val 5103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844302"/>
            <a:ext cx="2353717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85651" y="1015752"/>
            <a:ext cx="20382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651" y="1213842"/>
            <a:ext cx="20382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651" y="1411932"/>
            <a:ext cx="203828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episodes, randomized gating (epsilon = 0.5)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651" y="1770013"/>
            <a:ext cx="20382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(state, utility) pairs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651" y="1968103"/>
            <a:ext cx="20382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Unbiased signal estimation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4067" y="143857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95067" y="825252"/>
            <a:ext cx="2353866" cy="1493341"/>
          </a:xfrm>
          <a:prstGeom prst="roundRect">
            <a:avLst>
              <a:gd name="adj" fmla="val 5103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95067" y="844302"/>
            <a:ext cx="2353866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3572768" y="1015752"/>
            <a:ext cx="20384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72768" y="1213842"/>
            <a:ext cx="20384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72768" y="1411932"/>
            <a:ext cx="20384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analyzes exploration 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72768" y="1610023"/>
            <a:ext cx="20384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environment profile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72768" y="1808113"/>
            <a:ext cx="20384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Proposes task-specific features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01333" y="143857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82333" y="825252"/>
            <a:ext cx="2353717" cy="1493341"/>
          </a:xfrm>
          <a:prstGeom prst="roundRect">
            <a:avLst>
              <a:gd name="adj" fmla="val 5103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282333" y="844302"/>
            <a:ext cx="2353717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6460034" y="1015752"/>
            <a:ext cx="20382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60034" y="1213842"/>
            <a:ext cx="20382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&amp; Deploy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60034" y="1411932"/>
            <a:ext cx="20382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feature selection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60034" y="1610023"/>
            <a:ext cx="20382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gate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60034" y="1808113"/>
            <a:ext cx="20382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&lt;1s, zero deploy cost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950" y="2496294"/>
            <a:ext cx="3975199" cy="1396752"/>
          </a:xfrm>
          <a:prstGeom prst="rect">
            <a:avLst/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31763" y="2496294"/>
            <a:ext cx="0" cy="1396752"/>
          </a:xfrm>
          <a:prstGeom prst="line">
            <a:avLst/>
          </a:prstGeom>
          <a:noFill/>
          <a:ln w="47625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733276" y="2623245"/>
            <a:ext cx="36436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6A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Pool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3276" y="2851845"/>
            <a:ext cx="36436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Universal:</a:t>
            </a:r>
            <a:r>
              <a:rPr lang="en-US" sz="9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step_count, token_entropy, state_length, action_entropy, num_available_actions, has_output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3276" y="3209925"/>
            <a:ext cx="36436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LLM-generated:</a:t>
            </a:r>
            <a:r>
              <a:rPr lang="en-US" sz="9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price_mentioned, action_is_click (WebShop); evidence_count (HotpotQA)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3276" y="3568005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selects from union of both pools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0850" y="2496294"/>
            <a:ext cx="3975199" cy="1396752"/>
          </a:xfrm>
          <a:prstGeom prst="rect">
            <a:avLst/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84663" y="2496294"/>
            <a:ext cx="0" cy="1396752"/>
          </a:xfrm>
          <a:prstGeom prst="line">
            <a:avLst/>
          </a:prstGeom>
          <a:noFill/>
          <a:ln w="47625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4886176" y="2623245"/>
            <a:ext cx="36436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Intentionally Simple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86176" y="2851845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= direction discovery, not gate complexity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86176" y="3049935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wrong direction: -37.0 pp (HotpotQA)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86176" y="3248025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correct direction: Pareto-dominates all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86176" y="3446115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&gt;&gt; signals &gt;&gt; gate complexity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2102"/>
          </a:xfrm>
          <a:prstGeom prst="rect">
            <a:avLst/>
          </a:prstGeom>
          <a:solidFill>
            <a:srgbClr val="0D3B4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Datasets: 8 Environments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799802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Experiments (6 environments, in paper Section 5)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3257252"/>
            <a:ext cx="8128099" cy="388293"/>
          </a:xfrm>
          <a:prstGeom prst="rect">
            <a:avLst/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3257252"/>
            <a:ext cx="0" cy="388293"/>
          </a:xfrm>
          <a:prstGeom prst="line">
            <a:avLst/>
          </a:prstGeom>
          <a:noFill/>
          <a:ln w="47625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707975" y="3358753"/>
            <a:ext cx="79311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Coverage:</a:t>
            </a: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Two-Source Model range: pure Type I (FEVER) → Mixed (APPS Intro) → rollout-harmful (Plancraft, Delta = -7.0)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3747046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(2 environments, Appendix B)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165090"/>
              </p:ext>
            </p:extLst>
          </p:nvPr>
        </p:nvGraphicFramePr>
        <p:xfrm>
          <a:off x="507950" y="1047452"/>
          <a:ext cx="5120640" cy="1572768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Environment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Base SR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Always SR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Delta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Optimizer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Unc. Type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HotpotQA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Multi-hop QA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49.0%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97.0%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+48.0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Per-action eval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Type I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FEVER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Fact Verif.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37.0%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99.8%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+62.8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Per-action eval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Type I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APPS Intro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Code Gen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58.5%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64.5%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+6.0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K-variant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Mixed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WebShop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Web Shop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7.2%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43.0%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+35.8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LLM-Propose-K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Mixed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TWExpress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Text Game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67.5%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99.3%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+31.8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Per-action eval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Type I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Plancraft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Mfg. Plan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29.8%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6A817"/>
                          </a:solidFill>
                        </a:rPr>
                        <a:t>22.8%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6A817"/>
                          </a:solidFill>
                        </a:rPr>
                        <a:t>-7.0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Per-action eval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6A817"/>
                          </a:solidFill>
                        </a:rPr>
                        <a:t>Weak (harmful)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301642"/>
              </p:ext>
            </p:extLst>
          </p:nvPr>
        </p:nvGraphicFramePr>
        <p:xfrm>
          <a:off x="507950" y="3940671"/>
          <a:ext cx="5120640" cy="524256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APPS Interview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Code Gen (hard)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60.5%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79.5%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+19.0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K-variant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Type D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CRUXEval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Code Reason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85.0%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99.5%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+14.5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K-variant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CEFF1"/>
                          </a:solidFill>
                        </a:rPr>
                        <a:t>Weak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2102"/>
          </a:xfrm>
          <a:prstGeom prst="rect">
            <a:avLst/>
          </a:prstGeom>
          <a:solidFill>
            <a:srgbClr val="0D3B4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799802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methods share the same agent and optimizer T; we compare </a:t>
            </a:r>
            <a:r>
              <a:rPr lang="en-US" sz="9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gate decision</a:t>
            </a: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3955554"/>
            <a:ext cx="8128099" cy="901154"/>
          </a:xfrm>
          <a:prstGeom prst="rect">
            <a:avLst/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3955554"/>
            <a:ext cx="0" cy="901154"/>
          </a:xfrm>
          <a:prstGeom prst="line">
            <a:avLst/>
          </a:prstGeom>
          <a:noFill/>
          <a:ln w="47625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733276" y="4082504"/>
            <a:ext cx="7879574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distinction:</a:t>
            </a:r>
            <a:r>
              <a:rPr lang="en-US" sz="10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prior methods assume a </a:t>
            </a:r>
            <a:r>
              <a:rPr lang="en-US" sz="10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r>
              <a:rPr lang="en-US" sz="10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signal-utility direction. EAAG is the only method that </a:t>
            </a:r>
            <a:r>
              <a:rPr lang="en-US" sz="10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</a:t>
            </a:r>
            <a:r>
              <a:rPr lang="en-US" sz="10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both signal identity and direction per environment.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742038"/>
              </p:ext>
            </p:extLst>
          </p:nvPr>
        </p:nvGraphicFramePr>
        <p:xfrm>
          <a:off x="507950" y="1034653"/>
          <a:ext cx="5806440" cy="18288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Venue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Granularity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CaTS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Calibrated Test-Time Scaling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ICLR 26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Platt confidence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Fixed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Problem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SEAG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Semantic Exploration w/ Adaptive Gating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ACL 25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Mean token conf.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Fixed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Problem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CoRefine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Confidence-Guided Self-Refinement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arXiv 26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Per-token entropy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Fixed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Problem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CATTS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Agentic Test-Time Scaling for WebAgents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arXiv 26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Vote entropy+margin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Fixed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Problem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AUQ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Agentic Uncertainty Quantification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arXiv 26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Confidence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Fixed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Problem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s1_budget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s1: Simple Test-Time Scaling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EMNLP 25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Fixed budget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—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CEFF1"/>
                          </a:solidFill>
                        </a:rPr>
                        <a:t>Problem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AA198"/>
                          </a:solidFill>
                        </a:rPr>
                        <a:t>EAAG (ours)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AA198"/>
                          </a:solidFill>
                        </a:rPr>
                        <a:t>Environment-Aware Adaptive Gating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AA198"/>
                          </a:solidFill>
                        </a:rPr>
                        <a:t>—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AA198"/>
                          </a:solidFill>
                        </a:rPr>
                        <a:t>Multi (auto)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AA198"/>
                          </a:solidFill>
                        </a:rPr>
                        <a:t>Learned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AA198"/>
                          </a:solidFill>
                        </a:rPr>
                        <a:t>Step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1975"/>
          </a:xfrm>
          <a:prstGeom prst="rect">
            <a:avLst/>
          </a:prstGeom>
          <a:solidFill>
            <a:srgbClr val="0D3B4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Results: SR (%) / Cost (ro/ep) — All 6 Environments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55550" y="638175"/>
            <a:ext cx="86015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6A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cell: SR / Cost. Costs are deployment-phase ro/ep. CaTS*/SEAG*/CoRefine* additionally need rollout (200 ep always_trigger, not shown).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55550" y="4937075"/>
            <a:ext cx="860155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= below base. CATTS FEVER 34.2% &lt; base 37.0%. s1_budget Plancraft 18.3% &lt; base 29.8%. CaTS Plancraft 22.3% &lt; base. * = needs Phase 1 data.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756389"/>
              </p:ext>
            </p:extLst>
          </p:nvPr>
        </p:nvGraphicFramePr>
        <p:xfrm>
          <a:off x="355549" y="962024"/>
          <a:ext cx="7903409" cy="3698058"/>
        </p:xfrm>
        <a:graphic>
          <a:graphicData uri="http://schemas.openxmlformats.org/drawingml/2006/table">
            <a:tbl>
              <a:tblPr/>
              <a:tblGrid>
                <a:gridCol w="994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1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1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14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14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4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HotpotQA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APPS Intro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WebShop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FEVER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TWExpress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Plancraft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base_only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49.0 / 0.00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58.5 / 0.00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7.2 / 0.00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37.0 / 0.00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67.5 / 0.00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29.8 / 0.00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always_trigger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97.0 / 1.80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64.5 / 2.58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43.0 / 5.63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99.8 / 1.46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99.3 / 3.45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22.8 / 6.99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CaTS*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93.2 / 1.06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59.0 / 0.04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30.5 / 3.05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48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.2 / 4.71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96.7 / 1.97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chemeClr val="bg1"/>
                          </a:solidFill>
                        </a:rPr>
                        <a:t>22.3 / 4.39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SEAG*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67.5 / 0.80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58.5 / 0.01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28.0 / 2.28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4</a:t>
                      </a: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7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.3 / 3.12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97.3 / 2.30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2</a:t>
                      </a: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2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.8 / 2.16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CoRefine*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68.2 / 0.79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58.5 / 0.01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27.5 / 2.21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4</a:t>
                      </a: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7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.8 / 3.12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97.5 / 2.26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2</a:t>
                      </a: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0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.8 / 2.06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CATTS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68.3 / </a:t>
                      </a: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6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.07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58.5 / </a:t>
                      </a: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5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.03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16.0 / </a:t>
                      </a: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5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.19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chemeClr val="bg1"/>
                          </a:solidFill>
                        </a:rPr>
                        <a:t>34.2 / </a:t>
                      </a:r>
                      <a:r>
                        <a:rPr lang="en-US" altLang="zh-CN" sz="65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en-US" sz="65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97.5 / </a:t>
                      </a: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7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.26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2</a:t>
                      </a: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2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.0 / </a:t>
                      </a: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7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.14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AUQ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FF0000"/>
                          </a:solidFill>
                        </a:rPr>
                        <a:t>97.0 / 1.69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61.3 / 1.73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35.7 / 5.33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40.7 / 1.17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95.5 / 1.24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2</a:t>
                      </a: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2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.2 / 6.78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s1_budget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9</a:t>
                      </a: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5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.0 / 1.04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6</a:t>
                      </a:r>
                      <a:r>
                        <a:rPr lang="en-US" altLang="zh-CN" sz="650" dirty="0">
                          <a:solidFill>
                            <a:srgbClr val="ECEFF1"/>
                          </a:solidFill>
                        </a:rPr>
                        <a:t>1</a:t>
                      </a: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.7 / 1.00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7.8 / 1.00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46.2 / 1.58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ECEFF1"/>
                          </a:solidFill>
                        </a:rPr>
                        <a:t>95.0 / 1.09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chemeClr val="bg1"/>
                          </a:solidFill>
                        </a:rPr>
                        <a:t>18.3 / 1.68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2AA198"/>
                          </a:solidFill>
                        </a:rPr>
                        <a:t>EAAG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2AA198"/>
                          </a:solidFill>
                        </a:rPr>
                        <a:t>9</a:t>
                      </a:r>
                      <a:r>
                        <a:rPr lang="en-US" altLang="zh-CN" sz="650" b="1" dirty="0">
                          <a:solidFill>
                            <a:srgbClr val="2AA198"/>
                          </a:solidFill>
                        </a:rPr>
                        <a:t>6</a:t>
                      </a:r>
                      <a:r>
                        <a:rPr lang="en-US" sz="650" b="1" dirty="0">
                          <a:solidFill>
                            <a:srgbClr val="2AA198"/>
                          </a:solidFill>
                        </a:rPr>
                        <a:t>.2 / 1.34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0000"/>
                          </a:solidFill>
                        </a:rPr>
                        <a:t>66.0 / 1.20</a:t>
                      </a:r>
                      <a:endParaRPr lang="en-US" sz="6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0000"/>
                          </a:solidFill>
                        </a:rPr>
                        <a:t>43.8 / 2.29</a:t>
                      </a:r>
                      <a:endParaRPr lang="en-US" sz="6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0000"/>
                          </a:solidFill>
                        </a:rPr>
                        <a:t>49.8 / 2.99</a:t>
                      </a:r>
                      <a:endParaRPr lang="en-US" sz="6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0000"/>
                          </a:solidFill>
                        </a:rPr>
                        <a:t>99.0 / 2.84</a:t>
                      </a:r>
                      <a:endParaRPr lang="en-US" sz="6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0000"/>
                          </a:solidFill>
                        </a:rPr>
                        <a:t>23.3 / 3.69</a:t>
                      </a:r>
                      <a:endParaRPr lang="en-US" sz="6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2102"/>
          </a:xfrm>
          <a:prstGeom prst="rect">
            <a:avLst/>
          </a:prstGeom>
          <a:solidFill>
            <a:srgbClr val="0D3B4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749052"/>
            <a:ext cx="48656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6A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Per-Environment Highlights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977652"/>
            <a:ext cx="4770239" cy="462260"/>
          </a:xfrm>
          <a:prstGeom prst="rect">
            <a:avLst/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977652"/>
            <a:ext cx="0" cy="46226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673001" y="1053852"/>
            <a:ext cx="456780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WebShop</a:t>
            </a: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(strongest): EAAG 43.8/2.29 vs CaTS 30.5/8.68. LLM features critical. 75.1% gate precision.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516112"/>
            <a:ext cx="4770239" cy="462260"/>
          </a:xfrm>
          <a:prstGeom prst="rect">
            <a:avLst/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1516112"/>
            <a:ext cx="0" cy="46226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673001" y="1592312"/>
            <a:ext cx="456780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FEVER</a:t>
            </a: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(direction mismatch): All fixed-direction CBs ~50%. CATTS 34.2% &lt; base 37.0%. Wrong direction is harmful.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2054572"/>
            <a:ext cx="4770239" cy="319980"/>
          </a:xfrm>
          <a:prstGeom prst="rect">
            <a:avLst/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27000" y="2054572"/>
            <a:ext cx="0" cy="31998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73001" y="2130772"/>
            <a:ext cx="456780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HotpotQA</a:t>
            </a: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(ceiling): EAAG 95.2/1.34 near oracle 97.0. Lowest cost among top methods.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2450753"/>
            <a:ext cx="4770239" cy="462260"/>
          </a:xfrm>
          <a:prstGeom prst="rect">
            <a:avLst/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2450753"/>
            <a:ext cx="0" cy="46226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73001" y="2526953"/>
            <a:ext cx="456780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TWExpress</a:t>
            </a: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(rollout-safe): EAAG 99.0% wins vs CaTS 96.7%, CATTS 97.5%. RR=73% (aggressive, correct).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7950" y="2989213"/>
            <a:ext cx="4770239" cy="462260"/>
          </a:xfrm>
          <a:prstGeom prst="rect">
            <a:avLst/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7000" y="2989213"/>
            <a:ext cx="0" cy="46226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673001" y="3065413"/>
            <a:ext cx="456780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Plancraft</a:t>
            </a: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(rollout-harmful): EAAG 23.3 vs CaTS 22.3 (Win). s1_budget 18.3% worst (&lt; base 29.8%).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7950" y="3527673"/>
            <a:ext cx="4770239" cy="319980"/>
          </a:xfrm>
          <a:prstGeom prst="rect">
            <a:avLst/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7000" y="3527673"/>
            <a:ext cx="0" cy="31998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673001" y="3603873"/>
            <a:ext cx="456780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Intro</a:t>
            </a: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(narrow headroom): EAAG 66.0/1.20 vs CaTS 59.0/2.62. Adapts to +6pp headroom.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2102"/>
          </a:xfrm>
          <a:prstGeom prst="rect">
            <a:avLst/>
          </a:prstGeom>
          <a:solidFill>
            <a:srgbClr val="0D3B4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Storyline: Core Narrative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825252"/>
            <a:ext cx="1079450" cy="840432"/>
          </a:xfrm>
          <a:prstGeom prst="roundRect">
            <a:avLst>
              <a:gd name="adj" fmla="val 6045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844302"/>
            <a:ext cx="1079450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26645" y="990302"/>
            <a:ext cx="84206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6645" y="1218754"/>
            <a:ext cx="84206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signal direction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63601" y="114061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17650" y="825252"/>
            <a:ext cx="1079599" cy="840432"/>
          </a:xfrm>
          <a:prstGeom prst="roundRect">
            <a:avLst>
              <a:gd name="adj" fmla="val 6045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917650" y="844302"/>
            <a:ext cx="1079599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2036344" y="990302"/>
            <a:ext cx="84221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36344" y="1218754"/>
            <a:ext cx="84221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Observations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73450" y="114061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27499" y="825252"/>
            <a:ext cx="1079450" cy="840432"/>
          </a:xfrm>
          <a:prstGeom prst="roundRect">
            <a:avLst>
              <a:gd name="adj" fmla="val 6045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27499" y="844302"/>
            <a:ext cx="1079450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3446194" y="990302"/>
            <a:ext cx="84206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46194" y="1218754"/>
            <a:ext cx="84206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Two-Source Model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83150" y="114061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37199" y="825252"/>
            <a:ext cx="1079450" cy="840432"/>
          </a:xfrm>
          <a:prstGeom prst="roundRect">
            <a:avLst>
              <a:gd name="adj" fmla="val 6045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37199" y="844302"/>
            <a:ext cx="1079450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4855894" y="990302"/>
            <a:ext cx="84206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Provably Fatal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55894" y="1396454"/>
            <a:ext cx="84206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92850" y="114061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46899" y="825252"/>
            <a:ext cx="1079450" cy="840432"/>
          </a:xfrm>
          <a:prstGeom prst="roundRect">
            <a:avLst>
              <a:gd name="adj" fmla="val 6045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146899" y="844302"/>
            <a:ext cx="1079450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6265594" y="990302"/>
            <a:ext cx="84206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5594" y="1218754"/>
            <a:ext cx="84206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EAAG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02550" y="114061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56599" y="825252"/>
            <a:ext cx="1079450" cy="840432"/>
          </a:xfrm>
          <a:prstGeom prst="roundRect">
            <a:avLst>
              <a:gd name="adj" fmla="val 6045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556599" y="844302"/>
            <a:ext cx="1079450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7675294" y="990302"/>
            <a:ext cx="84206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75294" y="1218754"/>
            <a:ext cx="84206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34W / 2L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950" y="1894284"/>
            <a:ext cx="8128099" cy="762000"/>
          </a:xfrm>
          <a:prstGeom prst="roundRect">
            <a:avLst>
              <a:gd name="adj" fmla="val 10000"/>
            </a:avLst>
          </a:prstGeom>
          <a:solidFill>
            <a:srgbClr val="243342"/>
          </a:solidFill>
          <a:ln w="19050">
            <a:solidFill>
              <a:srgbClr val="E6A81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53314" y="2065734"/>
            <a:ext cx="78373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E6A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semantics of uncertainty signals are determined by the environment's information structure; any method assuming fixed semantics is provably incomplete.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2102"/>
          </a:xfrm>
          <a:prstGeom prst="rect">
            <a:avLst/>
          </a:prstGeom>
          <a:solidFill>
            <a:srgbClr val="0D3B4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Structure (9 pages + 6p appendix)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774502"/>
            <a:ext cx="2031802" cy="436959"/>
          </a:xfrm>
          <a:prstGeom prst="roundRect">
            <a:avLst>
              <a:gd name="adj" fmla="val 11626"/>
            </a:avLst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926306"/>
            <a:ext cx="11983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Introduction (1.5p)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41253" y="774502"/>
            <a:ext cx="5994797" cy="436959"/>
          </a:xfrm>
          <a:prstGeom prst="roundRect">
            <a:avLst>
              <a:gd name="adj" fmla="val 11626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68203" y="850702"/>
            <a:ext cx="585571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→ Hidden assumption → Assumption is wrong (3 rho values) → Two-Source Model → Method+Results → Contributions (3)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287661"/>
            <a:ext cx="2031802" cy="294680"/>
          </a:xfrm>
          <a:prstGeom prst="roundRect">
            <a:avLst>
              <a:gd name="adj" fmla="val 17239"/>
            </a:avLst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1368326"/>
            <a:ext cx="1326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Related Work (0.75p)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41253" y="1287661"/>
            <a:ext cx="5994797" cy="294680"/>
          </a:xfrm>
          <a:prstGeom prst="roundRect">
            <a:avLst>
              <a:gd name="adj" fmla="val 17239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68203" y="1363861"/>
            <a:ext cx="585571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Signal-based / Vote-based / RL-based methods (all fixed direction). Orthogonal work. Concurrent work statement.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1658541"/>
            <a:ext cx="2031802" cy="436959"/>
          </a:xfrm>
          <a:prstGeom prst="roundRect">
            <a:avLst>
              <a:gd name="adj" fmla="val 11626"/>
            </a:avLst>
          </a:prstGeom>
          <a:solidFill>
            <a:srgbClr val="E6A8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4901" y="1810345"/>
            <a:ext cx="12308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Signal-Utility (2.0p)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41253" y="1658541"/>
            <a:ext cx="5994797" cy="436959"/>
          </a:xfrm>
          <a:prstGeom prst="roundRect">
            <a:avLst>
              <a:gd name="adj" fmla="val 11626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68203" y="1734741"/>
            <a:ext cx="585571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HEART.</a:t>
            </a: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S3.1: 4 Observations (reversal / identity shift / single signal ~ random / CB failure). S3.2: Two-Source Model + Proposition + 3 predictions. S3.3: Design implications.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950" y="2171700"/>
            <a:ext cx="2031802" cy="294680"/>
          </a:xfrm>
          <a:prstGeom prst="roundRect">
            <a:avLst>
              <a:gd name="adj" fmla="val 17239"/>
            </a:avLst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4901" y="2252365"/>
            <a:ext cx="13408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Method: EAAG (1.5p)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41253" y="2171700"/>
            <a:ext cx="5994797" cy="294680"/>
          </a:xfrm>
          <a:prstGeom prst="roundRect">
            <a:avLst>
              <a:gd name="adj" fmla="val 17239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68203" y="2247900"/>
            <a:ext cx="585571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 (from S3) → Why simplicity → Explore / Reason / Learn &amp; Deploy → Online adaptation → WebShop example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7950" y="2542580"/>
            <a:ext cx="2031802" cy="436959"/>
          </a:xfrm>
          <a:prstGeom prst="roundRect">
            <a:avLst>
              <a:gd name="adj" fmla="val 1162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4901" y="2694384"/>
            <a:ext cx="1218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Experiments (2.5p)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41253" y="2542580"/>
            <a:ext cx="5994797" cy="436959"/>
          </a:xfrm>
          <a:prstGeom prst="roundRect">
            <a:avLst>
              <a:gd name="adj" fmla="val 11626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768203" y="2618780"/>
            <a:ext cx="585571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→ Main results (34W/2L) → Ablation (direction &gt;&gt; signal &gt;&gt; LLM) → Theory verification (P1-P3 confirmed) → Extreme envs → Robustness (reviewer defense)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7950" y="3055739"/>
            <a:ext cx="2031802" cy="436959"/>
          </a:xfrm>
          <a:prstGeom prst="roundRect">
            <a:avLst>
              <a:gd name="adj" fmla="val 11626"/>
            </a:avLst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4901" y="3207544"/>
            <a:ext cx="12051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Discussion (0.75p)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41253" y="3055739"/>
            <a:ext cx="5994797" cy="436959"/>
          </a:xfrm>
          <a:prstGeom prst="roundRect">
            <a:avLst>
              <a:gd name="adj" fmla="val 11626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68203" y="3131939"/>
            <a:ext cx="585571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insight → FEVER limitation (honest) → Future directions (taxonomy / adaptive exploration / multi-agent) → Limitations (4) → Broader impact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7950" y="3568898"/>
            <a:ext cx="2031802" cy="294680"/>
          </a:xfrm>
          <a:prstGeom prst="roundRect">
            <a:avLst>
              <a:gd name="adj" fmla="val 17239"/>
            </a:avLst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4901" y="3649563"/>
            <a:ext cx="1217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 Conclusion (0.25p)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41253" y="3568898"/>
            <a:ext cx="5994797" cy="294680"/>
          </a:xfrm>
          <a:prstGeom prst="roundRect">
            <a:avLst>
              <a:gd name="adj" fmla="val 17239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768203" y="3645098"/>
            <a:ext cx="585571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bottleneck was never the method's complexity - it was the assumption."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950" y="3939778"/>
            <a:ext cx="2031802" cy="436959"/>
          </a:xfrm>
          <a:prstGeom prst="roundRect">
            <a:avLst>
              <a:gd name="adj" fmla="val 11626"/>
            </a:avLst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4901" y="4091583"/>
            <a:ext cx="845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(~6p)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41253" y="3939778"/>
            <a:ext cx="5994797" cy="436959"/>
          </a:xfrm>
          <a:prstGeom prst="roundRect">
            <a:avLst>
              <a:gd name="adj" fmla="val 11626"/>
            </a:avLst>
          </a:prstGeom>
          <a:solidFill>
            <a:srgbClr val="2433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768203" y="4015978"/>
            <a:ext cx="585571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Extended related work. B: Experimental details (APPS Intv / CRUXEval). C: Proofs. D: Two-Source Model derivation. E: Additional analyses.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1343</Words>
  <Application>Microsoft Macintosh PowerPoint</Application>
  <PresentationFormat>On-screen Show (16:9)</PresentationFormat>
  <Paragraphs>292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2026-03-23 — EAAG Paper Overview</dc:title>
  <dc:subject>PptxGenJS Presentation</dc:subject>
  <dc:creator>PptxGenJS</dc:creator>
  <cp:lastModifiedBy>ziming li</cp:lastModifiedBy>
  <cp:revision>8</cp:revision>
  <dcterms:created xsi:type="dcterms:W3CDTF">2026-03-23T21:24:20Z</dcterms:created>
  <dcterms:modified xsi:type="dcterms:W3CDTF">2026-03-23T22:36:19Z</dcterms:modified>
</cp:coreProperties>
</file>