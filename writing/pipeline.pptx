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60" userDrawn="1">
          <p15:clr>
            <a:srgbClr val="A4A3A4"/>
          </p15:clr>
        </p15:guide>
        <p15:guide id="3" orient="horz" pos="37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9552"/>
    <a:srgbClr val="E3F0D9"/>
    <a:srgbClr val="F2FCFF"/>
    <a:srgbClr val="DCE9F3"/>
    <a:srgbClr val="F4B283"/>
    <a:srgbClr val="C65A11"/>
    <a:srgbClr val="4472C4"/>
    <a:srgbClr val="EBAB80"/>
    <a:srgbClr val="4472C5"/>
    <a:srgbClr val="FEF3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72"/>
    <p:restoredTop sz="94719"/>
  </p:normalViewPr>
  <p:slideViewPr>
    <p:cSldViewPr snapToGrid="0" showGuides="1">
      <p:cViewPr>
        <p:scale>
          <a:sx n="122" d="100"/>
          <a:sy n="122" d="100"/>
        </p:scale>
        <p:origin x="480" y="832"/>
      </p:cViewPr>
      <p:guideLst>
        <p:guide pos="360"/>
        <p:guide orient="horz" pos="37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F68B5-D291-0749-A62A-04C344732956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2A814-E318-B64A-8A2F-F05FF0E3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8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2A814-E318-B64A-8A2F-F05FF0E317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17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2A814-E318-B64A-8A2F-F05FF0E317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99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2A814-E318-B64A-8A2F-F05FF0E317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7412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72A814-E318-B64A-8A2F-F05FF0E317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05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AF2BF-5088-4089-5334-5053FAB9A9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ECFA36-2203-3017-D6BA-5FE8822BD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F4B2C-1441-C98C-C166-7587C80B1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284C5-DBEA-65FA-B0D5-E009A7D0A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1913-65CB-5338-FB64-0684CBE4F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8818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7ED3-D67B-9B45-4F09-8A04A249C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96DA1-27BE-4FF6-39A2-FFF77F79C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56AF-4A14-FC22-6B6A-2DB98DEA1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69941-8854-ED09-3520-8155E0B3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6CC81-83C4-ED19-5918-F62A0BA83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38136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4806-E033-E099-B710-74C81915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953F3-2CA7-92DA-6E0C-1C309A14A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A827C-290D-DDE0-F3AF-521B81B9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0C116-B698-D376-0005-8A5A27F06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8E84F-BB15-378F-A394-5170895FF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87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51F04-3B07-F196-301D-8DB1014B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19AAF-6EAC-A24C-99A0-16F14E1AFA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E55C3-4D36-72D2-34B5-F62E8CFF9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12FA1-C64D-BF4D-C3B0-2B8FDCB8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D934C-A3C5-19E9-2A9B-581D86F68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5A41F-B7EE-3332-DE1C-B5CECFC30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90644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E17D7-B62A-3585-116A-4A8B3399D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E42B7-45D4-8497-87C9-F870B8E78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42067-1801-9EF4-6BAD-3934D5D94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FCEC70-F227-0DE9-06B5-6AAB8B729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FCC32-F827-0868-3171-5994D7105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70094B-FF3D-E101-73C7-E2D98EFC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C0F03F-5EC3-B767-5C07-62038D360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82167C-A754-75DA-FF10-99F3D620A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18712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96EF-AE00-A331-98F5-DAE69736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10BEB-08D1-C9D0-82C2-213A8274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11A44C-BE82-79DE-EF5D-A5FB46DF3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43F768-9828-804A-72D7-AF4A0A0F0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18687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C28665-E266-C844-84A0-500C3B760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CF26D5-A175-EF17-837D-75BD8E371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60AE8-2F67-37DD-393F-FE5E5737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24718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EEA79-E914-8EA9-CA6D-E1F777DD5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A893F-2316-7D3E-F0FA-8942164E2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AD9877-34E9-9077-51AF-559135128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8FC36-51EA-E002-6EE4-57C88084C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9194D-7200-E650-FEFB-7E6E40928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83110-D5C5-FAAF-3157-3D99CED9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27822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08FAD-8FA3-7C58-1EBD-0E0433B6C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B217F7-C4E9-D73D-39D5-665A79038B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5272C-E281-BB88-5F08-1ED095E63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EB7FD-D315-4F3E-2893-EAA4FF1DB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52845-167C-DC09-5797-0B69F2B12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319F9-B9A5-A5B7-8A5C-73B1D427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41403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54DFC-C864-8E10-387A-4518F130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A0D61-023E-4F65-C043-09BE81246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C8EB5-6263-0C94-83F8-92232D52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66685-35F2-3F6E-3333-BD45532A4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BC463-ADE8-C707-6E31-82A0B1A66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2644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73293D-6CB7-9B14-2B9B-BEFE1799AF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368C0-4E32-C96C-90AB-9D11A853E6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C7617-E80C-67DD-3059-83E60A6F8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FA7-4566-9D49-8CAB-88AB5A9D2CA1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37440-7EC5-F330-49C8-3FFF174B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9B207-9013-9EFC-205E-D1CC57F9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07180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917103-640C-A7E4-F5BA-A9F27CA5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38FFDE-2818-D030-79FA-5215E457F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237C5-3B65-E9D8-D172-D716E3A385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2FFA7-4566-9D49-8CAB-88AB5A9D2CA1}" type="datetimeFigureOut">
              <a:rPr lang="en-CN" smtClean="0"/>
              <a:t>2026/5/5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3D035-0FB4-7FC0-6207-189768C98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C9856-DA4B-A1C9-A9F3-5A63958EE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53181-6311-1D40-A67A-CBC20DEAC28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58031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4.png"/><Relationship Id="rId18" Type="http://schemas.openxmlformats.org/officeDocument/2006/relationships/image" Target="../media/image30.png"/><Relationship Id="rId26" Type="http://schemas.openxmlformats.org/officeDocument/2006/relationships/image" Target="../media/image35.png"/><Relationship Id="rId3" Type="http://schemas.openxmlformats.org/officeDocument/2006/relationships/image" Target="../media/image3.png"/><Relationship Id="rId21" Type="http://schemas.openxmlformats.org/officeDocument/2006/relationships/image" Target="../media/image32.png"/><Relationship Id="rId7" Type="http://schemas.openxmlformats.org/officeDocument/2006/relationships/image" Target="../media/image25.png"/><Relationship Id="rId12" Type="http://schemas.openxmlformats.org/officeDocument/2006/relationships/image" Target="../media/image27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20" Type="http://schemas.openxmlformats.org/officeDocument/2006/relationships/image" Target="../media/image15.pn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24" Type="http://schemas.openxmlformats.org/officeDocument/2006/relationships/image" Target="../media/image28.png"/><Relationship Id="rId32" Type="http://schemas.openxmlformats.org/officeDocument/2006/relationships/image" Target="../media/image41.svg"/><Relationship Id="rId5" Type="http://schemas.openxmlformats.org/officeDocument/2006/relationships/image" Target="../media/image24.png"/><Relationship Id="rId15" Type="http://schemas.openxmlformats.org/officeDocument/2006/relationships/image" Target="../media/image2.png"/><Relationship Id="rId23" Type="http://schemas.openxmlformats.org/officeDocument/2006/relationships/image" Target="../media/image34.png"/><Relationship Id="rId28" Type="http://schemas.openxmlformats.org/officeDocument/2006/relationships/image" Target="../media/image37.png"/><Relationship Id="rId10" Type="http://schemas.openxmlformats.org/officeDocument/2006/relationships/image" Target="../media/image11.png"/><Relationship Id="rId19" Type="http://schemas.openxmlformats.org/officeDocument/2006/relationships/image" Target="../media/image31.png"/><Relationship Id="rId31" Type="http://schemas.openxmlformats.org/officeDocument/2006/relationships/image" Target="../media/image40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Relationship Id="rId14" Type="http://schemas.openxmlformats.org/officeDocument/2006/relationships/image" Target="../media/image1.png"/><Relationship Id="rId22" Type="http://schemas.openxmlformats.org/officeDocument/2006/relationships/image" Target="../media/image33.png"/><Relationship Id="rId27" Type="http://schemas.openxmlformats.org/officeDocument/2006/relationships/image" Target="../media/image36.png"/><Relationship Id="rId30" Type="http://schemas.openxmlformats.org/officeDocument/2006/relationships/image" Target="../media/image3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2.png"/><Relationship Id="rId18" Type="http://schemas.openxmlformats.org/officeDocument/2006/relationships/image" Target="../media/image46.png"/><Relationship Id="rId26" Type="http://schemas.openxmlformats.org/officeDocument/2006/relationships/image" Target="../media/image52.png"/><Relationship Id="rId3" Type="http://schemas.openxmlformats.org/officeDocument/2006/relationships/image" Target="../media/image39.png"/><Relationship Id="rId21" Type="http://schemas.openxmlformats.org/officeDocument/2006/relationships/image" Target="../media/image49.png"/><Relationship Id="rId7" Type="http://schemas.openxmlformats.org/officeDocument/2006/relationships/image" Target="../media/image42.png"/><Relationship Id="rId12" Type="http://schemas.openxmlformats.org/officeDocument/2006/relationships/image" Target="../media/image1.png"/><Relationship Id="rId17" Type="http://schemas.openxmlformats.org/officeDocument/2006/relationships/image" Target="../media/image45.png"/><Relationship Id="rId25" Type="http://schemas.openxmlformats.org/officeDocument/2006/relationships/image" Target="../media/image51.png"/><Relationship Id="rId2" Type="http://schemas.openxmlformats.org/officeDocument/2006/relationships/image" Target="../media/image3.png"/><Relationship Id="rId16" Type="http://schemas.openxmlformats.org/officeDocument/2006/relationships/image" Target="../media/image15.png"/><Relationship Id="rId20" Type="http://schemas.openxmlformats.org/officeDocument/2006/relationships/image" Target="../media/image48.pn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14.png"/><Relationship Id="rId24" Type="http://schemas.openxmlformats.org/officeDocument/2006/relationships/image" Target="../media/image50.png"/><Relationship Id="rId32" Type="http://schemas.openxmlformats.org/officeDocument/2006/relationships/image" Target="../media/image58.png"/><Relationship Id="rId5" Type="http://schemas.openxmlformats.org/officeDocument/2006/relationships/image" Target="../media/image6.png"/><Relationship Id="rId15" Type="http://schemas.openxmlformats.org/officeDocument/2006/relationships/image" Target="../media/image44.png"/><Relationship Id="rId23" Type="http://schemas.openxmlformats.org/officeDocument/2006/relationships/image" Target="../media/image36.png"/><Relationship Id="rId28" Type="http://schemas.openxmlformats.org/officeDocument/2006/relationships/image" Target="../media/image54.png"/><Relationship Id="rId10" Type="http://schemas.openxmlformats.org/officeDocument/2006/relationships/image" Target="../media/image12.png"/><Relationship Id="rId19" Type="http://schemas.openxmlformats.org/officeDocument/2006/relationships/image" Target="../media/image47.png"/><Relationship Id="rId31" Type="http://schemas.openxmlformats.org/officeDocument/2006/relationships/image" Target="../media/image57.png"/><Relationship Id="rId4" Type="http://schemas.openxmlformats.org/officeDocument/2006/relationships/image" Target="../media/image400.png"/><Relationship Id="rId9" Type="http://schemas.openxmlformats.org/officeDocument/2006/relationships/image" Target="../media/image11.png"/><Relationship Id="rId14" Type="http://schemas.openxmlformats.org/officeDocument/2006/relationships/image" Target="../media/image43.png"/><Relationship Id="rId22" Type="http://schemas.openxmlformats.org/officeDocument/2006/relationships/image" Target="../media/image35.png"/><Relationship Id="rId27" Type="http://schemas.openxmlformats.org/officeDocument/2006/relationships/image" Target="../media/image53.png"/><Relationship Id="rId30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.png"/><Relationship Id="rId26" Type="http://schemas.openxmlformats.org/officeDocument/2006/relationships/image" Target="../media/image35.png"/><Relationship Id="rId39" Type="http://schemas.openxmlformats.org/officeDocument/2006/relationships/image" Target="../media/image78.png"/><Relationship Id="rId21" Type="http://schemas.openxmlformats.org/officeDocument/2006/relationships/image" Target="../media/image32.png"/><Relationship Id="rId34" Type="http://schemas.openxmlformats.org/officeDocument/2006/relationships/image" Target="../media/image73.png"/><Relationship Id="rId42" Type="http://schemas.openxmlformats.org/officeDocument/2006/relationships/image" Target="../media/image81.png"/><Relationship Id="rId47" Type="http://schemas.openxmlformats.org/officeDocument/2006/relationships/image" Target="../media/image84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4.png"/><Relationship Id="rId24" Type="http://schemas.openxmlformats.org/officeDocument/2006/relationships/image" Target="../media/image65.png"/><Relationship Id="rId32" Type="http://schemas.openxmlformats.org/officeDocument/2006/relationships/image" Target="../media/image71.png"/><Relationship Id="rId37" Type="http://schemas.openxmlformats.org/officeDocument/2006/relationships/image" Target="../media/image76.png"/><Relationship Id="rId40" Type="http://schemas.openxmlformats.org/officeDocument/2006/relationships/image" Target="../media/image79.png"/><Relationship Id="rId45" Type="http://schemas.openxmlformats.org/officeDocument/2006/relationships/image" Target="../media/image82.png"/><Relationship Id="rId5" Type="http://schemas.openxmlformats.org/officeDocument/2006/relationships/image" Target="../media/image410.png"/><Relationship Id="rId15" Type="http://schemas.openxmlformats.org/officeDocument/2006/relationships/image" Target="../media/image64.png"/><Relationship Id="rId23" Type="http://schemas.openxmlformats.org/officeDocument/2006/relationships/image" Target="../media/image34.png"/><Relationship Id="rId28" Type="http://schemas.openxmlformats.org/officeDocument/2006/relationships/image" Target="../media/image67.png"/><Relationship Id="rId36" Type="http://schemas.openxmlformats.org/officeDocument/2006/relationships/image" Target="../media/image75.png"/><Relationship Id="rId49" Type="http://schemas.openxmlformats.org/officeDocument/2006/relationships/image" Target="../media/image86.png"/><Relationship Id="rId10" Type="http://schemas.openxmlformats.org/officeDocument/2006/relationships/image" Target="../media/image10.png"/><Relationship Id="rId31" Type="http://schemas.openxmlformats.org/officeDocument/2006/relationships/image" Target="../media/image70.png"/><Relationship Id="rId44" Type="http://schemas.openxmlformats.org/officeDocument/2006/relationships/image" Target="../media/image12.png"/><Relationship Id="rId4" Type="http://schemas.openxmlformats.org/officeDocument/2006/relationships/image" Target="../media/image59.png"/><Relationship Id="rId9" Type="http://schemas.openxmlformats.org/officeDocument/2006/relationships/image" Target="../media/image62.png"/><Relationship Id="rId14" Type="http://schemas.openxmlformats.org/officeDocument/2006/relationships/image" Target="../media/image63.png"/><Relationship Id="rId22" Type="http://schemas.openxmlformats.org/officeDocument/2006/relationships/image" Target="../media/image33.png"/><Relationship Id="rId27" Type="http://schemas.openxmlformats.org/officeDocument/2006/relationships/image" Target="../media/image36.png"/><Relationship Id="rId30" Type="http://schemas.openxmlformats.org/officeDocument/2006/relationships/image" Target="../media/image69.png"/><Relationship Id="rId35" Type="http://schemas.openxmlformats.org/officeDocument/2006/relationships/image" Target="../media/image74.png"/><Relationship Id="rId43" Type="http://schemas.openxmlformats.org/officeDocument/2006/relationships/image" Target="../media/image11.png"/><Relationship Id="rId48" Type="http://schemas.openxmlformats.org/officeDocument/2006/relationships/image" Target="../media/image85.png"/><Relationship Id="rId8" Type="http://schemas.openxmlformats.org/officeDocument/2006/relationships/image" Target="../media/image61.png"/><Relationship Id="rId3" Type="http://schemas.openxmlformats.org/officeDocument/2006/relationships/image" Target="../media/image3.png"/><Relationship Id="rId12" Type="http://schemas.openxmlformats.org/officeDocument/2006/relationships/image" Target="../media/image1.png"/><Relationship Id="rId25" Type="http://schemas.openxmlformats.org/officeDocument/2006/relationships/image" Target="../media/image66.png"/><Relationship Id="rId33" Type="http://schemas.openxmlformats.org/officeDocument/2006/relationships/image" Target="../media/image72.png"/><Relationship Id="rId38" Type="http://schemas.openxmlformats.org/officeDocument/2006/relationships/image" Target="../media/image77.png"/><Relationship Id="rId46" Type="http://schemas.openxmlformats.org/officeDocument/2006/relationships/image" Target="../media/image83.png"/><Relationship Id="rId41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.png"/><Relationship Id="rId26" Type="http://schemas.openxmlformats.org/officeDocument/2006/relationships/image" Target="../media/image35.png"/><Relationship Id="rId39" Type="http://schemas.openxmlformats.org/officeDocument/2006/relationships/image" Target="../media/image78.png"/><Relationship Id="rId21" Type="http://schemas.openxmlformats.org/officeDocument/2006/relationships/image" Target="../media/image32.png"/><Relationship Id="rId34" Type="http://schemas.openxmlformats.org/officeDocument/2006/relationships/image" Target="../media/image73.png"/><Relationship Id="rId42" Type="http://schemas.openxmlformats.org/officeDocument/2006/relationships/image" Target="../media/image81.png"/><Relationship Id="rId47" Type="http://schemas.openxmlformats.org/officeDocument/2006/relationships/image" Target="../media/image84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png"/><Relationship Id="rId29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4.png"/><Relationship Id="rId24" Type="http://schemas.openxmlformats.org/officeDocument/2006/relationships/image" Target="../media/image65.png"/><Relationship Id="rId32" Type="http://schemas.openxmlformats.org/officeDocument/2006/relationships/image" Target="../media/image71.png"/><Relationship Id="rId37" Type="http://schemas.openxmlformats.org/officeDocument/2006/relationships/image" Target="../media/image76.png"/><Relationship Id="rId40" Type="http://schemas.openxmlformats.org/officeDocument/2006/relationships/image" Target="../media/image79.png"/><Relationship Id="rId45" Type="http://schemas.openxmlformats.org/officeDocument/2006/relationships/image" Target="../media/image82.png"/><Relationship Id="rId5" Type="http://schemas.openxmlformats.org/officeDocument/2006/relationships/image" Target="../media/image410.png"/><Relationship Id="rId15" Type="http://schemas.openxmlformats.org/officeDocument/2006/relationships/image" Target="../media/image64.png"/><Relationship Id="rId23" Type="http://schemas.openxmlformats.org/officeDocument/2006/relationships/image" Target="../media/image34.png"/><Relationship Id="rId28" Type="http://schemas.openxmlformats.org/officeDocument/2006/relationships/image" Target="../media/image67.png"/><Relationship Id="rId36" Type="http://schemas.openxmlformats.org/officeDocument/2006/relationships/image" Target="../media/image75.png"/><Relationship Id="rId49" Type="http://schemas.openxmlformats.org/officeDocument/2006/relationships/image" Target="../media/image86.png"/><Relationship Id="rId10" Type="http://schemas.openxmlformats.org/officeDocument/2006/relationships/image" Target="../media/image10.png"/><Relationship Id="rId31" Type="http://schemas.openxmlformats.org/officeDocument/2006/relationships/image" Target="../media/image90.png"/><Relationship Id="rId44" Type="http://schemas.openxmlformats.org/officeDocument/2006/relationships/image" Target="../media/image12.png"/><Relationship Id="rId4" Type="http://schemas.openxmlformats.org/officeDocument/2006/relationships/image" Target="../media/image59.png"/><Relationship Id="rId9" Type="http://schemas.openxmlformats.org/officeDocument/2006/relationships/image" Target="../media/image620.png"/><Relationship Id="rId14" Type="http://schemas.openxmlformats.org/officeDocument/2006/relationships/image" Target="../media/image87.png"/><Relationship Id="rId22" Type="http://schemas.openxmlformats.org/officeDocument/2006/relationships/image" Target="../media/image33.png"/><Relationship Id="rId27" Type="http://schemas.openxmlformats.org/officeDocument/2006/relationships/image" Target="../media/image36.png"/><Relationship Id="rId30" Type="http://schemas.openxmlformats.org/officeDocument/2006/relationships/image" Target="../media/image89.png"/><Relationship Id="rId35" Type="http://schemas.openxmlformats.org/officeDocument/2006/relationships/image" Target="../media/image74.png"/><Relationship Id="rId43" Type="http://schemas.openxmlformats.org/officeDocument/2006/relationships/image" Target="../media/image11.png"/><Relationship Id="rId48" Type="http://schemas.openxmlformats.org/officeDocument/2006/relationships/image" Target="../media/image85.png"/><Relationship Id="rId8" Type="http://schemas.openxmlformats.org/officeDocument/2006/relationships/image" Target="../media/image61.png"/><Relationship Id="rId3" Type="http://schemas.openxmlformats.org/officeDocument/2006/relationships/image" Target="../media/image3.png"/><Relationship Id="rId12" Type="http://schemas.openxmlformats.org/officeDocument/2006/relationships/image" Target="../media/image1.png"/><Relationship Id="rId25" Type="http://schemas.openxmlformats.org/officeDocument/2006/relationships/image" Target="../media/image66.png"/><Relationship Id="rId33" Type="http://schemas.openxmlformats.org/officeDocument/2006/relationships/image" Target="../media/image72.png"/><Relationship Id="rId38" Type="http://schemas.openxmlformats.org/officeDocument/2006/relationships/image" Target="../media/image77.png"/><Relationship Id="rId46" Type="http://schemas.openxmlformats.org/officeDocument/2006/relationships/image" Target="../media/image83.png"/><Relationship Id="rId41" Type="http://schemas.openxmlformats.org/officeDocument/2006/relationships/image" Target="../media/image80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.png"/><Relationship Id="rId39" Type="http://schemas.openxmlformats.org/officeDocument/2006/relationships/image" Target="../media/image78.png"/><Relationship Id="rId21" Type="http://schemas.openxmlformats.org/officeDocument/2006/relationships/image" Target="../media/image32.png"/><Relationship Id="rId34" Type="http://schemas.openxmlformats.org/officeDocument/2006/relationships/image" Target="../media/image95.png"/><Relationship Id="rId42" Type="http://schemas.openxmlformats.org/officeDocument/2006/relationships/image" Target="../media/image98.png"/><Relationship Id="rId50" Type="http://schemas.openxmlformats.org/officeDocument/2006/relationships/image" Target="../media/image101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png"/><Relationship Id="rId29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91.png"/><Relationship Id="rId24" Type="http://schemas.openxmlformats.org/officeDocument/2006/relationships/image" Target="../media/image65.png"/><Relationship Id="rId32" Type="http://schemas.openxmlformats.org/officeDocument/2006/relationships/image" Target="../media/image14.png"/><Relationship Id="rId37" Type="http://schemas.openxmlformats.org/officeDocument/2006/relationships/image" Target="../media/image76.png"/><Relationship Id="rId40" Type="http://schemas.openxmlformats.org/officeDocument/2006/relationships/image" Target="../media/image79.png"/><Relationship Id="rId45" Type="http://schemas.openxmlformats.org/officeDocument/2006/relationships/image" Target="../media/image99.png"/><Relationship Id="rId53" Type="http://schemas.openxmlformats.org/officeDocument/2006/relationships/image" Target="../media/image103.png"/><Relationship Id="rId5" Type="http://schemas.openxmlformats.org/officeDocument/2006/relationships/image" Target="../media/image410.png"/><Relationship Id="rId15" Type="http://schemas.openxmlformats.org/officeDocument/2006/relationships/image" Target="../media/image64.png"/><Relationship Id="rId23" Type="http://schemas.openxmlformats.org/officeDocument/2006/relationships/image" Target="../media/image34.png"/><Relationship Id="rId28" Type="http://schemas.openxmlformats.org/officeDocument/2006/relationships/image" Target="../media/image67.png"/><Relationship Id="rId36" Type="http://schemas.openxmlformats.org/officeDocument/2006/relationships/image" Target="../media/image97.png"/><Relationship Id="rId49" Type="http://schemas.openxmlformats.org/officeDocument/2006/relationships/image" Target="../media/image86.png"/><Relationship Id="rId10" Type="http://schemas.openxmlformats.org/officeDocument/2006/relationships/image" Target="../media/image2.png"/><Relationship Id="rId31" Type="http://schemas.openxmlformats.org/officeDocument/2006/relationships/image" Target="../media/image94.png"/><Relationship Id="rId44" Type="http://schemas.openxmlformats.org/officeDocument/2006/relationships/image" Target="../media/image12.png"/><Relationship Id="rId52" Type="http://schemas.openxmlformats.org/officeDocument/2006/relationships/image" Target="../media/image10.png"/><Relationship Id="rId4" Type="http://schemas.openxmlformats.org/officeDocument/2006/relationships/image" Target="../media/image59.png"/><Relationship Id="rId9" Type="http://schemas.openxmlformats.org/officeDocument/2006/relationships/image" Target="../media/image1.png"/><Relationship Id="rId22" Type="http://schemas.openxmlformats.org/officeDocument/2006/relationships/image" Target="../media/image33.png"/><Relationship Id="rId27" Type="http://schemas.openxmlformats.org/officeDocument/2006/relationships/image" Target="../media/image36.png"/><Relationship Id="rId30" Type="http://schemas.openxmlformats.org/officeDocument/2006/relationships/image" Target="../media/image93.png"/><Relationship Id="rId35" Type="http://schemas.openxmlformats.org/officeDocument/2006/relationships/image" Target="../media/image96.png"/><Relationship Id="rId43" Type="http://schemas.openxmlformats.org/officeDocument/2006/relationships/image" Target="../media/image11.png"/><Relationship Id="rId48" Type="http://schemas.openxmlformats.org/officeDocument/2006/relationships/image" Target="../media/image85.png"/><Relationship Id="rId8" Type="http://schemas.openxmlformats.org/officeDocument/2006/relationships/image" Target="../media/image61.png"/><Relationship Id="rId51" Type="http://schemas.openxmlformats.org/officeDocument/2006/relationships/image" Target="../media/image102.png"/><Relationship Id="rId3" Type="http://schemas.openxmlformats.org/officeDocument/2006/relationships/image" Target="../media/image3.png"/><Relationship Id="rId25" Type="http://schemas.openxmlformats.org/officeDocument/2006/relationships/image" Target="../media/image66.png"/><Relationship Id="rId33" Type="http://schemas.openxmlformats.org/officeDocument/2006/relationships/image" Target="../media/image71.png"/><Relationship Id="rId38" Type="http://schemas.openxmlformats.org/officeDocument/2006/relationships/image" Target="../media/image77.png"/><Relationship Id="rId46" Type="http://schemas.openxmlformats.org/officeDocument/2006/relationships/image" Target="../media/image100.png"/><Relationship Id="rId41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6A05-D83D-3508-2CF6-11C5FF9193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79160-E70B-20B3-D62F-7750C156D6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31593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Rounded Rectangle 1130">
            <a:extLst>
              <a:ext uri="{FF2B5EF4-FFF2-40B4-BE49-F238E27FC236}">
                <a16:creationId xmlns:a16="http://schemas.microsoft.com/office/drawing/2014/main" id="{4B8BD437-DFC0-E957-A5DC-8544BD2CADDD}"/>
              </a:ext>
            </a:extLst>
          </p:cNvPr>
          <p:cNvSpPr/>
          <p:nvPr/>
        </p:nvSpPr>
        <p:spPr>
          <a:xfrm>
            <a:off x="111094" y="4436446"/>
            <a:ext cx="7716853" cy="1872133"/>
          </a:xfrm>
          <a:prstGeom prst="roundRect">
            <a:avLst>
              <a:gd name="adj" fmla="val 8677"/>
            </a:avLst>
          </a:prstGeom>
          <a:solidFill>
            <a:schemeClr val="accent2">
              <a:lumMod val="20000"/>
              <a:lumOff val="8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117" name="Rounded Rectangle 1116">
            <a:extLst>
              <a:ext uri="{FF2B5EF4-FFF2-40B4-BE49-F238E27FC236}">
                <a16:creationId xmlns:a16="http://schemas.microsoft.com/office/drawing/2014/main" id="{5671663A-4198-1F41-B59C-19058927F36A}"/>
              </a:ext>
            </a:extLst>
          </p:cNvPr>
          <p:cNvSpPr/>
          <p:nvPr/>
        </p:nvSpPr>
        <p:spPr>
          <a:xfrm>
            <a:off x="111094" y="2442609"/>
            <a:ext cx="7716853" cy="1925141"/>
          </a:xfrm>
          <a:prstGeom prst="roundRect">
            <a:avLst>
              <a:gd name="adj" fmla="val 8677"/>
            </a:avLst>
          </a:prstGeom>
          <a:solidFill>
            <a:schemeClr val="accent6">
              <a:lumMod val="20000"/>
              <a:lumOff val="8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15" name="Rounded Rectangle 1114">
            <a:extLst>
              <a:ext uri="{FF2B5EF4-FFF2-40B4-BE49-F238E27FC236}">
                <a16:creationId xmlns:a16="http://schemas.microsoft.com/office/drawing/2014/main" id="{57B52AC0-1DF5-404F-A5E1-E3F9BC5DA61C}"/>
              </a:ext>
            </a:extLst>
          </p:cNvPr>
          <p:cNvSpPr/>
          <p:nvPr/>
        </p:nvSpPr>
        <p:spPr>
          <a:xfrm>
            <a:off x="111095" y="257635"/>
            <a:ext cx="7716853" cy="2128980"/>
          </a:xfrm>
          <a:prstGeom prst="roundRect">
            <a:avLst>
              <a:gd name="adj" fmla="val 8677"/>
            </a:avLst>
          </a:prstGeom>
          <a:solidFill>
            <a:schemeClr val="accent1">
              <a:lumMod val="20000"/>
              <a:lumOff val="8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59" name="Picture 158">
            <a:extLst>
              <a:ext uri="{FF2B5EF4-FFF2-40B4-BE49-F238E27FC236}">
                <a16:creationId xmlns:a16="http://schemas.microsoft.com/office/drawing/2014/main" id="{D4ACD643-8DC8-5282-5013-3EF61A9B3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68" y="549421"/>
            <a:ext cx="682714" cy="682714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136FFB20-2B03-59B7-3614-EC1926C56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12" y="1486934"/>
            <a:ext cx="581796" cy="581796"/>
          </a:xfrm>
          <a:prstGeom prst="rect">
            <a:avLst/>
          </a:prstGeom>
        </p:spPr>
      </p:pic>
      <p:sp>
        <p:nvSpPr>
          <p:cNvPr id="162" name="TextBox 161">
            <a:extLst>
              <a:ext uri="{FF2B5EF4-FFF2-40B4-BE49-F238E27FC236}">
                <a16:creationId xmlns:a16="http://schemas.microsoft.com/office/drawing/2014/main" id="{8F358612-C7DB-5521-3F83-210BA1D048E0}"/>
              </a:ext>
            </a:extLst>
          </p:cNvPr>
          <p:cNvSpPr txBox="1"/>
          <p:nvPr/>
        </p:nvSpPr>
        <p:spPr>
          <a:xfrm>
            <a:off x="430613" y="1133893"/>
            <a:ext cx="714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agent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C22BB21-6233-B260-5522-BAF6A50B0F16}"/>
              </a:ext>
            </a:extLst>
          </p:cNvPr>
          <p:cNvSpPr txBox="1"/>
          <p:nvPr/>
        </p:nvSpPr>
        <p:spPr>
          <a:xfrm>
            <a:off x="63793" y="2017282"/>
            <a:ext cx="1391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environment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0903D99-33A0-793A-67F2-3DAA4071D434}"/>
              </a:ext>
            </a:extLst>
          </p:cNvPr>
          <p:cNvGrpSpPr/>
          <p:nvPr/>
        </p:nvGrpSpPr>
        <p:grpSpPr>
          <a:xfrm>
            <a:off x="1681118" y="651620"/>
            <a:ext cx="1803972" cy="572331"/>
            <a:chOff x="4350760" y="1683759"/>
            <a:chExt cx="1803972" cy="572331"/>
          </a:xfrm>
        </p:grpSpPr>
        <p:sp>
          <p:nvSpPr>
            <p:cNvPr id="176" name="Rounded Rectangle 175">
              <a:extLst>
                <a:ext uri="{FF2B5EF4-FFF2-40B4-BE49-F238E27FC236}">
                  <a16:creationId xmlns:a16="http://schemas.microsoft.com/office/drawing/2014/main" id="{539A6E75-43B7-7C36-F501-2D330F0590A2}"/>
                </a:ext>
              </a:extLst>
            </p:cNvPr>
            <p:cNvSpPr/>
            <p:nvPr/>
          </p:nvSpPr>
          <p:spPr>
            <a:xfrm>
              <a:off x="4350760" y="1683759"/>
              <a:ext cx="1803972" cy="57233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175" name="Picture 174">
              <a:extLst>
                <a:ext uri="{FF2B5EF4-FFF2-40B4-BE49-F238E27FC236}">
                  <a16:creationId xmlns:a16="http://schemas.microsoft.com/office/drawing/2014/main" id="{6BD2CBA2-F184-AE6D-63FA-DD69D578A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46364" y="1773219"/>
              <a:ext cx="405960" cy="405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92E4F97E-EDD4-09AD-49B2-A2D47B57A517}"/>
                    </a:ext>
                  </a:extLst>
                </p:cNvPr>
                <p:cNvSpPr txBox="1"/>
                <p:nvPr/>
              </p:nvSpPr>
              <p:spPr>
                <a:xfrm>
                  <a:off x="4852324" y="1785258"/>
                  <a:ext cx="1302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N" dirty="0"/>
                    <a:t>Optimizer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CN" dirty="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92E4F97E-EDD4-09AD-49B2-A2D47B57A5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2324" y="1785258"/>
                  <a:ext cx="1302408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885" t="-6667" b="-23333"/>
                  </a:stretch>
                </a:blipFill>
              </p:spPr>
              <p:txBody>
                <a:bodyPr/>
                <a:lstStyle/>
                <a:p>
                  <a:r>
                    <a:rPr lang="en-C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A29C09BB-D51A-C529-C114-B2EB8610D3E7}"/>
              </a:ext>
            </a:extLst>
          </p:cNvPr>
          <p:cNvGrpSpPr/>
          <p:nvPr/>
        </p:nvGrpSpPr>
        <p:grpSpPr>
          <a:xfrm>
            <a:off x="1681118" y="1582673"/>
            <a:ext cx="1837269" cy="572331"/>
            <a:chOff x="9350664" y="2256090"/>
            <a:chExt cx="1837269" cy="572331"/>
          </a:xfrm>
        </p:grpSpPr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895816F4-D8EE-B8BE-8329-54CB1D216691}"/>
                </a:ext>
              </a:extLst>
            </p:cNvPr>
            <p:cNvGrpSpPr/>
            <p:nvPr/>
          </p:nvGrpSpPr>
          <p:grpSpPr>
            <a:xfrm>
              <a:off x="9350664" y="2256090"/>
              <a:ext cx="1837269" cy="572331"/>
              <a:chOff x="4350760" y="1683759"/>
              <a:chExt cx="1837269" cy="572331"/>
            </a:xfrm>
          </p:grpSpPr>
          <p:sp>
            <p:nvSpPr>
              <p:cNvPr id="181" name="Rounded Rectangle 180">
                <a:extLst>
                  <a:ext uri="{FF2B5EF4-FFF2-40B4-BE49-F238E27FC236}">
                    <a16:creationId xmlns:a16="http://schemas.microsoft.com/office/drawing/2014/main" id="{AB6B3654-A4D6-6066-2587-B73B8B31A224}"/>
                  </a:ext>
                </a:extLst>
              </p:cNvPr>
              <p:cNvSpPr/>
              <p:nvPr/>
            </p:nvSpPr>
            <p:spPr>
              <a:xfrm>
                <a:off x="4350760" y="1683759"/>
                <a:ext cx="1803972" cy="572331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6ACF77EB-FB33-FD04-A140-58311430BDD7}"/>
                      </a:ext>
                    </a:extLst>
                  </p:cNvPr>
                  <p:cNvSpPr txBox="1"/>
                  <p:nvPr/>
                </p:nvSpPr>
                <p:spPr>
                  <a:xfrm>
                    <a:off x="4771936" y="1785256"/>
                    <a:ext cx="141609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Base Policy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a14:m>
                    <a:endParaRPr lang="en-CN" dirty="0"/>
                  </a:p>
                </p:txBody>
              </p:sp>
            </mc:Choice>
            <mc:Fallback xmlns="">
              <p:sp>
                <p:nvSpPr>
                  <p:cNvPr id="183" name="TextBox 182">
                    <a:extLst>
                      <a:ext uri="{FF2B5EF4-FFF2-40B4-BE49-F238E27FC236}">
                        <a16:creationId xmlns:a16="http://schemas.microsoft.com/office/drawing/2014/main" id="{6ACF77EB-FB33-FD04-A140-58311430BDD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71936" y="1785256"/>
                    <a:ext cx="1416093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571" t="-6667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C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10A4E40A-1D39-999F-E840-A489EDD078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91784" y="2315909"/>
              <a:ext cx="452689" cy="452689"/>
            </a:xfrm>
            <a:prstGeom prst="rect">
              <a:avLst/>
            </a:prstGeom>
          </p:spPr>
        </p:pic>
      </p:grpSp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E02D5072-047D-0D78-417E-EEFB9C3DE230}"/>
              </a:ext>
            </a:extLst>
          </p:cNvPr>
          <p:cNvCxnSpPr>
            <a:cxnSpLocks/>
            <a:endCxn id="176" idx="1"/>
          </p:cNvCxnSpPr>
          <p:nvPr/>
        </p:nvCxnSpPr>
        <p:spPr>
          <a:xfrm flipV="1">
            <a:off x="1162342" y="937786"/>
            <a:ext cx="518776" cy="50337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Elbow Connector 187">
            <a:extLst>
              <a:ext uri="{FF2B5EF4-FFF2-40B4-BE49-F238E27FC236}">
                <a16:creationId xmlns:a16="http://schemas.microsoft.com/office/drawing/2014/main" id="{6A815CA9-23E2-A0F5-6749-455C1C2EBD35}"/>
              </a:ext>
            </a:extLst>
          </p:cNvPr>
          <p:cNvCxnSpPr>
            <a:cxnSpLocks/>
            <a:endCxn id="181" idx="1"/>
          </p:cNvCxnSpPr>
          <p:nvPr/>
        </p:nvCxnSpPr>
        <p:spPr>
          <a:xfrm>
            <a:off x="1162342" y="1441158"/>
            <a:ext cx="518776" cy="42768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BE322B2F-6C27-8862-E0E2-70E23BB28562}"/>
                  </a:ext>
                </a:extLst>
              </p:cNvPr>
              <p:cNvSpPr txBox="1"/>
              <p:nvPr/>
            </p:nvSpPr>
            <p:spPr>
              <a:xfrm>
                <a:off x="5162991" y="1739432"/>
                <a:ext cx="28081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𝑡𝑒𝑥𝑡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BE322B2F-6C27-8862-E0E2-70E23BB28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991" y="1739432"/>
                <a:ext cx="2808141" cy="307777"/>
              </a:xfrm>
              <a:prstGeom prst="rect">
                <a:avLst/>
              </a:prstGeom>
              <a:blipFill>
                <a:blip r:embed="rId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9" name="Elbow Connector 1028">
            <a:extLst>
              <a:ext uri="{FF2B5EF4-FFF2-40B4-BE49-F238E27FC236}">
                <a16:creationId xmlns:a16="http://schemas.microsoft.com/office/drawing/2014/main" id="{A9487BAA-A8CF-E5BF-F9DF-A15C87CBABC6}"/>
              </a:ext>
            </a:extLst>
          </p:cNvPr>
          <p:cNvCxnSpPr>
            <a:cxnSpLocks/>
            <a:stCxn id="176" idx="3"/>
            <a:endCxn id="1140" idx="1"/>
          </p:cNvCxnSpPr>
          <p:nvPr/>
        </p:nvCxnSpPr>
        <p:spPr>
          <a:xfrm>
            <a:off x="3485090" y="937786"/>
            <a:ext cx="1413754" cy="506703"/>
          </a:xfrm>
          <a:prstGeom prst="bentConnector3">
            <a:avLst>
              <a:gd name="adj1" fmla="val 5785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Elbow Connector 1031">
            <a:extLst>
              <a:ext uri="{FF2B5EF4-FFF2-40B4-BE49-F238E27FC236}">
                <a16:creationId xmlns:a16="http://schemas.microsoft.com/office/drawing/2014/main" id="{2423EEFA-446E-C3CA-E9A5-438A517D4E49}"/>
              </a:ext>
            </a:extLst>
          </p:cNvPr>
          <p:cNvCxnSpPr>
            <a:cxnSpLocks/>
            <a:stCxn id="183" idx="3"/>
            <a:endCxn id="1140" idx="1"/>
          </p:cNvCxnSpPr>
          <p:nvPr/>
        </p:nvCxnSpPr>
        <p:spPr>
          <a:xfrm flipV="1">
            <a:off x="3518387" y="1444489"/>
            <a:ext cx="1380457" cy="424347"/>
          </a:xfrm>
          <a:prstGeom prst="bentConnector3">
            <a:avLst>
              <a:gd name="adj1" fmla="val 5681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5" name="TextBox 1034">
                <a:extLst>
                  <a:ext uri="{FF2B5EF4-FFF2-40B4-BE49-F238E27FC236}">
                    <a16:creationId xmlns:a16="http://schemas.microsoft.com/office/drawing/2014/main" id="{916142BC-D362-C641-4DA3-B184BFA2A853}"/>
                  </a:ext>
                </a:extLst>
              </p:cNvPr>
              <p:cNvSpPr txBox="1"/>
              <p:nvPr/>
            </p:nvSpPr>
            <p:spPr>
              <a:xfrm>
                <a:off x="3412785" y="605908"/>
                <a:ext cx="1063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035" name="TextBox 1034">
                <a:extLst>
                  <a:ext uri="{FF2B5EF4-FFF2-40B4-BE49-F238E27FC236}">
                    <a16:creationId xmlns:a16="http://schemas.microsoft.com/office/drawing/2014/main" id="{916142BC-D362-C641-4DA3-B184BFA2A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2785" y="605908"/>
                <a:ext cx="106330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7" name="TextBox 1036">
                <a:extLst>
                  <a:ext uri="{FF2B5EF4-FFF2-40B4-BE49-F238E27FC236}">
                    <a16:creationId xmlns:a16="http://schemas.microsoft.com/office/drawing/2014/main" id="{64971F25-B06A-6C24-D90A-C2E2C600AAE1}"/>
                  </a:ext>
                </a:extLst>
              </p:cNvPr>
              <p:cNvSpPr txBox="1"/>
              <p:nvPr/>
            </p:nvSpPr>
            <p:spPr>
              <a:xfrm>
                <a:off x="3404405" y="1812409"/>
                <a:ext cx="1063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037" name="TextBox 1036">
                <a:extLst>
                  <a:ext uri="{FF2B5EF4-FFF2-40B4-BE49-F238E27FC236}">
                    <a16:creationId xmlns:a16="http://schemas.microsoft.com/office/drawing/2014/main" id="{64971F25-B06A-6C24-D90A-C2E2C600A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405" y="1812409"/>
                <a:ext cx="106330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8" name="TextBox 1047">
            <a:extLst>
              <a:ext uri="{FF2B5EF4-FFF2-40B4-BE49-F238E27FC236}">
                <a16:creationId xmlns:a16="http://schemas.microsoft.com/office/drawing/2014/main" id="{DA2513BC-E8A8-92EA-7795-7D967E0D4892}"/>
              </a:ext>
            </a:extLst>
          </p:cNvPr>
          <p:cNvSpPr txBox="1"/>
          <p:nvPr/>
        </p:nvSpPr>
        <p:spPr>
          <a:xfrm>
            <a:off x="103706" y="3752506"/>
            <a:ext cx="106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state text</a:t>
            </a:r>
            <a:endParaRPr lang="en-CN" dirty="0"/>
          </a:p>
        </p:txBody>
      </p:sp>
      <p:pic>
        <p:nvPicPr>
          <p:cNvPr id="1049" name="Picture 1048">
            <a:extLst>
              <a:ext uri="{FF2B5EF4-FFF2-40B4-BE49-F238E27FC236}">
                <a16:creationId xmlns:a16="http://schemas.microsoft.com/office/drawing/2014/main" id="{1B63534E-29E7-15D2-A937-32ED53A308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0951" y="3197356"/>
            <a:ext cx="452689" cy="452689"/>
          </a:xfrm>
          <a:prstGeom prst="rect">
            <a:avLst/>
          </a:prstGeom>
        </p:spPr>
      </p:pic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59DE0B92-C356-ACFA-A254-1D91D98E90FE}"/>
              </a:ext>
            </a:extLst>
          </p:cNvPr>
          <p:cNvGrpSpPr/>
          <p:nvPr/>
        </p:nvGrpSpPr>
        <p:grpSpPr>
          <a:xfrm>
            <a:off x="1662721" y="2725250"/>
            <a:ext cx="2720080" cy="585727"/>
            <a:chOff x="3576745" y="3348322"/>
            <a:chExt cx="2720080" cy="585727"/>
          </a:xfrm>
        </p:grpSpPr>
        <p:grpSp>
          <p:nvGrpSpPr>
            <p:cNvPr id="1053" name="Group 1052">
              <a:extLst>
                <a:ext uri="{FF2B5EF4-FFF2-40B4-BE49-F238E27FC236}">
                  <a16:creationId xmlns:a16="http://schemas.microsoft.com/office/drawing/2014/main" id="{4F4DC79C-DDC1-7B40-E332-2384DD154782}"/>
                </a:ext>
              </a:extLst>
            </p:cNvPr>
            <p:cNvGrpSpPr/>
            <p:nvPr/>
          </p:nvGrpSpPr>
          <p:grpSpPr>
            <a:xfrm>
              <a:off x="3576745" y="3348322"/>
              <a:ext cx="2720080" cy="585727"/>
              <a:chOff x="4350759" y="1670363"/>
              <a:chExt cx="2720080" cy="585727"/>
            </a:xfrm>
          </p:grpSpPr>
          <p:sp>
            <p:nvSpPr>
              <p:cNvPr id="1055" name="Rounded Rectangle 1054">
                <a:extLst>
                  <a:ext uri="{FF2B5EF4-FFF2-40B4-BE49-F238E27FC236}">
                    <a16:creationId xmlns:a16="http://schemas.microsoft.com/office/drawing/2014/main" id="{F2D7F467-26FF-65A9-2179-2EF63BD35BF1}"/>
                  </a:ext>
                </a:extLst>
              </p:cNvPr>
              <p:cNvSpPr/>
              <p:nvPr/>
            </p:nvSpPr>
            <p:spPr>
              <a:xfrm>
                <a:off x="4350759" y="1683759"/>
                <a:ext cx="2720080" cy="57233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1056" name="TextBox 1055">
                <a:extLst>
                  <a:ext uri="{FF2B5EF4-FFF2-40B4-BE49-F238E27FC236}">
                    <a16:creationId xmlns:a16="http://schemas.microsoft.com/office/drawing/2014/main" id="{3D175098-42A7-F7D4-15E5-8143F43821EB}"/>
                  </a:ext>
                </a:extLst>
              </p:cNvPr>
              <p:cNvSpPr txBox="1"/>
              <p:nvPr/>
            </p:nvSpPr>
            <p:spPr>
              <a:xfrm>
                <a:off x="4771935" y="1670363"/>
                <a:ext cx="18242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Universal Feature</a:t>
                </a:r>
                <a:endParaRPr lang="en-CN" dirty="0"/>
              </a:p>
            </p:txBody>
          </p:sp>
        </p:grpSp>
        <p:pic>
          <p:nvPicPr>
            <p:cNvPr id="1051" name="Picture 1050">
              <a:extLst>
                <a:ext uri="{FF2B5EF4-FFF2-40B4-BE49-F238E27FC236}">
                  <a16:creationId xmlns:a16="http://schemas.microsoft.com/office/drawing/2014/main" id="{8D4026A1-2DD5-3FB0-4629-5F91641CF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602384" y="3429000"/>
              <a:ext cx="435599" cy="435599"/>
            </a:xfrm>
            <a:prstGeom prst="rect">
              <a:avLst/>
            </a:prstGeom>
          </p:spPr>
        </p:pic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CF1BDB4E-ACC9-1CBE-283D-48C029AD390A}"/>
                </a:ext>
              </a:extLst>
            </p:cNvPr>
            <p:cNvSpPr txBox="1"/>
            <p:nvPr/>
          </p:nvSpPr>
          <p:spPr>
            <a:xfrm>
              <a:off x="3997921" y="3604930"/>
              <a:ext cx="222932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entropy, state text length, …</a:t>
              </a:r>
              <a:endParaRPr lang="en-CN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060" name="Group 1059">
            <a:extLst>
              <a:ext uri="{FF2B5EF4-FFF2-40B4-BE49-F238E27FC236}">
                <a16:creationId xmlns:a16="http://schemas.microsoft.com/office/drawing/2014/main" id="{08CFE45D-0D2A-AB76-590E-A3D6C3296381}"/>
              </a:ext>
            </a:extLst>
          </p:cNvPr>
          <p:cNvGrpSpPr/>
          <p:nvPr/>
        </p:nvGrpSpPr>
        <p:grpSpPr>
          <a:xfrm>
            <a:off x="1662721" y="3600588"/>
            <a:ext cx="2786182" cy="580598"/>
            <a:chOff x="3576745" y="3353451"/>
            <a:chExt cx="2786182" cy="580598"/>
          </a:xfrm>
        </p:grpSpPr>
        <p:grpSp>
          <p:nvGrpSpPr>
            <p:cNvPr id="1061" name="Group 1060">
              <a:extLst>
                <a:ext uri="{FF2B5EF4-FFF2-40B4-BE49-F238E27FC236}">
                  <a16:creationId xmlns:a16="http://schemas.microsoft.com/office/drawing/2014/main" id="{6F0285B5-A685-3EAF-FC25-C47420D61BAA}"/>
                </a:ext>
              </a:extLst>
            </p:cNvPr>
            <p:cNvGrpSpPr/>
            <p:nvPr/>
          </p:nvGrpSpPr>
          <p:grpSpPr>
            <a:xfrm>
              <a:off x="3576745" y="3353451"/>
              <a:ext cx="2786182" cy="580598"/>
              <a:chOff x="4350759" y="1675492"/>
              <a:chExt cx="2786182" cy="580598"/>
            </a:xfrm>
          </p:grpSpPr>
          <p:sp>
            <p:nvSpPr>
              <p:cNvPr id="1064" name="Rounded Rectangle 1063">
                <a:extLst>
                  <a:ext uri="{FF2B5EF4-FFF2-40B4-BE49-F238E27FC236}">
                    <a16:creationId xmlns:a16="http://schemas.microsoft.com/office/drawing/2014/main" id="{58C239BF-2FC2-42D3-6829-D8170B43F5DE}"/>
                  </a:ext>
                </a:extLst>
              </p:cNvPr>
              <p:cNvSpPr/>
              <p:nvPr/>
            </p:nvSpPr>
            <p:spPr>
              <a:xfrm>
                <a:off x="4350759" y="1683759"/>
                <a:ext cx="2720080" cy="57233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sp>
            <p:nvSpPr>
              <p:cNvPr id="1065" name="TextBox 1064">
                <a:extLst>
                  <a:ext uri="{FF2B5EF4-FFF2-40B4-BE49-F238E27FC236}">
                    <a16:creationId xmlns:a16="http://schemas.microsoft.com/office/drawing/2014/main" id="{2328F05E-7DB9-4CAF-29DF-F115F33AB3D5}"/>
                  </a:ext>
                </a:extLst>
              </p:cNvPr>
              <p:cNvSpPr txBox="1"/>
              <p:nvPr/>
            </p:nvSpPr>
            <p:spPr>
              <a:xfrm>
                <a:off x="4771935" y="1675492"/>
                <a:ext cx="23650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LLM Reasoning Feature</a:t>
                </a:r>
                <a:endParaRPr lang="en-CN" dirty="0"/>
              </a:p>
            </p:txBody>
          </p:sp>
        </p:grpSp>
        <p:sp>
          <p:nvSpPr>
            <p:cNvPr id="1063" name="TextBox 1062">
              <a:extLst>
                <a:ext uri="{FF2B5EF4-FFF2-40B4-BE49-F238E27FC236}">
                  <a16:creationId xmlns:a16="http://schemas.microsoft.com/office/drawing/2014/main" id="{808D22CC-825C-FCF5-B233-362B6F419548}"/>
                </a:ext>
              </a:extLst>
            </p:cNvPr>
            <p:cNvSpPr txBox="1"/>
            <p:nvPr/>
          </p:nvSpPr>
          <p:spPr>
            <a:xfrm>
              <a:off x="3997921" y="3604930"/>
              <a:ext cx="225625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</a:rPr>
                <a:t>action type, action length, …</a:t>
              </a:r>
              <a:endParaRPr lang="en-CN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1066" name="Picture 1065">
            <a:extLst>
              <a:ext uri="{FF2B5EF4-FFF2-40B4-BE49-F238E27FC236}">
                <a16:creationId xmlns:a16="http://schemas.microsoft.com/office/drawing/2014/main" id="{3E09CA5F-9C55-F27C-7719-C1CE1557E9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38181" y="3713771"/>
            <a:ext cx="347720" cy="3477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68" name="TextBox 1067">
                <a:extLst>
                  <a:ext uri="{FF2B5EF4-FFF2-40B4-BE49-F238E27FC236}">
                    <a16:creationId xmlns:a16="http://schemas.microsoft.com/office/drawing/2014/main" id="{C5D4A595-8F04-7898-F9E8-3C70C100B6B9}"/>
                  </a:ext>
                </a:extLst>
              </p:cNvPr>
              <p:cNvSpPr txBox="1"/>
              <p:nvPr/>
            </p:nvSpPr>
            <p:spPr>
              <a:xfrm>
                <a:off x="5161317" y="3762368"/>
                <a:ext cx="26262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068" name="TextBox 1067">
                <a:extLst>
                  <a:ext uri="{FF2B5EF4-FFF2-40B4-BE49-F238E27FC236}">
                    <a16:creationId xmlns:a16="http://schemas.microsoft.com/office/drawing/2014/main" id="{C5D4A595-8F04-7898-F9E8-3C70C100B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317" y="3762368"/>
                <a:ext cx="2626296" cy="307777"/>
              </a:xfrm>
              <a:prstGeom prst="rect">
                <a:avLst/>
              </a:prstGeom>
              <a:blipFill>
                <a:blip r:embed="rId1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0" name="Straight Arrow Connector 1069">
            <a:extLst>
              <a:ext uri="{FF2B5EF4-FFF2-40B4-BE49-F238E27FC236}">
                <a16:creationId xmlns:a16="http://schemas.microsoft.com/office/drawing/2014/main" id="{0F6D795D-490B-4D1A-8C77-AAC690ED01A0}"/>
              </a:ext>
            </a:extLst>
          </p:cNvPr>
          <p:cNvCxnSpPr>
            <a:cxnSpLocks/>
          </p:cNvCxnSpPr>
          <p:nvPr/>
        </p:nvCxnSpPr>
        <p:spPr>
          <a:xfrm flipV="1">
            <a:off x="398329" y="4828376"/>
            <a:ext cx="0" cy="10938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Straight Arrow Connector 1071">
            <a:extLst>
              <a:ext uri="{FF2B5EF4-FFF2-40B4-BE49-F238E27FC236}">
                <a16:creationId xmlns:a16="http://schemas.microsoft.com/office/drawing/2014/main" id="{6105FF62-0D60-39E2-5879-C1E9C33CD21F}"/>
              </a:ext>
            </a:extLst>
          </p:cNvPr>
          <p:cNvCxnSpPr>
            <a:cxnSpLocks/>
          </p:cNvCxnSpPr>
          <p:nvPr/>
        </p:nvCxnSpPr>
        <p:spPr>
          <a:xfrm>
            <a:off x="398329" y="5930785"/>
            <a:ext cx="93435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Freeform 1076">
            <a:extLst>
              <a:ext uri="{FF2B5EF4-FFF2-40B4-BE49-F238E27FC236}">
                <a16:creationId xmlns:a16="http://schemas.microsoft.com/office/drawing/2014/main" id="{23F00D53-CA5D-882C-27FA-BFA224A28087}"/>
              </a:ext>
            </a:extLst>
          </p:cNvPr>
          <p:cNvSpPr/>
          <p:nvPr/>
        </p:nvSpPr>
        <p:spPr>
          <a:xfrm>
            <a:off x="478564" y="5050567"/>
            <a:ext cx="700756" cy="871671"/>
          </a:xfrm>
          <a:custGeom>
            <a:avLst/>
            <a:gdLst>
              <a:gd name="connsiteX0" fmla="*/ 0 w 700756"/>
              <a:gd name="connsiteY0" fmla="*/ 871671 h 871671"/>
              <a:gd name="connsiteX1" fmla="*/ 213645 w 700756"/>
              <a:gd name="connsiteY1" fmla="*/ 700755 h 871671"/>
              <a:gd name="connsiteX2" fmla="*/ 350378 w 700756"/>
              <a:gd name="connsiteY2" fmla="*/ 299103 h 871671"/>
              <a:gd name="connsiteX3" fmla="*/ 495657 w 700756"/>
              <a:gd name="connsiteY3" fmla="*/ 68366 h 871671"/>
              <a:gd name="connsiteX4" fmla="*/ 700756 w 700756"/>
              <a:gd name="connsiteY4" fmla="*/ 0 h 87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756" h="871671">
                <a:moveTo>
                  <a:pt x="0" y="871671"/>
                </a:moveTo>
                <a:cubicBezTo>
                  <a:pt x="77624" y="833927"/>
                  <a:pt x="155249" y="796183"/>
                  <a:pt x="213645" y="700755"/>
                </a:cubicBezTo>
                <a:cubicBezTo>
                  <a:pt x="272041" y="605327"/>
                  <a:pt x="303376" y="404501"/>
                  <a:pt x="350378" y="299103"/>
                </a:cubicBezTo>
                <a:cubicBezTo>
                  <a:pt x="397380" y="193705"/>
                  <a:pt x="437261" y="118216"/>
                  <a:pt x="495657" y="68366"/>
                </a:cubicBezTo>
                <a:cubicBezTo>
                  <a:pt x="554053" y="18515"/>
                  <a:pt x="627404" y="9257"/>
                  <a:pt x="700756" y="0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78" name="Oval 1077">
            <a:extLst>
              <a:ext uri="{FF2B5EF4-FFF2-40B4-BE49-F238E27FC236}">
                <a16:creationId xmlns:a16="http://schemas.microsoft.com/office/drawing/2014/main" id="{4C01A015-B238-7C02-A62C-C06439149DA6}"/>
              </a:ext>
            </a:extLst>
          </p:cNvPr>
          <p:cNvSpPr/>
          <p:nvPr/>
        </p:nvSpPr>
        <p:spPr>
          <a:xfrm>
            <a:off x="527436" y="5725685"/>
            <a:ext cx="85458" cy="854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79" name="Oval 1078">
            <a:extLst>
              <a:ext uri="{FF2B5EF4-FFF2-40B4-BE49-F238E27FC236}">
                <a16:creationId xmlns:a16="http://schemas.microsoft.com/office/drawing/2014/main" id="{1E550A97-9DF5-3035-B8CA-82689B8CF9EF}"/>
              </a:ext>
            </a:extLst>
          </p:cNvPr>
          <p:cNvSpPr/>
          <p:nvPr/>
        </p:nvSpPr>
        <p:spPr>
          <a:xfrm>
            <a:off x="696956" y="5802597"/>
            <a:ext cx="85458" cy="854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0" name="Oval 1079">
            <a:extLst>
              <a:ext uri="{FF2B5EF4-FFF2-40B4-BE49-F238E27FC236}">
                <a16:creationId xmlns:a16="http://schemas.microsoft.com/office/drawing/2014/main" id="{45C05073-9FEA-1831-11F7-FFDC93CD2611}"/>
              </a:ext>
            </a:extLst>
          </p:cNvPr>
          <p:cNvSpPr/>
          <p:nvPr/>
        </p:nvSpPr>
        <p:spPr>
          <a:xfrm>
            <a:off x="784133" y="5640227"/>
            <a:ext cx="85458" cy="854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ADB8E59A-800E-BA68-6CAB-85437CBB2FEA}"/>
              </a:ext>
            </a:extLst>
          </p:cNvPr>
          <p:cNvSpPr/>
          <p:nvPr/>
        </p:nvSpPr>
        <p:spPr>
          <a:xfrm>
            <a:off x="638372" y="5510614"/>
            <a:ext cx="85458" cy="854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D9511C7E-F0FD-1D06-92C6-48C3558D1904}"/>
              </a:ext>
            </a:extLst>
          </p:cNvPr>
          <p:cNvSpPr/>
          <p:nvPr/>
        </p:nvSpPr>
        <p:spPr>
          <a:xfrm>
            <a:off x="1038314" y="4943745"/>
            <a:ext cx="85458" cy="8545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3" name="Oval 1082">
            <a:extLst>
              <a:ext uri="{FF2B5EF4-FFF2-40B4-BE49-F238E27FC236}">
                <a16:creationId xmlns:a16="http://schemas.microsoft.com/office/drawing/2014/main" id="{1A91E424-709E-08A2-5302-1A351361A96A}"/>
              </a:ext>
            </a:extLst>
          </p:cNvPr>
          <p:cNvSpPr/>
          <p:nvPr/>
        </p:nvSpPr>
        <p:spPr>
          <a:xfrm>
            <a:off x="1038314" y="5107450"/>
            <a:ext cx="85458" cy="8545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4" name="Oval 1083">
            <a:extLst>
              <a:ext uri="{FF2B5EF4-FFF2-40B4-BE49-F238E27FC236}">
                <a16:creationId xmlns:a16="http://schemas.microsoft.com/office/drawing/2014/main" id="{9FB9A84B-C6D2-A7F7-0A5F-0A4032281CF9}"/>
              </a:ext>
            </a:extLst>
          </p:cNvPr>
          <p:cNvSpPr/>
          <p:nvPr/>
        </p:nvSpPr>
        <p:spPr>
          <a:xfrm>
            <a:off x="942558" y="5195757"/>
            <a:ext cx="85458" cy="8545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5" name="Oval 1084">
            <a:extLst>
              <a:ext uri="{FF2B5EF4-FFF2-40B4-BE49-F238E27FC236}">
                <a16:creationId xmlns:a16="http://schemas.microsoft.com/office/drawing/2014/main" id="{A02097AD-CF32-EAFB-C08F-5A9BCFF109B4}"/>
              </a:ext>
            </a:extLst>
          </p:cNvPr>
          <p:cNvSpPr/>
          <p:nvPr/>
        </p:nvSpPr>
        <p:spPr>
          <a:xfrm>
            <a:off x="846802" y="5043401"/>
            <a:ext cx="85458" cy="8545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6" name="Oval 1085">
            <a:extLst>
              <a:ext uri="{FF2B5EF4-FFF2-40B4-BE49-F238E27FC236}">
                <a16:creationId xmlns:a16="http://schemas.microsoft.com/office/drawing/2014/main" id="{AFF6C190-B943-8AE3-2E0B-7A9A971D92D1}"/>
              </a:ext>
            </a:extLst>
          </p:cNvPr>
          <p:cNvSpPr/>
          <p:nvPr/>
        </p:nvSpPr>
        <p:spPr>
          <a:xfrm>
            <a:off x="739685" y="5197136"/>
            <a:ext cx="85458" cy="8545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7" name="Oval 1086">
            <a:extLst>
              <a:ext uri="{FF2B5EF4-FFF2-40B4-BE49-F238E27FC236}">
                <a16:creationId xmlns:a16="http://schemas.microsoft.com/office/drawing/2014/main" id="{D7891876-AA21-46EA-AC39-19DC60DDB858}"/>
              </a:ext>
            </a:extLst>
          </p:cNvPr>
          <p:cNvSpPr/>
          <p:nvPr/>
        </p:nvSpPr>
        <p:spPr>
          <a:xfrm>
            <a:off x="899829" y="5383676"/>
            <a:ext cx="85458" cy="85458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04D3C044-9979-2905-57CF-A82E9DDB005D}"/>
              </a:ext>
            </a:extLst>
          </p:cNvPr>
          <p:cNvSpPr txBox="1"/>
          <p:nvPr/>
        </p:nvSpPr>
        <p:spPr>
          <a:xfrm>
            <a:off x="103706" y="5971758"/>
            <a:ext cx="17609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feature regularized</a:t>
            </a:r>
          </a:p>
        </p:txBody>
      </p:sp>
      <p:sp>
        <p:nvSpPr>
          <p:cNvPr id="1095" name="Right Arrow 1094">
            <a:extLst>
              <a:ext uri="{FF2B5EF4-FFF2-40B4-BE49-F238E27FC236}">
                <a16:creationId xmlns:a16="http://schemas.microsoft.com/office/drawing/2014/main" id="{3E0BE2A5-2095-21EF-7348-564DA34B6736}"/>
              </a:ext>
            </a:extLst>
          </p:cNvPr>
          <p:cNvSpPr/>
          <p:nvPr/>
        </p:nvSpPr>
        <p:spPr>
          <a:xfrm>
            <a:off x="1435517" y="5332906"/>
            <a:ext cx="391677" cy="21239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1118" name="Elbow Connector 1117">
            <a:extLst>
              <a:ext uri="{FF2B5EF4-FFF2-40B4-BE49-F238E27FC236}">
                <a16:creationId xmlns:a16="http://schemas.microsoft.com/office/drawing/2014/main" id="{DBC73268-37D7-B10C-EC5E-1035776DBB81}"/>
              </a:ext>
            </a:extLst>
          </p:cNvPr>
          <p:cNvCxnSpPr>
            <a:cxnSpLocks/>
            <a:stCxn id="1049" idx="3"/>
            <a:endCxn id="1055" idx="1"/>
          </p:cNvCxnSpPr>
          <p:nvPr/>
        </p:nvCxnSpPr>
        <p:spPr>
          <a:xfrm flipV="1">
            <a:off x="853640" y="3024812"/>
            <a:ext cx="809081" cy="39888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Elbow Connector 1120">
            <a:extLst>
              <a:ext uri="{FF2B5EF4-FFF2-40B4-BE49-F238E27FC236}">
                <a16:creationId xmlns:a16="http://schemas.microsoft.com/office/drawing/2014/main" id="{B577450D-F9FB-8A41-20F1-B6013D987258}"/>
              </a:ext>
            </a:extLst>
          </p:cNvPr>
          <p:cNvCxnSpPr>
            <a:cxnSpLocks/>
            <a:stCxn id="1049" idx="3"/>
            <a:endCxn id="1064" idx="1"/>
          </p:cNvCxnSpPr>
          <p:nvPr/>
        </p:nvCxnSpPr>
        <p:spPr>
          <a:xfrm>
            <a:off x="853640" y="3423701"/>
            <a:ext cx="809081" cy="47132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4" name="Elbow Connector 1123">
            <a:extLst>
              <a:ext uri="{FF2B5EF4-FFF2-40B4-BE49-F238E27FC236}">
                <a16:creationId xmlns:a16="http://schemas.microsoft.com/office/drawing/2014/main" id="{441296AA-56D1-257D-9D7A-781CDB553CFB}"/>
              </a:ext>
            </a:extLst>
          </p:cNvPr>
          <p:cNvCxnSpPr>
            <a:cxnSpLocks/>
            <a:stCxn id="1055" idx="3"/>
            <a:endCxn id="1143" idx="1"/>
          </p:cNvCxnSpPr>
          <p:nvPr/>
        </p:nvCxnSpPr>
        <p:spPr>
          <a:xfrm>
            <a:off x="4382801" y="3024812"/>
            <a:ext cx="522942" cy="41541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7" name="Elbow Connector 1126">
            <a:extLst>
              <a:ext uri="{FF2B5EF4-FFF2-40B4-BE49-F238E27FC236}">
                <a16:creationId xmlns:a16="http://schemas.microsoft.com/office/drawing/2014/main" id="{288B409D-C319-BEE9-9CFD-1009A25E9C3E}"/>
              </a:ext>
            </a:extLst>
          </p:cNvPr>
          <p:cNvCxnSpPr>
            <a:cxnSpLocks/>
            <a:endCxn id="1143" idx="1"/>
          </p:cNvCxnSpPr>
          <p:nvPr/>
        </p:nvCxnSpPr>
        <p:spPr>
          <a:xfrm flipV="1">
            <a:off x="4382801" y="3440223"/>
            <a:ext cx="522942" cy="48466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3" name="Elbow Connector 1132">
            <a:extLst>
              <a:ext uri="{FF2B5EF4-FFF2-40B4-BE49-F238E27FC236}">
                <a16:creationId xmlns:a16="http://schemas.microsoft.com/office/drawing/2014/main" id="{E1AE5C53-45A4-3E22-0010-94922DCB3B8F}"/>
              </a:ext>
            </a:extLst>
          </p:cNvPr>
          <p:cNvCxnSpPr>
            <a:cxnSpLocks/>
            <a:stCxn id="1140" idx="2"/>
            <a:endCxn id="1049" idx="0"/>
          </p:cNvCxnSpPr>
          <p:nvPr/>
        </p:nvCxnSpPr>
        <p:spPr>
          <a:xfrm rot="5400000">
            <a:off x="2210055" y="185148"/>
            <a:ext cx="1429449" cy="459496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0" name="Picture 1139">
            <a:extLst>
              <a:ext uri="{FF2B5EF4-FFF2-40B4-BE49-F238E27FC236}">
                <a16:creationId xmlns:a16="http://schemas.microsoft.com/office/drawing/2014/main" id="{8F30B808-0AB1-0489-83F2-D46F40639C7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8844" y="1121071"/>
            <a:ext cx="646836" cy="646836"/>
          </a:xfrm>
          <a:prstGeom prst="rect">
            <a:avLst/>
          </a:prstGeom>
        </p:spPr>
      </p:pic>
      <p:pic>
        <p:nvPicPr>
          <p:cNvPr id="1143" name="Picture 1142">
            <a:extLst>
              <a:ext uri="{FF2B5EF4-FFF2-40B4-BE49-F238E27FC236}">
                <a16:creationId xmlns:a16="http://schemas.microsoft.com/office/drawing/2014/main" id="{478CF4B3-7BAA-32D3-CAD6-F139506F76E5}"/>
              </a:ext>
            </a:extLst>
          </p:cNvPr>
          <p:cNvPicPr>
            <a:picLocks noChangeAspect="1"/>
          </p:cNvPicPr>
          <p:nvPr/>
        </p:nvPicPr>
        <p:blipFill>
          <a:blip r:embed="rId1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5743" y="3116805"/>
            <a:ext cx="646836" cy="646836"/>
          </a:xfrm>
          <a:prstGeom prst="rect">
            <a:avLst/>
          </a:prstGeom>
        </p:spPr>
      </p:pic>
      <p:sp>
        <p:nvSpPr>
          <p:cNvPr id="1145" name="TextBox 1144">
            <a:extLst>
              <a:ext uri="{FF2B5EF4-FFF2-40B4-BE49-F238E27FC236}">
                <a16:creationId xmlns:a16="http://schemas.microsoft.com/office/drawing/2014/main" id="{0D684906-1950-2899-3941-6AEB4C99607F}"/>
              </a:ext>
            </a:extLst>
          </p:cNvPr>
          <p:cNvSpPr txBox="1"/>
          <p:nvPr/>
        </p:nvSpPr>
        <p:spPr>
          <a:xfrm>
            <a:off x="3682749" y="244703"/>
            <a:ext cx="4208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 Explore: Signal-Agnostic Data Collection</a:t>
            </a:r>
            <a:endParaRPr lang="en-CN" dirty="0"/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4AF137CD-191B-6FB1-3230-3E748B5B0EBC}"/>
              </a:ext>
            </a:extLst>
          </p:cNvPr>
          <p:cNvSpPr txBox="1"/>
          <p:nvPr/>
        </p:nvSpPr>
        <p:spPr>
          <a:xfrm>
            <a:off x="3833046" y="2423395"/>
            <a:ext cx="4058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 Reason: Feature Extraction &amp; Merging</a:t>
            </a:r>
            <a:endParaRPr lang="en-CN" dirty="0"/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8D0CB1B9-370E-9A6A-A09F-A98B753CA17D}"/>
              </a:ext>
            </a:extLst>
          </p:cNvPr>
          <p:cNvSpPr txBox="1"/>
          <p:nvPr/>
        </p:nvSpPr>
        <p:spPr>
          <a:xfrm>
            <a:off x="3062644" y="4423744"/>
            <a:ext cx="4829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(c) Learn: Feature Selection &amp; Direction Discovery</a:t>
            </a:r>
            <a:endParaRPr lang="en-CN" dirty="0"/>
          </a:p>
        </p:txBody>
      </p:sp>
      <p:cxnSp>
        <p:nvCxnSpPr>
          <p:cNvPr id="1187" name="Straight Arrow Connector 1186">
            <a:extLst>
              <a:ext uri="{FF2B5EF4-FFF2-40B4-BE49-F238E27FC236}">
                <a16:creationId xmlns:a16="http://schemas.microsoft.com/office/drawing/2014/main" id="{D9F1704B-1CFA-8C2D-0B19-21B72F2E0FA2}"/>
              </a:ext>
            </a:extLst>
          </p:cNvPr>
          <p:cNvCxnSpPr>
            <a:cxnSpLocks/>
          </p:cNvCxnSpPr>
          <p:nvPr/>
        </p:nvCxnSpPr>
        <p:spPr>
          <a:xfrm flipV="1">
            <a:off x="2174927" y="4835501"/>
            <a:ext cx="0" cy="10938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8" name="Straight Arrow Connector 1187">
            <a:extLst>
              <a:ext uri="{FF2B5EF4-FFF2-40B4-BE49-F238E27FC236}">
                <a16:creationId xmlns:a16="http://schemas.microsoft.com/office/drawing/2014/main" id="{F69A9B63-7BAC-C852-84D8-F26D0DA93BCD}"/>
              </a:ext>
            </a:extLst>
          </p:cNvPr>
          <p:cNvCxnSpPr>
            <a:cxnSpLocks/>
          </p:cNvCxnSpPr>
          <p:nvPr/>
        </p:nvCxnSpPr>
        <p:spPr>
          <a:xfrm>
            <a:off x="2174927" y="5450796"/>
            <a:ext cx="93435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9" name="Rectangle 1188">
            <a:extLst>
              <a:ext uri="{FF2B5EF4-FFF2-40B4-BE49-F238E27FC236}">
                <a16:creationId xmlns:a16="http://schemas.microsoft.com/office/drawing/2014/main" id="{5926FB50-ABC2-C62F-7C5D-B80AF705B16A}"/>
              </a:ext>
            </a:extLst>
          </p:cNvPr>
          <p:cNvSpPr/>
          <p:nvPr/>
        </p:nvSpPr>
        <p:spPr>
          <a:xfrm>
            <a:off x="2264635" y="5110299"/>
            <a:ext cx="72015" cy="3420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90" name="Rectangle 1189">
            <a:extLst>
              <a:ext uri="{FF2B5EF4-FFF2-40B4-BE49-F238E27FC236}">
                <a16:creationId xmlns:a16="http://schemas.microsoft.com/office/drawing/2014/main" id="{EEF42E5C-7C68-CE6C-F95A-7E9CC6F99C62}"/>
              </a:ext>
            </a:extLst>
          </p:cNvPr>
          <p:cNvSpPr/>
          <p:nvPr/>
        </p:nvSpPr>
        <p:spPr>
          <a:xfrm>
            <a:off x="2416437" y="5283594"/>
            <a:ext cx="68356" cy="1672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91" name="Rectangle 1190">
            <a:extLst>
              <a:ext uri="{FF2B5EF4-FFF2-40B4-BE49-F238E27FC236}">
                <a16:creationId xmlns:a16="http://schemas.microsoft.com/office/drawing/2014/main" id="{AD882EA6-819A-1A6D-45A1-C6E65B75DB47}"/>
              </a:ext>
            </a:extLst>
          </p:cNvPr>
          <p:cNvSpPr/>
          <p:nvPr/>
        </p:nvSpPr>
        <p:spPr>
          <a:xfrm>
            <a:off x="2602884" y="5247120"/>
            <a:ext cx="63084" cy="2036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92" name="Rectangle 1191">
            <a:extLst>
              <a:ext uri="{FF2B5EF4-FFF2-40B4-BE49-F238E27FC236}">
                <a16:creationId xmlns:a16="http://schemas.microsoft.com/office/drawing/2014/main" id="{CAF111DF-25BF-D180-698B-4ABCDAD7F21F}"/>
              </a:ext>
            </a:extLst>
          </p:cNvPr>
          <p:cNvSpPr/>
          <p:nvPr/>
        </p:nvSpPr>
        <p:spPr>
          <a:xfrm>
            <a:off x="2767641" y="5463887"/>
            <a:ext cx="63084" cy="1384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93" name="Rectangle 1192">
            <a:extLst>
              <a:ext uri="{FF2B5EF4-FFF2-40B4-BE49-F238E27FC236}">
                <a16:creationId xmlns:a16="http://schemas.microsoft.com/office/drawing/2014/main" id="{F25516CE-AFF6-D47E-17D3-BD4355BE24DD}"/>
              </a:ext>
            </a:extLst>
          </p:cNvPr>
          <p:cNvSpPr/>
          <p:nvPr/>
        </p:nvSpPr>
        <p:spPr>
          <a:xfrm>
            <a:off x="2927568" y="5456344"/>
            <a:ext cx="62445" cy="36634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94" name="TextBox 1193">
            <a:extLst>
              <a:ext uri="{FF2B5EF4-FFF2-40B4-BE49-F238E27FC236}">
                <a16:creationId xmlns:a16="http://schemas.microsoft.com/office/drawing/2014/main" id="{E7A0AEAC-C7F9-D321-D611-4F023575B5C3}"/>
              </a:ext>
            </a:extLst>
          </p:cNvPr>
          <p:cNvSpPr txBox="1"/>
          <p:nvPr/>
        </p:nvSpPr>
        <p:spPr>
          <a:xfrm>
            <a:off x="1938429" y="5970470"/>
            <a:ext cx="1585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/>
              <a:t>feature selection</a:t>
            </a:r>
          </a:p>
        </p:txBody>
      </p:sp>
      <p:pic>
        <p:nvPicPr>
          <p:cNvPr id="1197" name="Picture 1196">
            <a:extLst>
              <a:ext uri="{FF2B5EF4-FFF2-40B4-BE49-F238E27FC236}">
                <a16:creationId xmlns:a16="http://schemas.microsoft.com/office/drawing/2014/main" id="{6D14EA77-4117-7AED-A254-C576B38BAF0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48219" y="4940503"/>
            <a:ext cx="121931" cy="121931"/>
          </a:xfrm>
          <a:prstGeom prst="rect">
            <a:avLst/>
          </a:prstGeom>
        </p:spPr>
      </p:pic>
      <p:sp>
        <p:nvSpPr>
          <p:cNvPr id="1200" name="Right Arrow 1199">
            <a:extLst>
              <a:ext uri="{FF2B5EF4-FFF2-40B4-BE49-F238E27FC236}">
                <a16:creationId xmlns:a16="http://schemas.microsoft.com/office/drawing/2014/main" id="{C49CB74B-3D8B-5634-7188-3808E4F4C053}"/>
              </a:ext>
            </a:extLst>
          </p:cNvPr>
          <p:cNvSpPr/>
          <p:nvPr/>
        </p:nvSpPr>
        <p:spPr>
          <a:xfrm>
            <a:off x="3346726" y="5332906"/>
            <a:ext cx="391677" cy="21239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201" name="Left Brace 1200">
            <a:extLst>
              <a:ext uri="{FF2B5EF4-FFF2-40B4-BE49-F238E27FC236}">
                <a16:creationId xmlns:a16="http://schemas.microsoft.com/office/drawing/2014/main" id="{C32B1EEC-9CDC-A77A-E2DE-EBF3F04729EE}"/>
              </a:ext>
            </a:extLst>
          </p:cNvPr>
          <p:cNvSpPr/>
          <p:nvPr/>
        </p:nvSpPr>
        <p:spPr>
          <a:xfrm>
            <a:off x="3776000" y="5013719"/>
            <a:ext cx="164843" cy="92706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02" name="Rectangle 1201">
            <a:extLst>
              <a:ext uri="{FF2B5EF4-FFF2-40B4-BE49-F238E27FC236}">
                <a16:creationId xmlns:a16="http://schemas.microsoft.com/office/drawing/2014/main" id="{7848496D-7623-4ED4-B83B-91465F18C311}"/>
              </a:ext>
            </a:extLst>
          </p:cNvPr>
          <p:cNvSpPr/>
          <p:nvPr/>
        </p:nvSpPr>
        <p:spPr>
          <a:xfrm>
            <a:off x="3998779" y="5080793"/>
            <a:ext cx="18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3" name="TextBox 1202">
                <a:extLst>
                  <a:ext uri="{FF2B5EF4-FFF2-40B4-BE49-F238E27FC236}">
                    <a16:creationId xmlns:a16="http://schemas.microsoft.com/office/drawing/2014/main" id="{66C50031-B965-95C0-3377-826029950551}"/>
                  </a:ext>
                </a:extLst>
              </p:cNvPr>
              <p:cNvSpPr txBox="1"/>
              <p:nvPr/>
            </p:nvSpPr>
            <p:spPr>
              <a:xfrm>
                <a:off x="4138789" y="4990037"/>
                <a:ext cx="13876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600" dirty="0"/>
                  <a:t>Type 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/>
                  <a:t> &gt; 0)</a:t>
                </a:r>
              </a:p>
            </p:txBody>
          </p:sp>
        </mc:Choice>
        <mc:Fallback xmlns="">
          <p:sp>
            <p:nvSpPr>
              <p:cNvPr id="1203" name="TextBox 1202">
                <a:extLst>
                  <a:ext uri="{FF2B5EF4-FFF2-40B4-BE49-F238E27FC236}">
                    <a16:creationId xmlns:a16="http://schemas.microsoft.com/office/drawing/2014/main" id="{66C50031-B965-95C0-3377-826029950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789" y="4990037"/>
                <a:ext cx="1387688" cy="338554"/>
              </a:xfrm>
              <a:prstGeom prst="rect">
                <a:avLst/>
              </a:prstGeom>
              <a:blipFill>
                <a:blip r:embed="rId17"/>
                <a:stretch>
                  <a:fillRect l="-1802" t="-7407" r="-901" b="-2222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4" name="TextBox 1203">
            <a:extLst>
              <a:ext uri="{FF2B5EF4-FFF2-40B4-BE49-F238E27FC236}">
                <a16:creationId xmlns:a16="http://schemas.microsoft.com/office/drawing/2014/main" id="{50F7A153-CF70-F9E1-270D-10F510E86499}"/>
              </a:ext>
            </a:extLst>
          </p:cNvPr>
          <p:cNvSpPr txBox="1"/>
          <p:nvPr/>
        </p:nvSpPr>
        <p:spPr>
          <a:xfrm>
            <a:off x="3896206" y="5242036"/>
            <a:ext cx="16045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Decision-Difficult</a:t>
            </a:r>
            <a:endParaRPr lang="en-CN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05" name="Rectangle 1204">
            <a:extLst>
              <a:ext uri="{FF2B5EF4-FFF2-40B4-BE49-F238E27FC236}">
                <a16:creationId xmlns:a16="http://schemas.microsoft.com/office/drawing/2014/main" id="{94829E08-2ACA-78F9-38E9-C74A1BC599A8}"/>
              </a:ext>
            </a:extLst>
          </p:cNvPr>
          <p:cNvSpPr/>
          <p:nvPr/>
        </p:nvSpPr>
        <p:spPr>
          <a:xfrm>
            <a:off x="3998779" y="5583445"/>
            <a:ext cx="180000" cy="18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6" name="TextBox 1205">
                <a:extLst>
                  <a:ext uri="{FF2B5EF4-FFF2-40B4-BE49-F238E27FC236}">
                    <a16:creationId xmlns:a16="http://schemas.microsoft.com/office/drawing/2014/main" id="{74757DBE-B378-A244-864C-CEE9A67447E6}"/>
                  </a:ext>
                </a:extLst>
              </p:cNvPr>
              <p:cNvSpPr txBox="1"/>
              <p:nvPr/>
            </p:nvSpPr>
            <p:spPr>
              <a:xfrm>
                <a:off x="4138789" y="5492689"/>
                <a:ext cx="131234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600" dirty="0"/>
                  <a:t>Type I(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/>
                  <a:t> &lt; 0)</a:t>
                </a:r>
              </a:p>
            </p:txBody>
          </p:sp>
        </mc:Choice>
        <mc:Fallback xmlns="">
          <p:sp>
            <p:nvSpPr>
              <p:cNvPr id="1206" name="TextBox 1205">
                <a:extLst>
                  <a:ext uri="{FF2B5EF4-FFF2-40B4-BE49-F238E27FC236}">
                    <a16:creationId xmlns:a16="http://schemas.microsoft.com/office/drawing/2014/main" id="{74757DBE-B378-A244-864C-CEE9A6744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789" y="5492689"/>
                <a:ext cx="1312347" cy="338554"/>
              </a:xfrm>
              <a:prstGeom prst="rect">
                <a:avLst/>
              </a:prstGeom>
              <a:blipFill>
                <a:blip r:embed="rId18"/>
                <a:stretch>
                  <a:fillRect l="-1905" t="-3571" r="-952" b="-1785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7" name="TextBox 1206">
            <a:extLst>
              <a:ext uri="{FF2B5EF4-FFF2-40B4-BE49-F238E27FC236}">
                <a16:creationId xmlns:a16="http://schemas.microsoft.com/office/drawing/2014/main" id="{474A2DCB-6C74-D49B-5D75-CEF896947612}"/>
              </a:ext>
            </a:extLst>
          </p:cNvPr>
          <p:cNvSpPr txBox="1"/>
          <p:nvPr/>
        </p:nvSpPr>
        <p:spPr>
          <a:xfrm>
            <a:off x="3916386" y="5744688"/>
            <a:ext cx="16270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</a:rPr>
              <a:t>Information-Poor</a:t>
            </a:r>
            <a:endParaRPr lang="en-CN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08" name="Right Arrow 1207">
            <a:extLst>
              <a:ext uri="{FF2B5EF4-FFF2-40B4-BE49-F238E27FC236}">
                <a16:creationId xmlns:a16="http://schemas.microsoft.com/office/drawing/2014/main" id="{FD058C60-77ED-E748-7766-742BEE9F8A27}"/>
              </a:ext>
            </a:extLst>
          </p:cNvPr>
          <p:cNvSpPr/>
          <p:nvPr/>
        </p:nvSpPr>
        <p:spPr>
          <a:xfrm>
            <a:off x="5543591" y="5332906"/>
            <a:ext cx="271332" cy="212396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209" name="Rounded Rectangle 1208">
            <a:extLst>
              <a:ext uri="{FF2B5EF4-FFF2-40B4-BE49-F238E27FC236}">
                <a16:creationId xmlns:a16="http://schemas.microsoft.com/office/drawing/2014/main" id="{F9D39356-E7A0-6623-B2E0-40E80F7EAD3E}"/>
              </a:ext>
            </a:extLst>
          </p:cNvPr>
          <p:cNvSpPr/>
          <p:nvPr/>
        </p:nvSpPr>
        <p:spPr>
          <a:xfrm>
            <a:off x="5857460" y="5129226"/>
            <a:ext cx="1841330" cy="5723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0" name="TextBox 1209">
                <a:extLst>
                  <a:ext uri="{FF2B5EF4-FFF2-40B4-BE49-F238E27FC236}">
                    <a16:creationId xmlns:a16="http://schemas.microsoft.com/office/drawing/2014/main" id="{031A97C4-3CAB-91B3-EB91-3D7C1332F99D}"/>
                  </a:ext>
                </a:extLst>
              </p:cNvPr>
              <p:cNvSpPr txBox="1"/>
              <p:nvPr/>
            </p:nvSpPr>
            <p:spPr>
              <a:xfrm>
                <a:off x="5398818" y="5706655"/>
                <a:ext cx="2521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210" name="TextBox 1209">
                <a:extLst>
                  <a:ext uri="{FF2B5EF4-FFF2-40B4-BE49-F238E27FC236}">
                    <a16:creationId xmlns:a16="http://schemas.microsoft.com/office/drawing/2014/main" id="{031A97C4-3CAB-91B3-EB91-3D7C1332F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8818" y="5706655"/>
                <a:ext cx="2521459" cy="307777"/>
              </a:xfrm>
              <a:prstGeom prst="rect">
                <a:avLst/>
              </a:prstGeom>
              <a:blipFill>
                <a:blip r:embed="rId1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1" name="Rectangle 1210">
            <a:extLst>
              <a:ext uri="{FF2B5EF4-FFF2-40B4-BE49-F238E27FC236}">
                <a16:creationId xmlns:a16="http://schemas.microsoft.com/office/drawing/2014/main" id="{0AE75F92-0398-0CB6-F7A9-2878BD24113C}"/>
              </a:ext>
            </a:extLst>
          </p:cNvPr>
          <p:cNvSpPr/>
          <p:nvPr/>
        </p:nvSpPr>
        <p:spPr>
          <a:xfrm>
            <a:off x="176136" y="4890422"/>
            <a:ext cx="934357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212" name="Elbow Connector 1211">
            <a:extLst>
              <a:ext uri="{FF2B5EF4-FFF2-40B4-BE49-F238E27FC236}">
                <a16:creationId xmlns:a16="http://schemas.microsoft.com/office/drawing/2014/main" id="{90FA8FBD-A6D6-45CC-FDCB-34F647E3349F}"/>
              </a:ext>
            </a:extLst>
          </p:cNvPr>
          <p:cNvCxnSpPr>
            <a:cxnSpLocks/>
            <a:stCxn id="1143" idx="2"/>
            <a:endCxn id="1211" idx="0"/>
          </p:cNvCxnSpPr>
          <p:nvPr/>
        </p:nvCxnSpPr>
        <p:spPr>
          <a:xfrm rot="5400000">
            <a:off x="2372848" y="2034108"/>
            <a:ext cx="1126781" cy="4585846"/>
          </a:xfrm>
          <a:prstGeom prst="bentConnector3">
            <a:avLst>
              <a:gd name="adj1" fmla="val 5606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7" name="TextBox 1216">
                <a:extLst>
                  <a:ext uri="{FF2B5EF4-FFF2-40B4-BE49-F238E27FC236}">
                    <a16:creationId xmlns:a16="http://schemas.microsoft.com/office/drawing/2014/main" id="{6D8D4A24-F770-1CBC-572D-705F0C7C0E0F}"/>
                  </a:ext>
                </a:extLst>
              </p:cNvPr>
              <p:cNvSpPr txBox="1"/>
              <p:nvPr/>
            </p:nvSpPr>
            <p:spPr>
              <a:xfrm>
                <a:off x="1979702" y="4605152"/>
                <a:ext cx="33823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CN" sz="1200" dirty="0"/>
              </a:p>
            </p:txBody>
          </p:sp>
        </mc:Choice>
        <mc:Fallback xmlns="">
          <p:sp>
            <p:nvSpPr>
              <p:cNvPr id="1217" name="TextBox 1216">
                <a:extLst>
                  <a:ext uri="{FF2B5EF4-FFF2-40B4-BE49-F238E27FC236}">
                    <a16:creationId xmlns:a16="http://schemas.microsoft.com/office/drawing/2014/main" id="{6D8D4A24-F770-1CBC-572D-705F0C7C0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02" y="4605152"/>
                <a:ext cx="338233" cy="276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8" name="TextBox 1217">
            <a:extLst>
              <a:ext uri="{FF2B5EF4-FFF2-40B4-BE49-F238E27FC236}">
                <a16:creationId xmlns:a16="http://schemas.microsoft.com/office/drawing/2014/main" id="{8306FF84-3612-CC54-B763-5A5323010340}"/>
              </a:ext>
            </a:extLst>
          </p:cNvPr>
          <p:cNvSpPr txBox="1"/>
          <p:nvPr/>
        </p:nvSpPr>
        <p:spPr>
          <a:xfrm>
            <a:off x="2798695" y="5201023"/>
            <a:ext cx="635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feature</a:t>
            </a:r>
          </a:p>
        </p:txBody>
      </p:sp>
      <p:sp>
        <p:nvSpPr>
          <p:cNvPr id="1219" name="Left Brace 1218">
            <a:extLst>
              <a:ext uri="{FF2B5EF4-FFF2-40B4-BE49-F238E27FC236}">
                <a16:creationId xmlns:a16="http://schemas.microsoft.com/office/drawing/2014/main" id="{6B48AB0E-862A-0C23-D2DC-BE0939EF2AC4}"/>
              </a:ext>
            </a:extLst>
          </p:cNvPr>
          <p:cNvSpPr/>
          <p:nvPr/>
        </p:nvSpPr>
        <p:spPr>
          <a:xfrm rot="16200000">
            <a:off x="6001704" y="3806952"/>
            <a:ext cx="153824" cy="63446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6C272ECA-6F72-513F-E2D3-7C8EC6A7D49A}"/>
              </a:ext>
            </a:extLst>
          </p:cNvPr>
          <p:cNvSpPr txBox="1"/>
          <p:nvPr/>
        </p:nvSpPr>
        <p:spPr>
          <a:xfrm>
            <a:off x="5448717" y="4126310"/>
            <a:ext cx="129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</a:t>
            </a:r>
            <a:r>
              <a:rPr lang="en-CN" sz="1400" dirty="0"/>
              <a:t>eatures’ value</a:t>
            </a:r>
          </a:p>
        </p:txBody>
      </p:sp>
      <p:cxnSp>
        <p:nvCxnSpPr>
          <p:cNvPr id="1222" name="Straight Connector 1221">
            <a:extLst>
              <a:ext uri="{FF2B5EF4-FFF2-40B4-BE49-F238E27FC236}">
                <a16:creationId xmlns:a16="http://schemas.microsoft.com/office/drawing/2014/main" id="{677F2B8E-60AE-BDF9-63B2-D5A9CE2257BD}"/>
              </a:ext>
            </a:extLst>
          </p:cNvPr>
          <p:cNvCxnSpPr/>
          <p:nvPr/>
        </p:nvCxnSpPr>
        <p:spPr>
          <a:xfrm>
            <a:off x="2174927" y="5247120"/>
            <a:ext cx="838203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3" name="Straight Connector 1222">
            <a:extLst>
              <a:ext uri="{FF2B5EF4-FFF2-40B4-BE49-F238E27FC236}">
                <a16:creationId xmlns:a16="http://schemas.microsoft.com/office/drawing/2014/main" id="{C9E7D5BB-4246-EBA0-5420-DE9592C27B22}"/>
              </a:ext>
            </a:extLst>
          </p:cNvPr>
          <p:cNvCxnSpPr/>
          <p:nvPr/>
        </p:nvCxnSpPr>
        <p:spPr>
          <a:xfrm>
            <a:off x="2192916" y="5610770"/>
            <a:ext cx="838203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4" name="TextBox 1223">
                <a:extLst>
                  <a:ext uri="{FF2B5EF4-FFF2-40B4-BE49-F238E27FC236}">
                    <a16:creationId xmlns:a16="http://schemas.microsoft.com/office/drawing/2014/main" id="{0A31F5D3-E7C3-ACDB-7EE3-27A66CF93A0B}"/>
                  </a:ext>
                </a:extLst>
              </p:cNvPr>
              <p:cNvSpPr txBox="1"/>
              <p:nvPr/>
            </p:nvSpPr>
            <p:spPr>
              <a:xfrm>
                <a:off x="2006074" y="5127727"/>
                <a:ext cx="14632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224" name="TextBox 1223">
                <a:extLst>
                  <a:ext uri="{FF2B5EF4-FFF2-40B4-BE49-F238E27FC236}">
                    <a16:creationId xmlns:a16="http://schemas.microsoft.com/office/drawing/2014/main" id="{0A31F5D3-E7C3-ACDB-7EE3-27A66CF93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074" y="5127727"/>
                <a:ext cx="146322" cy="215444"/>
              </a:xfrm>
              <a:prstGeom prst="rect">
                <a:avLst/>
              </a:prstGeom>
              <a:blipFill>
                <a:blip r:embed="rId21"/>
                <a:stretch>
                  <a:fillRect l="-23077" r="-23077" b="-555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5" name="TextBox 1224">
                <a:extLst>
                  <a:ext uri="{FF2B5EF4-FFF2-40B4-BE49-F238E27FC236}">
                    <a16:creationId xmlns:a16="http://schemas.microsoft.com/office/drawing/2014/main" id="{92C5B3E3-8DBC-1863-0134-130271384AA9}"/>
                  </a:ext>
                </a:extLst>
              </p:cNvPr>
              <p:cNvSpPr txBox="1"/>
              <p:nvPr/>
            </p:nvSpPr>
            <p:spPr>
              <a:xfrm>
                <a:off x="1877136" y="5485782"/>
                <a:ext cx="28097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CN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225" name="TextBox 1224">
                <a:extLst>
                  <a:ext uri="{FF2B5EF4-FFF2-40B4-BE49-F238E27FC236}">
                    <a16:creationId xmlns:a16="http://schemas.microsoft.com/office/drawing/2014/main" id="{92C5B3E3-8DBC-1863-0134-130271384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136" y="5485782"/>
                <a:ext cx="280974" cy="215444"/>
              </a:xfrm>
              <a:prstGeom prst="rect">
                <a:avLst/>
              </a:prstGeom>
              <a:blipFill>
                <a:blip r:embed="rId22"/>
                <a:stretch>
                  <a:fillRect r="-13043" b="-1176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30" name="Picture 1229">
            <a:extLst>
              <a:ext uri="{FF2B5EF4-FFF2-40B4-BE49-F238E27FC236}">
                <a16:creationId xmlns:a16="http://schemas.microsoft.com/office/drawing/2014/main" id="{1A516D58-A8FB-2C77-163E-517E422B48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07080" y="5861272"/>
            <a:ext cx="121931" cy="121931"/>
          </a:xfrm>
          <a:prstGeom prst="rect">
            <a:avLst/>
          </a:prstGeom>
        </p:spPr>
      </p:pic>
      <p:pic>
        <p:nvPicPr>
          <p:cNvPr id="1233" name="Picture 1232">
            <a:extLst>
              <a:ext uri="{FF2B5EF4-FFF2-40B4-BE49-F238E27FC236}">
                <a16:creationId xmlns:a16="http://schemas.microsoft.com/office/drawing/2014/main" id="{4AABBBCB-DBAC-B5EC-65D4-041E9CDE5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021" y="5226834"/>
            <a:ext cx="405960" cy="405960"/>
          </a:xfrm>
          <a:prstGeom prst="rect">
            <a:avLst/>
          </a:prstGeom>
        </p:spPr>
      </p:pic>
      <p:sp>
        <p:nvSpPr>
          <p:cNvPr id="1234" name="TextBox 1233">
            <a:extLst>
              <a:ext uri="{FF2B5EF4-FFF2-40B4-BE49-F238E27FC236}">
                <a16:creationId xmlns:a16="http://schemas.microsoft.com/office/drawing/2014/main" id="{141EE97E-1052-7BA5-8D00-D104667A705C}"/>
              </a:ext>
            </a:extLst>
          </p:cNvPr>
          <p:cNvSpPr txBox="1"/>
          <p:nvPr/>
        </p:nvSpPr>
        <p:spPr>
          <a:xfrm>
            <a:off x="6213784" y="5252250"/>
            <a:ext cx="1573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800" dirty="0">
                <a:solidFill>
                  <a:schemeClr val="tx1"/>
                </a:solidFill>
              </a:rPr>
              <a:t>Deployed Gate</a:t>
            </a:r>
          </a:p>
        </p:txBody>
      </p:sp>
      <p:sp>
        <p:nvSpPr>
          <p:cNvPr id="1243" name="Rectangular Callout 1242">
            <a:extLst>
              <a:ext uri="{FF2B5EF4-FFF2-40B4-BE49-F238E27FC236}">
                <a16:creationId xmlns:a16="http://schemas.microsoft.com/office/drawing/2014/main" id="{A83E2399-1944-3940-7C38-CD9F92A55135}"/>
              </a:ext>
            </a:extLst>
          </p:cNvPr>
          <p:cNvSpPr/>
          <p:nvPr/>
        </p:nvSpPr>
        <p:spPr>
          <a:xfrm>
            <a:off x="5579348" y="650816"/>
            <a:ext cx="2026409" cy="1003544"/>
          </a:xfrm>
          <a:prstGeom prst="wedgeRectCallout">
            <a:avLst>
              <a:gd name="adj1" fmla="val -52555"/>
              <a:gd name="adj2" fmla="val 39308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44" name="Rectangular Callout 1243">
            <a:extLst>
              <a:ext uri="{FF2B5EF4-FFF2-40B4-BE49-F238E27FC236}">
                <a16:creationId xmlns:a16="http://schemas.microsoft.com/office/drawing/2014/main" id="{44F08423-E355-5D5F-D796-0DE661084ECF}"/>
              </a:ext>
            </a:extLst>
          </p:cNvPr>
          <p:cNvSpPr/>
          <p:nvPr/>
        </p:nvSpPr>
        <p:spPr>
          <a:xfrm>
            <a:off x="5567241" y="2738647"/>
            <a:ext cx="2032390" cy="983070"/>
          </a:xfrm>
          <a:prstGeom prst="wedgeRectCallout">
            <a:avLst>
              <a:gd name="adj1" fmla="val -52555"/>
              <a:gd name="adj2" fmla="val 38233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45" name="TextBox 1244">
            <a:extLst>
              <a:ext uri="{FF2B5EF4-FFF2-40B4-BE49-F238E27FC236}">
                <a16:creationId xmlns:a16="http://schemas.microsoft.com/office/drawing/2014/main" id="{4AD52218-B052-8015-75F7-2BEB0BF59340}"/>
              </a:ext>
            </a:extLst>
          </p:cNvPr>
          <p:cNvSpPr txBox="1"/>
          <p:nvPr/>
        </p:nvSpPr>
        <p:spPr>
          <a:xfrm>
            <a:off x="5521669" y="2682382"/>
            <a:ext cx="213860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[entropy=0.043, step=3, </a:t>
            </a:r>
            <a:r>
              <a:rPr lang="en-US" sz="1050" dirty="0" err="1"/>
              <a:t>action_ent</a:t>
            </a:r>
            <a:r>
              <a:rPr lang="en-US" sz="1050" dirty="0"/>
              <a:t>=2.31, </a:t>
            </a:r>
            <a:r>
              <a:rPr lang="en-US" sz="1050" dirty="0" err="1"/>
              <a:t>state_len</a:t>
            </a:r>
            <a:r>
              <a:rPr lang="en-US" sz="1050" dirty="0"/>
              <a:t>=412, </a:t>
            </a:r>
            <a:r>
              <a:rPr lang="en-US" sz="1050" dirty="0" err="1"/>
              <a:t>num_avail_actions</a:t>
            </a:r>
            <a:r>
              <a:rPr lang="en-US" sz="1050" dirty="0"/>
              <a:t>=12, </a:t>
            </a:r>
            <a:r>
              <a:rPr lang="en-US" altLang="zh-CN" sz="1050" dirty="0"/>
              <a:t>-0.44</a:t>
            </a:r>
            <a:r>
              <a:rPr lang="en-US" sz="1050" dirty="0"/>
              <a:t>], [entropy=0.012, step=5, </a:t>
            </a:r>
            <a:r>
              <a:rPr lang="en-US" sz="1050" dirty="0" err="1"/>
              <a:t>action_ent</a:t>
            </a:r>
            <a:r>
              <a:rPr lang="en-US" sz="1050" dirty="0"/>
              <a:t>=0.69, </a:t>
            </a:r>
            <a:r>
              <a:rPr lang="en-US" sz="1050" dirty="0" err="1"/>
              <a:t>state_len</a:t>
            </a:r>
            <a:r>
              <a:rPr lang="en-US" sz="1050" dirty="0"/>
              <a:t>=198, </a:t>
            </a:r>
            <a:r>
              <a:rPr lang="en-US" sz="1050" dirty="0" err="1"/>
              <a:t>num_avail_actions</a:t>
            </a:r>
            <a:r>
              <a:rPr lang="en-US" sz="1050" dirty="0"/>
              <a:t>=2, </a:t>
            </a:r>
            <a:r>
              <a:rPr lang="en-US" altLang="zh-CN" sz="1050" dirty="0">
                <a:effectLst/>
              </a:rPr>
              <a:t>0.68</a:t>
            </a:r>
            <a:r>
              <a:rPr lang="en-US" sz="1050" dirty="0"/>
              <a:t>] </a:t>
            </a:r>
            <a:endParaRPr lang="en-CN" sz="1050" dirty="0"/>
          </a:p>
        </p:txBody>
      </p:sp>
      <p:sp>
        <p:nvSpPr>
          <p:cNvPr id="1246" name="TextBox 1245">
            <a:extLst>
              <a:ext uri="{FF2B5EF4-FFF2-40B4-BE49-F238E27FC236}">
                <a16:creationId xmlns:a16="http://schemas.microsoft.com/office/drawing/2014/main" id="{C1AFAB43-00BA-043F-1D79-0E538EC39852}"/>
              </a:ext>
            </a:extLst>
          </p:cNvPr>
          <p:cNvSpPr txBox="1"/>
          <p:nvPr/>
        </p:nvSpPr>
        <p:spPr>
          <a:xfrm>
            <a:off x="5526477" y="771863"/>
            <a:ext cx="2208266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[</a:t>
            </a:r>
            <a:r>
              <a:rPr lang="en-US" sz="1050" dirty="0" err="1"/>
              <a:t>state_text</a:t>
            </a:r>
            <a:r>
              <a:rPr lang="en-US" sz="1050" dirty="0"/>
              <a:t>: </a:t>
            </a:r>
            <a:r>
              <a:rPr lang="en-US" sz="1050" dirty="0">
                <a:effectLst/>
              </a:rPr>
              <a:t>Results Page (Page 1/5) [B07XYZ1] Nike Running Shoes Red Mesh.$85.00. Size 9 ... $72.00. (45 more)</a:t>
            </a:r>
            <a:r>
              <a:rPr lang="en-US" sz="1050" dirty="0"/>
              <a:t>, </a:t>
            </a:r>
            <a:r>
              <a:rPr lang="en-US" sz="1050" dirty="0">
                <a:effectLst/>
              </a:rPr>
              <a:t>action:[Next] [</a:t>
            </a:r>
            <a:r>
              <a:rPr lang="en-US" sz="1050" dirty="0" err="1">
                <a:effectLst/>
              </a:rPr>
              <a:t>Prev</a:t>
            </a:r>
            <a:r>
              <a:rPr lang="en-US" sz="1050" dirty="0">
                <a:effectLst/>
              </a:rPr>
              <a:t>] [Back to Search]”, </a:t>
            </a:r>
            <a:r>
              <a:rPr lang="en-US" altLang="zh-CN" sz="1050" dirty="0">
                <a:effectLst/>
              </a:rPr>
              <a:t>0.68</a:t>
            </a:r>
            <a:r>
              <a:rPr lang="en-US" sz="1050" dirty="0"/>
              <a:t>]</a:t>
            </a:r>
            <a:endParaRPr lang="en-CN" sz="1050" dirty="0"/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1A5F06A2-2F00-D01F-8DDB-C8A4595B214E}"/>
              </a:ext>
            </a:extLst>
          </p:cNvPr>
          <p:cNvSpPr txBox="1"/>
          <p:nvPr/>
        </p:nvSpPr>
        <p:spPr>
          <a:xfrm>
            <a:off x="5537203" y="607369"/>
            <a:ext cx="12025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050" dirty="0"/>
              <a:t>Webshop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03A486-5D74-1895-0517-3358CCA974F6}"/>
                  </a:ext>
                </a:extLst>
              </p:cNvPr>
              <p:cNvSpPr txBox="1"/>
              <p:nvPr/>
            </p:nvSpPr>
            <p:spPr>
              <a:xfrm>
                <a:off x="4383078" y="3310977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03A486-5D74-1895-0517-3358CCA97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078" y="3310977"/>
                <a:ext cx="253274" cy="276999"/>
              </a:xfrm>
              <a:prstGeom prst="rect">
                <a:avLst/>
              </a:prstGeom>
              <a:blipFill>
                <a:blip r:embed="rId23"/>
                <a:stretch>
                  <a:fillRect l="-28571" r="-23810" b="-2173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5763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151D3C4-C5D8-2AEC-909D-64E349D2BBFA}"/>
              </a:ext>
            </a:extLst>
          </p:cNvPr>
          <p:cNvSpPr/>
          <p:nvPr/>
        </p:nvSpPr>
        <p:spPr>
          <a:xfrm>
            <a:off x="1525224" y="4639065"/>
            <a:ext cx="7716853" cy="2028435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1A0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969C00-03CC-AD2F-A5E1-D2C2E5992299}"/>
              </a:ext>
            </a:extLst>
          </p:cNvPr>
          <p:cNvSpPr/>
          <p:nvPr/>
        </p:nvSpPr>
        <p:spPr>
          <a:xfrm>
            <a:off x="1525224" y="2639097"/>
            <a:ext cx="7716853" cy="1866877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785FE42-F079-B677-CB81-582DB73F66FC}"/>
              </a:ext>
            </a:extLst>
          </p:cNvPr>
          <p:cNvSpPr/>
          <p:nvPr/>
        </p:nvSpPr>
        <p:spPr>
          <a:xfrm>
            <a:off x="1525225" y="395859"/>
            <a:ext cx="7716853" cy="2128980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64B08C-DD94-488D-F4BB-BDBB27B93E19}"/>
              </a:ext>
            </a:extLst>
          </p:cNvPr>
          <p:cNvGrpSpPr/>
          <p:nvPr/>
        </p:nvGrpSpPr>
        <p:grpSpPr>
          <a:xfrm>
            <a:off x="3095248" y="917611"/>
            <a:ext cx="1803972" cy="496080"/>
            <a:chOff x="4350760" y="1760010"/>
            <a:chExt cx="1803972" cy="496080"/>
          </a:xfrm>
          <a:effectLst/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6CF48A5-7BD4-6543-BB1D-F0A04E6CCB0C}"/>
                </a:ext>
              </a:extLst>
            </p:cNvPr>
            <p:cNvSpPr/>
            <p:nvPr/>
          </p:nvSpPr>
          <p:spPr>
            <a:xfrm>
              <a:off x="4350760" y="1760010"/>
              <a:ext cx="1803972" cy="496080"/>
            </a:xfrm>
            <a:prstGeom prst="roundRect">
              <a:avLst/>
            </a:prstGeom>
            <a:solidFill>
              <a:srgbClr val="BCCFE8"/>
            </a:solidFill>
            <a:ln w="19050">
              <a:solidFill>
                <a:srgbClr val="8AB0D7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E53B38E-F597-3930-A940-C794D9C4D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2418" y="1813044"/>
              <a:ext cx="405960" cy="405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F4669A2-030F-0489-9344-A591AF1DDF8C}"/>
                    </a:ext>
                  </a:extLst>
                </p:cNvPr>
                <p:cNvSpPr txBox="1"/>
                <p:nvPr/>
              </p:nvSpPr>
              <p:spPr>
                <a:xfrm>
                  <a:off x="4855342" y="1819828"/>
                  <a:ext cx="1200650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N" sz="1400" dirty="0">
                      <a:latin typeface="Comic Sans MS" panose="030F0902030302020204" pitchFamily="66" charset="0"/>
                    </a:rPr>
                    <a:t>Optimizer</a:t>
                  </a:r>
                  <a:r>
                    <a:rPr lang="en-CN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CN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F4669A2-030F-0489-9344-A591AF1DDF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55342" y="1819828"/>
                  <a:ext cx="1200650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2105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F5411ED-DA3C-AD40-26CC-6CE6A319A745}"/>
              </a:ext>
            </a:extLst>
          </p:cNvPr>
          <p:cNvGrpSpPr/>
          <p:nvPr/>
        </p:nvGrpSpPr>
        <p:grpSpPr>
          <a:xfrm>
            <a:off x="3095248" y="1808022"/>
            <a:ext cx="1803972" cy="485206"/>
            <a:chOff x="9350664" y="2343215"/>
            <a:chExt cx="1803972" cy="48520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DF11E9E-C2BA-E891-1AA7-11D233E45660}"/>
                </a:ext>
              </a:extLst>
            </p:cNvPr>
            <p:cNvGrpSpPr/>
            <p:nvPr/>
          </p:nvGrpSpPr>
          <p:grpSpPr>
            <a:xfrm>
              <a:off x="9350664" y="2343215"/>
              <a:ext cx="1803972" cy="485206"/>
              <a:chOff x="4350760" y="1770884"/>
              <a:chExt cx="1803972" cy="485206"/>
            </a:xfrm>
          </p:grpSpPr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7EFB73E0-75D1-D693-0E18-CF0F7337305F}"/>
                  </a:ext>
                </a:extLst>
              </p:cNvPr>
              <p:cNvSpPr/>
              <p:nvPr/>
            </p:nvSpPr>
            <p:spPr>
              <a:xfrm>
                <a:off x="4350760" y="1770884"/>
                <a:ext cx="1803972" cy="485206"/>
              </a:xfrm>
              <a:prstGeom prst="roundRect">
                <a:avLst/>
              </a:prstGeom>
              <a:solidFill>
                <a:srgbClr val="BCCFE8"/>
              </a:solidFill>
              <a:ln w="19050">
                <a:solidFill>
                  <a:srgbClr val="8AB0D7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841BBCD-2380-8EDC-AB79-37FEB5A3B249}"/>
                      </a:ext>
                    </a:extLst>
                  </p:cNvPr>
                  <p:cNvSpPr txBox="1"/>
                  <p:nvPr/>
                </p:nvSpPr>
                <p:spPr>
                  <a:xfrm>
                    <a:off x="4836190" y="1824883"/>
                    <a:ext cx="12956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Comic Sans MS" panose="030F0902030302020204" pitchFamily="66" charset="0"/>
                      </a:rPr>
                      <a:t>Base Policy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a14:m>
                    <a:endParaRPr lang="en-CN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841BBCD-2380-8EDC-AB79-37FEB5A3B2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6190" y="1824883"/>
                    <a:ext cx="129567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97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874B5FC-23AB-1720-B242-1A5ACDB03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16461" y="2352640"/>
              <a:ext cx="452689" cy="45268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421E97-22ED-9033-0E14-5702DE0CE5F4}"/>
                  </a:ext>
                </a:extLst>
              </p:cNvPr>
              <p:cNvSpPr txBox="1"/>
              <p:nvPr/>
            </p:nvSpPr>
            <p:spPr>
              <a:xfrm>
                <a:off x="4826915" y="744132"/>
                <a:ext cx="1063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3421E97-22ED-9033-0E14-5702DE0CE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915" y="744132"/>
                <a:ext cx="106330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76FC169-B85D-E5EF-E3EE-DCC2C9D90661}"/>
                  </a:ext>
                </a:extLst>
              </p:cNvPr>
              <p:cNvSpPr txBox="1"/>
              <p:nvPr/>
            </p:nvSpPr>
            <p:spPr>
              <a:xfrm>
                <a:off x="4870051" y="2002522"/>
                <a:ext cx="1063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76FC169-B85D-E5EF-E3EE-DCC2C9D90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051" y="2002522"/>
                <a:ext cx="106330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F895F966-FCB8-AFA9-E5D2-C0C758F494DC}"/>
              </a:ext>
            </a:extLst>
          </p:cNvPr>
          <p:cNvSpPr txBox="1"/>
          <p:nvPr/>
        </p:nvSpPr>
        <p:spPr>
          <a:xfrm>
            <a:off x="1544421" y="3916041"/>
            <a:ext cx="1058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mic Sans MS" panose="030F0902030302020204" pitchFamily="66" charset="0"/>
              </a:rPr>
              <a:t>state text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36737B9-0C72-74D8-56A7-AB035AAD10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1734" y="3412785"/>
            <a:ext cx="452689" cy="4526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A5FA87D-507B-D5E5-2F67-8EC73D89C880}"/>
              </a:ext>
            </a:extLst>
          </p:cNvPr>
          <p:cNvGrpSpPr/>
          <p:nvPr/>
        </p:nvGrpSpPr>
        <p:grpSpPr>
          <a:xfrm>
            <a:off x="2895777" y="3075201"/>
            <a:ext cx="2517132" cy="502731"/>
            <a:chOff x="3576745" y="3431318"/>
            <a:chExt cx="2517132" cy="502731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BFF5082-503A-089F-ECEB-76AC8174B4D4}"/>
                </a:ext>
              </a:extLst>
            </p:cNvPr>
            <p:cNvGrpSpPr/>
            <p:nvPr/>
          </p:nvGrpSpPr>
          <p:grpSpPr>
            <a:xfrm>
              <a:off x="3576745" y="3431318"/>
              <a:ext cx="2517132" cy="502731"/>
              <a:chOff x="4350759" y="1753359"/>
              <a:chExt cx="2517132" cy="502731"/>
            </a:xfrm>
          </p:grpSpPr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337025D2-6449-46CE-7FB8-25FE8B4161D8}"/>
                  </a:ext>
                </a:extLst>
              </p:cNvPr>
              <p:cNvSpPr/>
              <p:nvPr/>
            </p:nvSpPr>
            <p:spPr>
              <a:xfrm>
                <a:off x="4350759" y="1753359"/>
                <a:ext cx="2517132" cy="502731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D93A51F-FF32-CA62-ED2E-08BC511999B4}"/>
                  </a:ext>
                </a:extLst>
              </p:cNvPr>
              <p:cNvSpPr txBox="1"/>
              <p:nvPr/>
            </p:nvSpPr>
            <p:spPr>
              <a:xfrm>
                <a:off x="4773939" y="1774485"/>
                <a:ext cx="1675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Universal Feature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990CB3F-0BA8-F7D2-4176-92550B60C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640838" y="3493389"/>
              <a:ext cx="397541" cy="39754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7C695B3-A8B6-70D3-42E0-4B0F6E931998}"/>
                </a:ext>
              </a:extLst>
            </p:cNvPr>
            <p:cNvSpPr txBox="1"/>
            <p:nvPr/>
          </p:nvSpPr>
          <p:spPr>
            <a:xfrm>
              <a:off x="3997921" y="3656446"/>
              <a:ext cx="192943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entropy, state text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442D2A4-98DC-8EE5-8F30-5A2D4DDEF870}"/>
              </a:ext>
            </a:extLst>
          </p:cNvPr>
          <p:cNvGrpSpPr/>
          <p:nvPr/>
        </p:nvGrpSpPr>
        <p:grpSpPr>
          <a:xfrm>
            <a:off x="2883421" y="3783743"/>
            <a:ext cx="2547079" cy="495387"/>
            <a:chOff x="3576745" y="3438662"/>
            <a:chExt cx="2547079" cy="495387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CA7EE22-E3DE-274A-8437-639D0B329561}"/>
                </a:ext>
              </a:extLst>
            </p:cNvPr>
            <p:cNvGrpSpPr/>
            <p:nvPr/>
          </p:nvGrpSpPr>
          <p:grpSpPr>
            <a:xfrm>
              <a:off x="3576745" y="3438662"/>
              <a:ext cx="2547079" cy="495387"/>
              <a:chOff x="4350759" y="1760703"/>
              <a:chExt cx="2547079" cy="495387"/>
            </a:xfrm>
          </p:grpSpPr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22F2F380-EFA1-F817-CC48-2B004E792D1B}"/>
                  </a:ext>
                </a:extLst>
              </p:cNvPr>
              <p:cNvSpPr/>
              <p:nvPr/>
            </p:nvSpPr>
            <p:spPr>
              <a:xfrm>
                <a:off x="4350759" y="1760703"/>
                <a:ext cx="2529488" cy="495387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4D71CB2-F7F2-E8A9-2F17-D5B421D97074}"/>
                  </a:ext>
                </a:extLst>
              </p:cNvPr>
              <p:cNvSpPr txBox="1"/>
              <p:nvPr/>
            </p:nvSpPr>
            <p:spPr>
              <a:xfrm>
                <a:off x="4771935" y="1765645"/>
                <a:ext cx="21259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LLM Reasoning Feature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52324F5-5E32-A8A6-71EB-B3A079FABA04}"/>
                </a:ext>
              </a:extLst>
            </p:cNvPr>
            <p:cNvSpPr txBox="1"/>
            <p:nvPr/>
          </p:nvSpPr>
          <p:spPr>
            <a:xfrm>
              <a:off x="3997921" y="3656446"/>
              <a:ext cx="19552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action type, action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A1734C2F-C2E9-97F7-730F-157DF6B2616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2005" y="3851995"/>
            <a:ext cx="347720" cy="3477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F5F8B58-F3AE-C27C-1361-B41C00689FB1}"/>
                  </a:ext>
                </a:extLst>
              </p:cNvPr>
              <p:cNvSpPr txBox="1"/>
              <p:nvPr/>
            </p:nvSpPr>
            <p:spPr>
              <a:xfrm>
                <a:off x="6575447" y="3864648"/>
                <a:ext cx="26262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F5F8B58-F3AE-C27C-1361-B41C00689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447" y="3864648"/>
                <a:ext cx="2626296" cy="307777"/>
              </a:xfrm>
              <a:prstGeom prst="rect">
                <a:avLst/>
              </a:prstGeom>
              <a:blipFill>
                <a:blip r:embed="rId1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ight Arrow 55">
            <a:extLst>
              <a:ext uri="{FF2B5EF4-FFF2-40B4-BE49-F238E27FC236}">
                <a16:creationId xmlns:a16="http://schemas.microsoft.com/office/drawing/2014/main" id="{97158946-5DFA-59B7-80DD-3ECC624982D7}"/>
              </a:ext>
            </a:extLst>
          </p:cNvPr>
          <p:cNvSpPr/>
          <p:nvPr/>
        </p:nvSpPr>
        <p:spPr>
          <a:xfrm>
            <a:off x="2924359" y="5633214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EA8118F6-2A51-6D1D-1A61-BA2C927D630D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2304423" y="3334071"/>
            <a:ext cx="575613" cy="305059"/>
          </a:xfrm>
          <a:prstGeom prst="bentConnector3">
            <a:avLst>
              <a:gd name="adj1" fmla="val 50000"/>
            </a:avLst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6F424F12-053C-7C19-9865-8FF1644024F8}"/>
              </a:ext>
            </a:extLst>
          </p:cNvPr>
          <p:cNvCxnSpPr>
            <a:cxnSpLocks/>
            <a:stCxn id="28" idx="3"/>
            <a:endCxn id="38" idx="1"/>
          </p:cNvCxnSpPr>
          <p:nvPr/>
        </p:nvCxnSpPr>
        <p:spPr>
          <a:xfrm>
            <a:off x="2304423" y="3639130"/>
            <a:ext cx="578998" cy="392307"/>
          </a:xfrm>
          <a:prstGeom prst="bentConnector3">
            <a:avLst>
              <a:gd name="adj1" fmla="val 50000"/>
            </a:avLst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61">
            <a:extLst>
              <a:ext uri="{FF2B5EF4-FFF2-40B4-BE49-F238E27FC236}">
                <a16:creationId xmlns:a16="http://schemas.microsoft.com/office/drawing/2014/main" id="{1B0F1BBF-6D5D-8BEF-C0F2-480E5BD5E9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2362" y="1259295"/>
            <a:ext cx="646836" cy="64683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E275FEE9-D610-F292-F2EB-2B816F96EC62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49981" y="3347666"/>
            <a:ext cx="646836" cy="646836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7AA137C7-9854-653E-A025-1BF4EA45C52A}"/>
              </a:ext>
            </a:extLst>
          </p:cNvPr>
          <p:cNvSpPr txBox="1"/>
          <p:nvPr/>
        </p:nvSpPr>
        <p:spPr>
          <a:xfrm>
            <a:off x="2111086" y="420595"/>
            <a:ext cx="40446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Explore: Signal-Agnostic Data Collection</a:t>
            </a:r>
            <a:endParaRPr lang="en-CN" sz="1600" dirty="0">
              <a:solidFill>
                <a:srgbClr val="1B4773"/>
              </a:solidFill>
              <a:latin typeface="Comic Sans MS" panose="030F0902030302020204" pitchFamily="66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64472F4-91AF-BCA4-50D1-CF04076D3538}"/>
              </a:ext>
            </a:extLst>
          </p:cNvPr>
          <p:cNvSpPr txBox="1"/>
          <p:nvPr/>
        </p:nvSpPr>
        <p:spPr>
          <a:xfrm>
            <a:off x="2196544" y="2679024"/>
            <a:ext cx="38443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Reason: Feature Extraction &amp; Merging</a:t>
            </a:r>
            <a:endParaRPr lang="en-CN" sz="1600" dirty="0">
              <a:solidFill>
                <a:srgbClr val="225532"/>
              </a:solidFill>
              <a:latin typeface="Comic Sans MS" panose="030F0902030302020204" pitchFamily="66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1A66AB-87B0-B6B3-789C-2E72342C440C}"/>
              </a:ext>
            </a:extLst>
          </p:cNvPr>
          <p:cNvSpPr txBox="1"/>
          <p:nvPr/>
        </p:nvSpPr>
        <p:spPr>
          <a:xfrm>
            <a:off x="2196544" y="4678143"/>
            <a:ext cx="47067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A93B31"/>
                </a:solidFill>
                <a:latin typeface="Comic Sans MS" panose="030F0902030302020204" pitchFamily="66" charset="0"/>
              </a:rPr>
              <a:t>Learn: Feature Selection &amp; Direction Discovery</a:t>
            </a:r>
            <a:endParaRPr lang="en-CN" sz="1600" dirty="0">
              <a:solidFill>
                <a:srgbClr val="A93B31"/>
              </a:solidFill>
              <a:latin typeface="Comic Sans MS" panose="030F0902030302020204" pitchFamily="66" charset="0"/>
            </a:endParaRPr>
          </a:p>
        </p:txBody>
      </p:sp>
      <p:sp>
        <p:nvSpPr>
          <p:cNvPr id="91" name="Left Brace 90">
            <a:extLst>
              <a:ext uri="{FF2B5EF4-FFF2-40B4-BE49-F238E27FC236}">
                <a16:creationId xmlns:a16="http://schemas.microsoft.com/office/drawing/2014/main" id="{ED9B5CDA-D5DC-C4A0-4EEC-6BBA1ECF7A4B}"/>
              </a:ext>
            </a:extLst>
          </p:cNvPr>
          <p:cNvSpPr/>
          <p:nvPr/>
        </p:nvSpPr>
        <p:spPr>
          <a:xfrm rot="16200000">
            <a:off x="7415834" y="3906539"/>
            <a:ext cx="153824" cy="63446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169F03B-E759-B058-9626-FB63DE710CC0}"/>
              </a:ext>
            </a:extLst>
          </p:cNvPr>
          <p:cNvSpPr txBox="1"/>
          <p:nvPr/>
        </p:nvSpPr>
        <p:spPr>
          <a:xfrm>
            <a:off x="6901196" y="4229767"/>
            <a:ext cx="129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</a:t>
            </a:r>
            <a:r>
              <a:rPr lang="en-CN" sz="1400" dirty="0"/>
              <a:t>eatures’ value</a:t>
            </a: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39EEC12B-DDC7-F60A-1E33-9E6584EBD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169" y="5094174"/>
            <a:ext cx="405960" cy="405960"/>
          </a:xfrm>
          <a:prstGeom prst="rect">
            <a:avLst/>
          </a:prstGeom>
        </p:spPr>
      </p:pic>
      <p:sp>
        <p:nvSpPr>
          <p:cNvPr id="108" name="Oval 107">
            <a:extLst>
              <a:ext uri="{FF2B5EF4-FFF2-40B4-BE49-F238E27FC236}">
                <a16:creationId xmlns:a16="http://schemas.microsoft.com/office/drawing/2014/main" id="{87916DA4-3F30-AA6A-F8B5-A7ED6B79E3AA}"/>
              </a:ext>
            </a:extLst>
          </p:cNvPr>
          <p:cNvSpPr/>
          <p:nvPr/>
        </p:nvSpPr>
        <p:spPr>
          <a:xfrm>
            <a:off x="1742216" y="433474"/>
            <a:ext cx="337842" cy="337842"/>
          </a:xfrm>
          <a:prstGeom prst="ellipse">
            <a:avLst/>
          </a:prstGeom>
          <a:solidFill>
            <a:srgbClr val="8AB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ounded Rectangle 108">
            <a:extLst>
              <a:ext uri="{FF2B5EF4-FFF2-40B4-BE49-F238E27FC236}">
                <a16:creationId xmlns:a16="http://schemas.microsoft.com/office/drawing/2014/main" id="{69688EB3-A521-6100-548A-15B5403C12D5}"/>
              </a:ext>
            </a:extLst>
          </p:cNvPr>
          <p:cNvSpPr/>
          <p:nvPr/>
        </p:nvSpPr>
        <p:spPr>
          <a:xfrm>
            <a:off x="1792918" y="841601"/>
            <a:ext cx="977333" cy="1542679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C69DBF-1C54-D427-D172-FB1A302341F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57444" y="879277"/>
            <a:ext cx="461363" cy="4613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80105B-62A9-151E-689A-102C14E2262E}"/>
              </a:ext>
            </a:extLst>
          </p:cNvPr>
          <p:cNvSpPr txBox="1"/>
          <p:nvPr/>
        </p:nvSpPr>
        <p:spPr>
          <a:xfrm>
            <a:off x="2012555" y="1298682"/>
            <a:ext cx="58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agent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24E7D-78DA-BFCB-2E65-EB7E8ADE646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80010" y="1689437"/>
            <a:ext cx="431734" cy="4317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EDA40E-8D2B-2948-D967-62CBBABC6735}"/>
              </a:ext>
            </a:extLst>
          </p:cNvPr>
          <p:cNvSpPr txBox="1"/>
          <p:nvPr/>
        </p:nvSpPr>
        <p:spPr>
          <a:xfrm>
            <a:off x="1781659" y="2081470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environment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6990FFF-0D6F-3EF1-D52F-7F36A754E9B4}"/>
              </a:ext>
            </a:extLst>
          </p:cNvPr>
          <p:cNvCxnSpPr>
            <a:cxnSpLocks/>
          </p:cNvCxnSpPr>
          <p:nvPr/>
        </p:nvCxnSpPr>
        <p:spPr>
          <a:xfrm>
            <a:off x="1911137" y="1612940"/>
            <a:ext cx="761173" cy="0"/>
          </a:xfrm>
          <a:prstGeom prst="line">
            <a:avLst/>
          </a:prstGeom>
          <a:ln w="19050">
            <a:solidFill>
              <a:srgbClr val="8AB0D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BDE4CD95-6599-7092-B1D9-9BB5C5CE7395}"/>
              </a:ext>
            </a:extLst>
          </p:cNvPr>
          <p:cNvCxnSpPr>
            <a:stCxn id="109" idx="3"/>
            <a:endCxn id="18" idx="1"/>
          </p:cNvCxnSpPr>
          <p:nvPr/>
        </p:nvCxnSpPr>
        <p:spPr>
          <a:xfrm>
            <a:off x="2770251" y="1612941"/>
            <a:ext cx="324997" cy="437684"/>
          </a:xfrm>
          <a:prstGeom prst="bentConnector3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Elbow Connector 118">
            <a:extLst>
              <a:ext uri="{FF2B5EF4-FFF2-40B4-BE49-F238E27FC236}">
                <a16:creationId xmlns:a16="http://schemas.microsoft.com/office/drawing/2014/main" id="{4DB8CF75-4E1E-870B-2012-77B13F238DE1}"/>
              </a:ext>
            </a:extLst>
          </p:cNvPr>
          <p:cNvCxnSpPr>
            <a:cxnSpLocks/>
            <a:stCxn id="109" idx="3"/>
            <a:endCxn id="12" idx="1"/>
          </p:cNvCxnSpPr>
          <p:nvPr/>
        </p:nvCxnSpPr>
        <p:spPr>
          <a:xfrm flipV="1">
            <a:off x="2770251" y="1165651"/>
            <a:ext cx="324997" cy="447290"/>
          </a:xfrm>
          <a:prstGeom prst="bentConnector3">
            <a:avLst>
              <a:gd name="adj1" fmla="val 50000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E12AB731-FFE4-5590-AB25-535026D40D3C}"/>
              </a:ext>
            </a:extLst>
          </p:cNvPr>
          <p:cNvCxnSpPr>
            <a:cxnSpLocks/>
            <a:stCxn id="12" idx="3"/>
            <a:endCxn id="62" idx="1"/>
          </p:cNvCxnSpPr>
          <p:nvPr/>
        </p:nvCxnSpPr>
        <p:spPr>
          <a:xfrm>
            <a:off x="4899220" y="1165651"/>
            <a:ext cx="1053142" cy="417062"/>
          </a:xfrm>
          <a:prstGeom prst="bentConnector3">
            <a:avLst>
              <a:gd name="adj1" fmla="val 50000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6A604907-C3DF-95E2-9A86-0D7479F299FB}"/>
              </a:ext>
            </a:extLst>
          </p:cNvPr>
          <p:cNvCxnSpPr>
            <a:cxnSpLocks/>
          </p:cNvCxnSpPr>
          <p:nvPr/>
        </p:nvCxnSpPr>
        <p:spPr>
          <a:xfrm flipV="1">
            <a:off x="4889233" y="1582713"/>
            <a:ext cx="1076008" cy="463974"/>
          </a:xfrm>
          <a:prstGeom prst="bentConnector3">
            <a:avLst>
              <a:gd name="adj1" fmla="val 50000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B0265348-E0CB-4E63-0CB6-746FF6E003AB}"/>
              </a:ext>
            </a:extLst>
          </p:cNvPr>
          <p:cNvSpPr/>
          <p:nvPr/>
        </p:nvSpPr>
        <p:spPr>
          <a:xfrm>
            <a:off x="6782923" y="741288"/>
            <a:ext cx="2230838" cy="1099587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787E1D8-A61E-531A-0FAE-DC1279EABA46}"/>
              </a:ext>
            </a:extLst>
          </p:cNvPr>
          <p:cNvSpPr txBox="1"/>
          <p:nvPr/>
        </p:nvSpPr>
        <p:spPr>
          <a:xfrm>
            <a:off x="6787763" y="753625"/>
            <a:ext cx="13661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b="1" dirty="0">
                <a:solidFill>
                  <a:srgbClr val="1B4773"/>
                </a:solidFill>
              </a:rPr>
              <a:t>Webshop example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4FD9655-5BDB-CA39-8F4D-ED5ACF3DFB98}"/>
              </a:ext>
            </a:extLst>
          </p:cNvPr>
          <p:cNvSpPr txBox="1"/>
          <p:nvPr/>
        </p:nvSpPr>
        <p:spPr>
          <a:xfrm>
            <a:off x="6784462" y="923747"/>
            <a:ext cx="2208266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[state_text: </a:t>
            </a:r>
            <a:r>
              <a:rPr lang="en-US" sz="1050" dirty="0">
                <a:effectLst/>
              </a:rPr>
              <a:t>Results Page (Page 1/5) [B07XYZ1] Nike Running Shoes Red Mesh.$85.00. Size 9 ... $72.00. (45 more)</a:t>
            </a:r>
            <a:r>
              <a:rPr lang="en-US" sz="1050" dirty="0"/>
              <a:t>, </a:t>
            </a:r>
            <a:r>
              <a:rPr lang="en-US" sz="1050" dirty="0">
                <a:effectLst/>
              </a:rPr>
              <a:t>action:[Next] [Prev] [Back to Search]”, </a:t>
            </a:r>
            <a:r>
              <a:rPr lang="en-US" altLang="zh-CN" sz="1050" dirty="0">
                <a:effectLst/>
              </a:rPr>
              <a:t>0.68</a:t>
            </a:r>
            <a:r>
              <a:rPr lang="en-US" sz="1050" dirty="0"/>
              <a:t>]</a:t>
            </a:r>
            <a:endParaRPr lang="en-CN" sz="1050" dirty="0"/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9D5CEC30-4435-4E90-3722-645F190573E9}"/>
              </a:ext>
            </a:extLst>
          </p:cNvPr>
          <p:cNvSpPr/>
          <p:nvPr/>
        </p:nvSpPr>
        <p:spPr>
          <a:xfrm>
            <a:off x="6319873" y="2014632"/>
            <a:ext cx="2693887" cy="39269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99163D-48CD-265A-8747-5D8C51C72A2C}"/>
                  </a:ext>
                </a:extLst>
              </p:cNvPr>
              <p:cNvSpPr txBox="1"/>
              <p:nvPr/>
            </p:nvSpPr>
            <p:spPr>
              <a:xfrm>
                <a:off x="6246763" y="2069963"/>
                <a:ext cx="28081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𝑡𝑒𝑥𝑡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99163D-48CD-265A-8747-5D8C51C72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763" y="2069963"/>
                <a:ext cx="2808141" cy="307777"/>
              </a:xfrm>
              <a:prstGeom prst="rect">
                <a:avLst/>
              </a:prstGeom>
              <a:blipFill>
                <a:blip r:embed="rId18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1EB0F05B-B2C6-2B9C-8510-F023910AAAB2}"/>
              </a:ext>
            </a:extLst>
          </p:cNvPr>
          <p:cNvSpPr txBox="1"/>
          <p:nvPr/>
        </p:nvSpPr>
        <p:spPr>
          <a:xfrm>
            <a:off x="1756847" y="39826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BC3C9BE2-F980-45CF-0C89-326FD09F6D97}"/>
              </a:ext>
            </a:extLst>
          </p:cNvPr>
          <p:cNvSpPr/>
          <p:nvPr/>
        </p:nvSpPr>
        <p:spPr>
          <a:xfrm>
            <a:off x="1778287" y="2699859"/>
            <a:ext cx="337842" cy="337842"/>
          </a:xfrm>
          <a:prstGeom prst="ellipse">
            <a:avLst/>
          </a:prstGeom>
          <a:solidFill>
            <a:srgbClr val="94B6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47CC83D-813E-7678-D1EF-756B4D311B1C}"/>
              </a:ext>
            </a:extLst>
          </p:cNvPr>
          <p:cNvSpPr txBox="1"/>
          <p:nvPr/>
        </p:nvSpPr>
        <p:spPr>
          <a:xfrm>
            <a:off x="1792917" y="2679386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b</a:t>
            </a:r>
          </a:p>
        </p:txBody>
      </p:sp>
      <p:cxnSp>
        <p:nvCxnSpPr>
          <p:cNvPr id="148" name="Elbow Connector 147">
            <a:extLst>
              <a:ext uri="{FF2B5EF4-FFF2-40B4-BE49-F238E27FC236}">
                <a16:creationId xmlns:a16="http://schemas.microsoft.com/office/drawing/2014/main" id="{383505FF-5FAF-0A6D-F366-79880F183C12}"/>
              </a:ext>
            </a:extLst>
          </p:cNvPr>
          <p:cNvCxnSpPr>
            <a:cxnSpLocks/>
            <a:stCxn id="33" idx="3"/>
            <a:endCxn id="63" idx="1"/>
          </p:cNvCxnSpPr>
          <p:nvPr/>
        </p:nvCxnSpPr>
        <p:spPr>
          <a:xfrm>
            <a:off x="5412909" y="3326567"/>
            <a:ext cx="537072" cy="344517"/>
          </a:xfrm>
          <a:prstGeom prst="bentConnector3">
            <a:avLst>
              <a:gd name="adj1" fmla="val 50000"/>
            </a:avLst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Elbow Connector 150">
            <a:extLst>
              <a:ext uri="{FF2B5EF4-FFF2-40B4-BE49-F238E27FC236}">
                <a16:creationId xmlns:a16="http://schemas.microsoft.com/office/drawing/2014/main" id="{2CD73443-9FE9-72DC-43F6-4D32D4D8D0D3}"/>
              </a:ext>
            </a:extLst>
          </p:cNvPr>
          <p:cNvCxnSpPr>
            <a:cxnSpLocks/>
            <a:stCxn id="38" idx="3"/>
            <a:endCxn id="63" idx="1"/>
          </p:cNvCxnSpPr>
          <p:nvPr/>
        </p:nvCxnSpPr>
        <p:spPr>
          <a:xfrm flipV="1">
            <a:off x="5412909" y="3671084"/>
            <a:ext cx="537072" cy="360353"/>
          </a:xfrm>
          <a:prstGeom prst="bentConnector3">
            <a:avLst>
              <a:gd name="adj1" fmla="val 50000"/>
            </a:avLst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7EBDE32-94BA-4FD9-0B88-78C419C77A77}"/>
                  </a:ext>
                </a:extLst>
              </p:cNvPr>
              <p:cNvSpPr txBox="1"/>
              <p:nvPr/>
            </p:nvSpPr>
            <p:spPr>
              <a:xfrm>
                <a:off x="5552919" y="3519358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37EBDE32-94BA-4FD9-0B88-78C419C77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919" y="3519358"/>
                <a:ext cx="253274" cy="276999"/>
              </a:xfrm>
              <a:prstGeom prst="rect">
                <a:avLst/>
              </a:prstGeom>
              <a:blipFill>
                <a:blip r:embed="rId19"/>
                <a:stretch>
                  <a:fillRect l="-25000" r="-30000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AB846382-66C8-EE2F-17B5-0971F4BD0582}"/>
              </a:ext>
            </a:extLst>
          </p:cNvPr>
          <p:cNvSpPr/>
          <p:nvPr/>
        </p:nvSpPr>
        <p:spPr>
          <a:xfrm>
            <a:off x="6783008" y="2720943"/>
            <a:ext cx="2237449" cy="1092440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EE3E01B-9993-3389-EDCA-7BDC5688DA6A}"/>
              </a:ext>
            </a:extLst>
          </p:cNvPr>
          <p:cNvSpPr txBox="1"/>
          <p:nvPr/>
        </p:nvSpPr>
        <p:spPr>
          <a:xfrm>
            <a:off x="6829041" y="2738868"/>
            <a:ext cx="2138602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[entropy=0.043, step=3, action_ent=2.31, state_len=412, num_avail_actions=12, </a:t>
            </a:r>
            <a:r>
              <a:rPr lang="en-US" altLang="zh-CN" sz="1050" dirty="0"/>
              <a:t>-0.44</a:t>
            </a:r>
            <a:r>
              <a:rPr lang="en-US" sz="1050" dirty="0"/>
              <a:t>], [entropy=0.012, step=5, action_ent=0.69, state_len=198, num_avail_actions=2, </a:t>
            </a:r>
            <a:r>
              <a:rPr lang="en-US" altLang="zh-CN" sz="1050" dirty="0">
                <a:effectLst/>
              </a:rPr>
              <a:t>0.68</a:t>
            </a:r>
            <a:r>
              <a:rPr lang="en-US" sz="1050" dirty="0"/>
              <a:t>] </a:t>
            </a:r>
            <a:endParaRPr lang="en-CN" sz="1050" dirty="0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18B9E1DC-EE43-D4D9-937E-12820BC11418}"/>
              </a:ext>
            </a:extLst>
          </p:cNvPr>
          <p:cNvSpPr/>
          <p:nvPr/>
        </p:nvSpPr>
        <p:spPr>
          <a:xfrm>
            <a:off x="1775440" y="4700606"/>
            <a:ext cx="337842" cy="337842"/>
          </a:xfrm>
          <a:prstGeom prst="ellipse">
            <a:avLst/>
          </a:prstGeom>
          <a:solidFill>
            <a:srgbClr val="F1A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F32D06D-394B-A461-E21F-84EE97E8943F}"/>
              </a:ext>
            </a:extLst>
          </p:cNvPr>
          <p:cNvSpPr txBox="1"/>
          <p:nvPr/>
        </p:nvSpPr>
        <p:spPr>
          <a:xfrm>
            <a:off x="1790774" y="466058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c</a:t>
            </a: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CBE198A6-FBAC-AFD8-DD21-2AE87512E713}"/>
              </a:ext>
            </a:extLst>
          </p:cNvPr>
          <p:cNvSpPr/>
          <p:nvPr/>
        </p:nvSpPr>
        <p:spPr>
          <a:xfrm>
            <a:off x="1815195" y="5118799"/>
            <a:ext cx="1058633" cy="139284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57C9949-DE3E-B056-63F9-3B9FB86D3942}"/>
              </a:ext>
            </a:extLst>
          </p:cNvPr>
          <p:cNvGrpSpPr/>
          <p:nvPr/>
        </p:nvGrpSpPr>
        <p:grpSpPr>
          <a:xfrm>
            <a:off x="1821128" y="5180406"/>
            <a:ext cx="877050" cy="835993"/>
            <a:chOff x="173590" y="5030995"/>
            <a:chExt cx="1156550" cy="1102409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5A5CEF33-7276-202F-DF48-BBA97247E4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783" y="5030995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BD8758B2-18FD-287D-18F1-950443588FD3}"/>
                </a:ext>
              </a:extLst>
            </p:cNvPr>
            <p:cNvCxnSpPr>
              <a:cxnSpLocks/>
            </p:cNvCxnSpPr>
            <p:nvPr/>
          </p:nvCxnSpPr>
          <p:spPr>
            <a:xfrm>
              <a:off x="395783" y="6133404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E8638C5E-6C47-2C6A-5C0C-680FB95F302F}"/>
                </a:ext>
              </a:extLst>
            </p:cNvPr>
            <p:cNvSpPr/>
            <p:nvPr/>
          </p:nvSpPr>
          <p:spPr>
            <a:xfrm>
              <a:off x="476018" y="5253186"/>
              <a:ext cx="700756" cy="871671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3EFA806-97C6-E14C-7221-672F4A2E6CE3}"/>
                </a:ext>
              </a:extLst>
            </p:cNvPr>
            <p:cNvSpPr/>
            <p:nvPr/>
          </p:nvSpPr>
          <p:spPr>
            <a:xfrm>
              <a:off x="524890" y="5928304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9D7C292-D417-448E-58E9-E5EE67DC2FE7}"/>
                </a:ext>
              </a:extLst>
            </p:cNvPr>
            <p:cNvSpPr/>
            <p:nvPr/>
          </p:nvSpPr>
          <p:spPr>
            <a:xfrm>
              <a:off x="694410" y="600521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30378BD-A1B3-C3E7-2EEF-321B47F4C5B7}"/>
                </a:ext>
              </a:extLst>
            </p:cNvPr>
            <p:cNvSpPr/>
            <p:nvPr/>
          </p:nvSpPr>
          <p:spPr>
            <a:xfrm>
              <a:off x="781587" y="584284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87EB3A7-CB11-960B-0B4A-1A352F1DAACE}"/>
                </a:ext>
              </a:extLst>
            </p:cNvPr>
            <p:cNvSpPr/>
            <p:nvPr/>
          </p:nvSpPr>
          <p:spPr>
            <a:xfrm>
              <a:off x="635826" y="5713233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7E2B8FA-1A8E-6E74-D932-2708AD458C5A}"/>
                </a:ext>
              </a:extLst>
            </p:cNvPr>
            <p:cNvSpPr/>
            <p:nvPr/>
          </p:nvSpPr>
          <p:spPr>
            <a:xfrm>
              <a:off x="1035768" y="5146364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95EB5C7-7E3C-53FD-0146-ED58A5DFF796}"/>
                </a:ext>
              </a:extLst>
            </p:cNvPr>
            <p:cNvSpPr/>
            <p:nvPr/>
          </p:nvSpPr>
          <p:spPr>
            <a:xfrm>
              <a:off x="1035768" y="5310069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370D1C1-7CC0-EF2F-0D83-812F8A1EED82}"/>
                </a:ext>
              </a:extLst>
            </p:cNvPr>
            <p:cNvSpPr/>
            <p:nvPr/>
          </p:nvSpPr>
          <p:spPr>
            <a:xfrm>
              <a:off x="940012" y="5398376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925B20C-1743-3393-3746-D9EA8BADE8CB}"/>
                </a:ext>
              </a:extLst>
            </p:cNvPr>
            <p:cNvSpPr/>
            <p:nvPr/>
          </p:nvSpPr>
          <p:spPr>
            <a:xfrm>
              <a:off x="844256" y="5246020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7B35E14-F113-B29D-67F0-C0817F88CCCC}"/>
                </a:ext>
              </a:extLst>
            </p:cNvPr>
            <p:cNvSpPr/>
            <p:nvPr/>
          </p:nvSpPr>
          <p:spPr>
            <a:xfrm>
              <a:off x="737139" y="539975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3656DAD-86DD-1206-B9F8-736C13FC95F1}"/>
                </a:ext>
              </a:extLst>
            </p:cNvPr>
            <p:cNvSpPr/>
            <p:nvPr/>
          </p:nvSpPr>
          <p:spPr>
            <a:xfrm>
              <a:off x="897283" y="558629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4EEC67CF-E098-8BF7-A4C2-1B728C7416B9}"/>
                </a:ext>
              </a:extLst>
            </p:cNvPr>
            <p:cNvSpPr/>
            <p:nvPr/>
          </p:nvSpPr>
          <p:spPr>
            <a:xfrm>
              <a:off x="173590" y="5093041"/>
              <a:ext cx="934357" cy="184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369BAEB1-B0AB-9928-BA21-E481F4D5BD4D}"/>
              </a:ext>
            </a:extLst>
          </p:cNvPr>
          <p:cNvSpPr txBox="1"/>
          <p:nvPr/>
        </p:nvSpPr>
        <p:spPr>
          <a:xfrm>
            <a:off x="1775494" y="6008441"/>
            <a:ext cx="113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regularized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4E2B75C0-C91F-212D-7BD1-C0E21F35F4DF}"/>
              </a:ext>
            </a:extLst>
          </p:cNvPr>
          <p:cNvSpPr/>
          <p:nvPr/>
        </p:nvSpPr>
        <p:spPr>
          <a:xfrm>
            <a:off x="3229901" y="5118218"/>
            <a:ext cx="1161669" cy="139284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BB9165B1-200B-B327-AAAF-6639095EC2FB}"/>
              </a:ext>
            </a:extLst>
          </p:cNvPr>
          <p:cNvGrpSpPr/>
          <p:nvPr/>
        </p:nvGrpSpPr>
        <p:grpSpPr>
          <a:xfrm>
            <a:off x="3251072" y="5048757"/>
            <a:ext cx="988759" cy="1056854"/>
            <a:chOff x="45787" y="4868818"/>
            <a:chExt cx="1232148" cy="1317004"/>
          </a:xfrm>
        </p:grpSpPr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6FBCB3D7-0F69-BAA6-965C-A36F75F838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578" y="5038120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A07C57D2-46B5-1B45-D566-6F5C0BB08BE4}"/>
                </a:ext>
              </a:extLst>
            </p:cNvPr>
            <p:cNvCxnSpPr>
              <a:cxnSpLocks/>
            </p:cNvCxnSpPr>
            <p:nvPr/>
          </p:nvCxnSpPr>
          <p:spPr>
            <a:xfrm>
              <a:off x="343578" y="5653415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594BD51-CFC0-F63C-F424-624EB1576B7E}"/>
                </a:ext>
              </a:extLst>
            </p:cNvPr>
            <p:cNvSpPr/>
            <p:nvPr/>
          </p:nvSpPr>
          <p:spPr>
            <a:xfrm>
              <a:off x="433286" y="5312918"/>
              <a:ext cx="72015" cy="34200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1AF2B47-253E-10A5-9C4D-735C1A34479F}"/>
                </a:ext>
              </a:extLst>
            </p:cNvPr>
            <p:cNvSpPr/>
            <p:nvPr/>
          </p:nvSpPr>
          <p:spPr>
            <a:xfrm>
              <a:off x="585088" y="5486213"/>
              <a:ext cx="68356" cy="16720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236CEEA-45C2-2C26-E446-1A78AF989289}"/>
                </a:ext>
              </a:extLst>
            </p:cNvPr>
            <p:cNvSpPr/>
            <p:nvPr/>
          </p:nvSpPr>
          <p:spPr>
            <a:xfrm>
              <a:off x="771535" y="5449739"/>
              <a:ext cx="63084" cy="2036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93A71EF-5371-D489-F63F-8357383726F8}"/>
                </a:ext>
              </a:extLst>
            </p:cNvPr>
            <p:cNvSpPr/>
            <p:nvPr/>
          </p:nvSpPr>
          <p:spPr>
            <a:xfrm>
              <a:off x="936292" y="5666506"/>
              <a:ext cx="63084" cy="1384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4A5AA99-AFF4-10AB-1D19-1AC0B319FAA3}"/>
                </a:ext>
              </a:extLst>
            </p:cNvPr>
            <p:cNvSpPr/>
            <p:nvPr/>
          </p:nvSpPr>
          <p:spPr>
            <a:xfrm>
              <a:off x="1096219" y="5658963"/>
              <a:ext cx="62445" cy="36634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C69A0553-4363-622F-5DB4-4E1FAA550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416870" y="5143122"/>
              <a:ext cx="121931" cy="121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25A3E56-27B3-31BB-D3EF-40A41B95CECC}"/>
                    </a:ext>
                  </a:extLst>
                </p:cNvPr>
                <p:cNvSpPr txBox="1"/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CN" sz="12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25A3E56-27B3-31BB-D3EF-40A41B95CE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8A253132-8C12-3578-E861-DB7BE5D93407}"/>
                </a:ext>
              </a:extLst>
            </p:cNvPr>
            <p:cNvCxnSpPr/>
            <p:nvPr/>
          </p:nvCxnSpPr>
          <p:spPr>
            <a:xfrm>
              <a:off x="343578" y="544973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72B18D7A-BA8C-AA4B-085C-343689CD137A}"/>
                </a:ext>
              </a:extLst>
            </p:cNvPr>
            <p:cNvCxnSpPr/>
            <p:nvPr/>
          </p:nvCxnSpPr>
          <p:spPr>
            <a:xfrm>
              <a:off x="361567" y="581338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68E330E-C295-7F57-BC54-1466388C4C65}"/>
                    </a:ext>
                  </a:extLst>
                </p:cNvPr>
                <p:cNvSpPr txBox="1"/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68E330E-C295-7F57-BC54-1466388C4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blipFill>
                  <a:blip r:embed="rId22"/>
                  <a:stretch>
                    <a:fillRect l="-50000" r="-4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7F5F75C4-CD8A-EE74-B480-EFE63B9E671B}"/>
                    </a:ext>
                  </a:extLst>
                </p:cNvPr>
                <p:cNvSpPr txBox="1"/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7F5F75C4-CD8A-EE74-B480-EFE63B9E6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blipFill>
                  <a:blip r:embed="rId23"/>
                  <a:stretch>
                    <a:fillRect l="-10526" r="-31579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F146DA12-D6FD-6A23-8A0D-CAFDAF858E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75731" y="6063891"/>
              <a:ext cx="121931" cy="121931"/>
            </a:xfrm>
            <a:prstGeom prst="rect">
              <a:avLst/>
            </a:prstGeom>
          </p:spPr>
        </p:pic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72F31684-FDC5-8114-9EB4-ECE5E7478872}"/>
              </a:ext>
            </a:extLst>
          </p:cNvPr>
          <p:cNvSpPr txBox="1"/>
          <p:nvPr/>
        </p:nvSpPr>
        <p:spPr>
          <a:xfrm>
            <a:off x="3359481" y="6037008"/>
            <a:ext cx="934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selection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331CD4C-0661-03B6-5CFB-39699CC2DCFC}"/>
              </a:ext>
            </a:extLst>
          </p:cNvPr>
          <p:cNvSpPr txBox="1"/>
          <p:nvPr/>
        </p:nvSpPr>
        <p:spPr>
          <a:xfrm>
            <a:off x="3710215" y="5234912"/>
            <a:ext cx="635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feature</a:t>
            </a:r>
          </a:p>
        </p:txBody>
      </p:sp>
      <p:sp>
        <p:nvSpPr>
          <p:cNvPr id="162" name="Right Arrow 161">
            <a:extLst>
              <a:ext uri="{FF2B5EF4-FFF2-40B4-BE49-F238E27FC236}">
                <a16:creationId xmlns:a16="http://schemas.microsoft.com/office/drawing/2014/main" id="{4B280110-3DC5-2DBB-81B7-101CAFD084C6}"/>
              </a:ext>
            </a:extLst>
          </p:cNvPr>
          <p:cNvSpPr/>
          <p:nvPr/>
        </p:nvSpPr>
        <p:spPr>
          <a:xfrm>
            <a:off x="4443643" y="5634782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207BA2F9-3FD7-0FBA-2D48-3643B59E00E9}"/>
              </a:ext>
            </a:extLst>
          </p:cNvPr>
          <p:cNvSpPr/>
          <p:nvPr/>
        </p:nvSpPr>
        <p:spPr>
          <a:xfrm>
            <a:off x="4768306" y="5118217"/>
            <a:ext cx="1792005" cy="139284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A88EB72-48BC-B54C-D160-605967067F5D}"/>
              </a:ext>
            </a:extLst>
          </p:cNvPr>
          <p:cNvSpPr/>
          <p:nvPr/>
        </p:nvSpPr>
        <p:spPr>
          <a:xfrm>
            <a:off x="4902295" y="5237704"/>
            <a:ext cx="18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BF0CCF1-2B38-CBD4-8B60-2A2EC146BCB1}"/>
                  </a:ext>
                </a:extLst>
              </p:cNvPr>
              <p:cNvSpPr txBox="1"/>
              <p:nvPr/>
            </p:nvSpPr>
            <p:spPr>
              <a:xfrm>
                <a:off x="5042305" y="5146948"/>
                <a:ext cx="13876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600" dirty="0"/>
                  <a:t>Type 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/>
                  <a:t> &gt; 0)</a:t>
                </a: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BF0CCF1-2B38-CBD4-8B60-2A2EC146B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305" y="5146948"/>
                <a:ext cx="1387688" cy="338554"/>
              </a:xfrm>
              <a:prstGeom prst="rect">
                <a:avLst/>
              </a:prstGeom>
              <a:blipFill>
                <a:blip r:embed="rId24"/>
                <a:stretch>
                  <a:fillRect l="-1802" t="-7143" r="-901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9492A7C1-73EB-54F8-7B5B-C1D4C6532A22}"/>
              </a:ext>
            </a:extLst>
          </p:cNvPr>
          <p:cNvSpPr txBox="1"/>
          <p:nvPr/>
        </p:nvSpPr>
        <p:spPr>
          <a:xfrm>
            <a:off x="4842586" y="5456099"/>
            <a:ext cx="16045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472C4"/>
                </a:solidFill>
              </a:rPr>
              <a:t>Decision-Difficult</a:t>
            </a:r>
            <a:endParaRPr lang="en-CN" sz="1600" dirty="0">
              <a:solidFill>
                <a:srgbClr val="4472C4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67E6913-3DF1-E6F1-9825-BBFF856A2F38}"/>
              </a:ext>
            </a:extLst>
          </p:cNvPr>
          <p:cNvSpPr/>
          <p:nvPr/>
        </p:nvSpPr>
        <p:spPr>
          <a:xfrm>
            <a:off x="4902295" y="5954676"/>
            <a:ext cx="180000" cy="18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EB2B828-61A7-17D2-F54E-A605F933EA00}"/>
                  </a:ext>
                </a:extLst>
              </p:cNvPr>
              <p:cNvSpPr txBox="1"/>
              <p:nvPr/>
            </p:nvSpPr>
            <p:spPr>
              <a:xfrm>
                <a:off x="5042305" y="5863920"/>
                <a:ext cx="131234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600" dirty="0"/>
                  <a:t>Type I(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/>
                  <a:t> &lt; 0)</a:t>
                </a: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FEB2B828-61A7-17D2-F54E-A605F933E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305" y="5863920"/>
                <a:ext cx="1312347" cy="338554"/>
              </a:xfrm>
              <a:prstGeom prst="rect">
                <a:avLst/>
              </a:prstGeom>
              <a:blipFill>
                <a:blip r:embed="rId25"/>
                <a:stretch>
                  <a:fillRect l="-1905" t="-3571" r="-1905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09E4E66E-C971-67CD-722A-FD2DA7570891}"/>
              </a:ext>
            </a:extLst>
          </p:cNvPr>
          <p:cNvSpPr txBox="1"/>
          <p:nvPr/>
        </p:nvSpPr>
        <p:spPr>
          <a:xfrm>
            <a:off x="4848478" y="6144495"/>
            <a:ext cx="16270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4B283"/>
                </a:solidFill>
              </a:rPr>
              <a:t>Information-Poor</a:t>
            </a:r>
            <a:endParaRPr lang="en-CN" sz="1600" dirty="0">
              <a:solidFill>
                <a:srgbClr val="F4B283"/>
              </a:solidFill>
            </a:endParaRP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03AE0A55-C62C-9EA8-880F-06D5ABBC49DA}"/>
              </a:ext>
            </a:extLst>
          </p:cNvPr>
          <p:cNvCxnSpPr>
            <a:cxnSpLocks/>
          </p:cNvCxnSpPr>
          <p:nvPr/>
        </p:nvCxnSpPr>
        <p:spPr>
          <a:xfrm>
            <a:off x="4860078" y="5809913"/>
            <a:ext cx="1615448" cy="7535"/>
          </a:xfrm>
          <a:prstGeom prst="line">
            <a:avLst/>
          </a:prstGeom>
          <a:ln w="19050">
            <a:solidFill>
              <a:srgbClr val="F1A08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ight Arrow 165">
            <a:extLst>
              <a:ext uri="{FF2B5EF4-FFF2-40B4-BE49-F238E27FC236}">
                <a16:creationId xmlns:a16="http://schemas.microsoft.com/office/drawing/2014/main" id="{E7810446-D2C0-B4CB-47F3-B753A95B4A9F}"/>
              </a:ext>
            </a:extLst>
          </p:cNvPr>
          <p:cNvSpPr/>
          <p:nvPr/>
        </p:nvSpPr>
        <p:spPr>
          <a:xfrm>
            <a:off x="6623105" y="5644601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1A139FCB-DB21-3372-0804-588EBD2364A3}"/>
              </a:ext>
            </a:extLst>
          </p:cNvPr>
          <p:cNvSpPr/>
          <p:nvPr/>
        </p:nvSpPr>
        <p:spPr>
          <a:xfrm>
            <a:off x="6948597" y="5090206"/>
            <a:ext cx="2104919" cy="139284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D46F7-841C-5C30-F562-5DF6C4BBBF6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767844" y="5292991"/>
            <a:ext cx="466687" cy="46668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29A9A22-42C3-5E95-7EC3-6200696FED4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864973" y="5409549"/>
            <a:ext cx="282701" cy="282701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EC25FC4C-96EF-9B7E-E25D-BDBD3FECC2EB}"/>
              </a:ext>
            </a:extLst>
          </p:cNvPr>
          <p:cNvSpPr txBox="1"/>
          <p:nvPr/>
        </p:nvSpPr>
        <p:spPr>
          <a:xfrm>
            <a:off x="7301986" y="5772547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solidFill>
                  <a:schemeClr val="tx1"/>
                </a:solidFill>
                <a:latin typeface="Comic Sans MS" panose="030F0902030302020204" pitchFamily="66" charset="0"/>
              </a:rPr>
              <a:t>Deployed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75D7C8A-A95B-160B-0FC9-D3D1601963CB}"/>
                  </a:ext>
                </a:extLst>
              </p:cNvPr>
              <p:cNvSpPr txBox="1"/>
              <p:nvPr/>
            </p:nvSpPr>
            <p:spPr>
              <a:xfrm>
                <a:off x="6914565" y="6066243"/>
                <a:ext cx="21916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=1[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sz="12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75D7C8A-A95B-160B-0FC9-D3D160196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565" y="6066243"/>
                <a:ext cx="2191689" cy="276999"/>
              </a:xfrm>
              <a:prstGeom prst="rect">
                <a:avLst/>
              </a:prstGeom>
              <a:blipFill>
                <a:blip r:embed="rId28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val 58">
            <a:extLst>
              <a:ext uri="{FF2B5EF4-FFF2-40B4-BE49-F238E27FC236}">
                <a16:creationId xmlns:a16="http://schemas.microsoft.com/office/drawing/2014/main" id="{B855094B-88D6-4D42-E4B9-84DB2FF14601}"/>
              </a:ext>
            </a:extLst>
          </p:cNvPr>
          <p:cNvSpPr/>
          <p:nvPr/>
        </p:nvSpPr>
        <p:spPr>
          <a:xfrm>
            <a:off x="5206278" y="2424014"/>
            <a:ext cx="337842" cy="337842"/>
          </a:xfrm>
          <a:prstGeom prst="ellipse">
            <a:avLst/>
          </a:prstGeom>
          <a:solidFill>
            <a:srgbClr val="F3FCFF"/>
          </a:solidFill>
          <a:ln w="19050">
            <a:solidFill>
              <a:srgbClr val="8AB0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Graphic 75" descr="Caret Down with solid fill">
            <a:extLst>
              <a:ext uri="{FF2B5EF4-FFF2-40B4-BE49-F238E27FC236}">
                <a16:creationId xmlns:a16="http://schemas.microsoft.com/office/drawing/2014/main" id="{623B6ADE-1215-60F6-5EDD-AA86341C611D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203320" y="2405074"/>
            <a:ext cx="360659" cy="360659"/>
          </a:xfrm>
          <a:prstGeom prst="rect">
            <a:avLst/>
          </a:prstGeom>
        </p:spPr>
      </p:pic>
      <p:sp>
        <p:nvSpPr>
          <p:cNvPr id="77" name="Oval 76">
            <a:extLst>
              <a:ext uri="{FF2B5EF4-FFF2-40B4-BE49-F238E27FC236}">
                <a16:creationId xmlns:a16="http://schemas.microsoft.com/office/drawing/2014/main" id="{1529B151-BAF4-9CE9-FBA1-A29861C5A70B}"/>
              </a:ext>
            </a:extLst>
          </p:cNvPr>
          <p:cNvSpPr/>
          <p:nvPr/>
        </p:nvSpPr>
        <p:spPr>
          <a:xfrm>
            <a:off x="5213143" y="4377084"/>
            <a:ext cx="337842" cy="337842"/>
          </a:xfrm>
          <a:prstGeom prst="ellipse">
            <a:avLst/>
          </a:prstGeom>
          <a:solidFill>
            <a:srgbClr val="FAFFF1"/>
          </a:solidFill>
          <a:ln w="19050">
            <a:solidFill>
              <a:srgbClr val="94B7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8" name="Graphic 75" descr="Caret Down with solid fill">
            <a:extLst>
              <a:ext uri="{FF2B5EF4-FFF2-40B4-BE49-F238E27FC236}">
                <a16:creationId xmlns:a16="http://schemas.microsoft.com/office/drawing/2014/main" id="{623B6ADE-1215-60F6-5EDD-AA86341C611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213305" y="4388355"/>
            <a:ext cx="360659" cy="36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187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EAD0B-F10D-0945-01D6-4E2B6E0E1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317B953-29C3-5E4C-0A97-EAD12E380583}"/>
              </a:ext>
            </a:extLst>
          </p:cNvPr>
          <p:cNvSpPr/>
          <p:nvPr/>
        </p:nvSpPr>
        <p:spPr>
          <a:xfrm>
            <a:off x="8364457" y="412939"/>
            <a:ext cx="3628189" cy="4598092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1A0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639557C-C8AB-E48D-8E6A-E467000320A2}"/>
              </a:ext>
            </a:extLst>
          </p:cNvPr>
          <p:cNvSpPr/>
          <p:nvPr/>
        </p:nvSpPr>
        <p:spPr>
          <a:xfrm>
            <a:off x="4321136" y="412939"/>
            <a:ext cx="3764083" cy="4598092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3231EF-3919-7BD8-6276-111D116A7547}"/>
              </a:ext>
            </a:extLst>
          </p:cNvPr>
          <p:cNvSpPr/>
          <p:nvPr/>
        </p:nvSpPr>
        <p:spPr>
          <a:xfrm>
            <a:off x="159027" y="395859"/>
            <a:ext cx="3868850" cy="4615172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D225A0-015F-3F06-948D-A17BC1DE57AD}"/>
              </a:ext>
            </a:extLst>
          </p:cNvPr>
          <p:cNvGrpSpPr/>
          <p:nvPr/>
        </p:nvGrpSpPr>
        <p:grpSpPr>
          <a:xfrm>
            <a:off x="1557998" y="1147400"/>
            <a:ext cx="1690679" cy="553998"/>
            <a:chOff x="4350760" y="1738004"/>
            <a:chExt cx="1690679" cy="553998"/>
          </a:xfrm>
          <a:effectLst/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5CF29E04-89A8-F1EC-BDD0-3715FEDE064F}"/>
                </a:ext>
              </a:extLst>
            </p:cNvPr>
            <p:cNvSpPr/>
            <p:nvPr/>
          </p:nvSpPr>
          <p:spPr>
            <a:xfrm>
              <a:off x="4350760" y="1760010"/>
              <a:ext cx="1690679" cy="496080"/>
            </a:xfrm>
            <a:prstGeom prst="roundRect">
              <a:avLst/>
            </a:prstGeom>
            <a:solidFill>
              <a:srgbClr val="BCCFE8"/>
            </a:solidFill>
            <a:ln w="19050">
              <a:solidFill>
                <a:srgbClr val="8AB0D7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C423FA0-8D1D-87E8-6A12-E61232C24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32418" y="1813044"/>
              <a:ext cx="405960" cy="405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7EBA2E4-2FB8-17CB-173A-4FDE7993BC3D}"/>
                    </a:ext>
                  </a:extLst>
                </p:cNvPr>
                <p:cNvSpPr txBox="1"/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Comic Sans MS" panose="030F0902030302020204" pitchFamily="66" charset="0"/>
                    </a:rPr>
                    <a:t>Test-</a:t>
                  </a:r>
                  <a:r>
                    <a:rPr lang="en-US" altLang="zh-CN" sz="1400" dirty="0">
                      <a:latin typeface="Comic Sans MS" panose="030F0902030302020204" pitchFamily="66" charset="0"/>
                    </a:rPr>
                    <a:t>Time</a:t>
                  </a:r>
                </a:p>
                <a:p>
                  <a:pPr algn="ctr"/>
                  <a:r>
                    <a:rPr lang="en-CN" sz="1400">
                      <a:latin typeface="Comic Sans MS" panose="030F0902030302020204" pitchFamily="66" charset="0"/>
                    </a:rPr>
                    <a:t>Optimizer</a:t>
                  </a:r>
                  <a:r>
                    <a:rPr lang="en-CN" sz="160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CN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7EBA2E4-2FB8-17CB-173A-4FDE7993BC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blipFill>
                  <a:blip r:embed="rId3"/>
                  <a:stretch>
                    <a:fillRect t="-2273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C85AF56-E48D-C2FF-0251-4AA4F356A088}"/>
              </a:ext>
            </a:extLst>
          </p:cNvPr>
          <p:cNvGrpSpPr/>
          <p:nvPr/>
        </p:nvGrpSpPr>
        <p:grpSpPr>
          <a:xfrm>
            <a:off x="1557998" y="2059817"/>
            <a:ext cx="1741350" cy="485206"/>
            <a:chOff x="9350664" y="2343215"/>
            <a:chExt cx="1741350" cy="48520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A669DB9-56B6-DC01-8A43-5715ADD49425}"/>
                </a:ext>
              </a:extLst>
            </p:cNvPr>
            <p:cNvGrpSpPr/>
            <p:nvPr/>
          </p:nvGrpSpPr>
          <p:grpSpPr>
            <a:xfrm>
              <a:off x="9350664" y="2343215"/>
              <a:ext cx="1741350" cy="485206"/>
              <a:chOff x="4350760" y="1770884"/>
              <a:chExt cx="1741350" cy="485206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203FAD66-A437-C182-0C18-3A1237CCBBF5}"/>
                  </a:ext>
                </a:extLst>
              </p:cNvPr>
              <p:cNvSpPr/>
              <p:nvPr/>
            </p:nvSpPr>
            <p:spPr>
              <a:xfrm>
                <a:off x="4350760" y="1770884"/>
                <a:ext cx="1690679" cy="485206"/>
              </a:xfrm>
              <a:prstGeom prst="roundRect">
                <a:avLst/>
              </a:prstGeom>
              <a:solidFill>
                <a:srgbClr val="BCCFE8"/>
              </a:solidFill>
              <a:ln w="19050">
                <a:solidFill>
                  <a:srgbClr val="8AB0D7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AD6A930-CC4A-57E0-B21F-0045D2D3B542}"/>
                      </a:ext>
                    </a:extLst>
                  </p:cNvPr>
                  <p:cNvSpPr txBox="1"/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Comic Sans MS" panose="030F0902030302020204" pitchFamily="66" charset="0"/>
                      </a:rPr>
                      <a:t>Base Policy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a14:m>
                    <a:endParaRPr lang="en-CN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AD6A930-CC4A-57E0-B21F-0045D2D3B5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97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4FAA012-EBBE-D376-EE36-A4824CEF98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16461" y="2352640"/>
              <a:ext cx="452689" cy="45268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172D86-0EEA-B2E0-76A0-4206C73EADC0}"/>
                  </a:ext>
                </a:extLst>
              </p:cNvPr>
              <p:cNvSpPr txBox="1"/>
              <p:nvPr/>
            </p:nvSpPr>
            <p:spPr>
              <a:xfrm>
                <a:off x="3157145" y="1048935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172D86-0EEA-B2E0-76A0-4206C73EA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7145" y="1048935"/>
                <a:ext cx="927690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60601B-2D2E-931D-EFA5-36B8CA7EA59C}"/>
                  </a:ext>
                </a:extLst>
              </p:cNvPr>
              <p:cNvSpPr txBox="1"/>
              <p:nvPr/>
            </p:nvSpPr>
            <p:spPr>
              <a:xfrm>
                <a:off x="3170397" y="2300405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60601B-2D2E-931D-EFA5-36B8CA7EA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397" y="2300405"/>
                <a:ext cx="929485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70ECD6C-6733-4DDC-9265-8835DD73075B}"/>
              </a:ext>
            </a:extLst>
          </p:cNvPr>
          <p:cNvSpPr txBox="1"/>
          <p:nvPr/>
        </p:nvSpPr>
        <p:spPr>
          <a:xfrm>
            <a:off x="4316707" y="1972966"/>
            <a:ext cx="68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Comic Sans MS" panose="030F0902030302020204" pitchFamily="66" charset="0"/>
              </a:rPr>
              <a:t>state </a:t>
            </a:r>
          </a:p>
          <a:p>
            <a:pPr algn="ctr"/>
            <a:r>
              <a:rPr lang="en-US" sz="1400" dirty="0">
                <a:latin typeface="Comic Sans MS" panose="030F0902030302020204" pitchFamily="66" charset="0"/>
              </a:rPr>
              <a:t>text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A2A773-4ACD-78C8-2C52-04527282D9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4789" y="1525226"/>
            <a:ext cx="452689" cy="45268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75418E48-93C9-3652-B89A-7CB6B92CA5B0}"/>
              </a:ext>
            </a:extLst>
          </p:cNvPr>
          <p:cNvGrpSpPr/>
          <p:nvPr/>
        </p:nvGrpSpPr>
        <p:grpSpPr>
          <a:xfrm>
            <a:off x="5125654" y="1118843"/>
            <a:ext cx="2159094" cy="686793"/>
            <a:chOff x="3576745" y="3431318"/>
            <a:chExt cx="2159094" cy="68679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AD73251-FF26-A85A-47EA-018A57D8CA4C}"/>
                </a:ext>
              </a:extLst>
            </p:cNvPr>
            <p:cNvGrpSpPr/>
            <p:nvPr/>
          </p:nvGrpSpPr>
          <p:grpSpPr>
            <a:xfrm>
              <a:off x="3576745" y="3431318"/>
              <a:ext cx="2159094" cy="679590"/>
              <a:chOff x="4350759" y="1753359"/>
              <a:chExt cx="2159094" cy="679590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711D2C47-44CD-052D-78BB-F64EF1031D12}"/>
                  </a:ext>
                </a:extLst>
              </p:cNvPr>
              <p:cNvSpPr/>
              <p:nvPr/>
            </p:nvSpPr>
            <p:spPr>
              <a:xfrm>
                <a:off x="4350759" y="1753359"/>
                <a:ext cx="2059800" cy="679590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E533D52-8F4D-B6E9-FE11-53518EF53C6C}"/>
                  </a:ext>
                </a:extLst>
              </p:cNvPr>
              <p:cNvSpPr txBox="1"/>
              <p:nvPr/>
            </p:nvSpPr>
            <p:spPr>
              <a:xfrm>
                <a:off x="4746229" y="1774485"/>
                <a:ext cx="17636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Universal Feature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s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A3DA68E-6DA6-D619-4D93-21459245C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28743" y="3571678"/>
              <a:ext cx="397541" cy="39754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7C19AD0-805D-A2B3-9AD3-618B71FBCB82}"/>
                </a:ext>
              </a:extLst>
            </p:cNvPr>
            <p:cNvSpPr txBox="1"/>
            <p:nvPr/>
          </p:nvSpPr>
          <p:spPr>
            <a:xfrm>
              <a:off x="3997922" y="3656446"/>
              <a:ext cx="14491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entropy, state text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5588495-8D2D-0409-4C0F-A31B30060962}"/>
              </a:ext>
            </a:extLst>
          </p:cNvPr>
          <p:cNvGrpSpPr/>
          <p:nvPr/>
        </p:nvGrpSpPr>
        <p:grpSpPr>
          <a:xfrm>
            <a:off x="5126217" y="1919759"/>
            <a:ext cx="2072489" cy="908085"/>
            <a:chOff x="3576745" y="3438662"/>
            <a:chExt cx="2072489" cy="90808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C4B2E48-2E04-97CE-DD3A-BBAFD600485F}"/>
                </a:ext>
              </a:extLst>
            </p:cNvPr>
            <p:cNvGrpSpPr/>
            <p:nvPr/>
          </p:nvGrpSpPr>
          <p:grpSpPr>
            <a:xfrm>
              <a:off x="3576745" y="3438662"/>
              <a:ext cx="2072489" cy="887142"/>
              <a:chOff x="4350759" y="1760703"/>
              <a:chExt cx="2072489" cy="887142"/>
            </a:xfrm>
          </p:grpSpPr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DA50A0DB-39A6-442A-ADCA-2F4314AABA28}"/>
                  </a:ext>
                </a:extLst>
              </p:cNvPr>
              <p:cNvSpPr/>
              <p:nvPr/>
            </p:nvSpPr>
            <p:spPr>
              <a:xfrm>
                <a:off x="4350759" y="1760703"/>
                <a:ext cx="2072489" cy="887142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98FC620-57D6-22D0-873A-7CD32FE30C77}"/>
                  </a:ext>
                </a:extLst>
              </p:cNvPr>
              <p:cNvSpPr txBox="1"/>
              <p:nvPr/>
            </p:nvSpPr>
            <p:spPr>
              <a:xfrm>
                <a:off x="4780366" y="1781413"/>
                <a:ext cx="16235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LLM Reasoning Feature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52021AF-3B8B-602C-316C-3EFF19B08098}"/>
                </a:ext>
              </a:extLst>
            </p:cNvPr>
            <p:cNvSpPr txBox="1"/>
            <p:nvPr/>
          </p:nvSpPr>
          <p:spPr>
            <a:xfrm>
              <a:off x="4006751" y="3885082"/>
              <a:ext cx="15363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action type, action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BC6597BD-FFA1-E634-0AC7-0572A3BA26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25230" y="2159405"/>
            <a:ext cx="347720" cy="347720"/>
          </a:xfrm>
          <a:prstGeom prst="rect">
            <a:avLst/>
          </a:prstGeom>
        </p:spPr>
      </p:pic>
      <p:sp>
        <p:nvSpPr>
          <p:cNvPr id="31" name="Right Arrow 30">
            <a:extLst>
              <a:ext uri="{FF2B5EF4-FFF2-40B4-BE49-F238E27FC236}">
                <a16:creationId xmlns:a16="http://schemas.microsoft.com/office/drawing/2014/main" id="{8750956B-154F-D5EB-77E8-A1FED2229F70}"/>
              </a:ext>
            </a:extLst>
          </p:cNvPr>
          <p:cNvSpPr/>
          <p:nvPr/>
        </p:nvSpPr>
        <p:spPr>
          <a:xfrm>
            <a:off x="10012336" y="1649592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91902710-B422-592A-6AE2-0AC120CACDCE}"/>
              </a:ext>
            </a:extLst>
          </p:cNvPr>
          <p:cNvCxnSpPr>
            <a:cxnSpLocks/>
            <a:stCxn id="17" idx="3"/>
            <a:endCxn id="22" idx="1"/>
          </p:cNvCxnSpPr>
          <p:nvPr/>
        </p:nvCxnSpPr>
        <p:spPr>
          <a:xfrm flipV="1">
            <a:off x="4877478" y="1458638"/>
            <a:ext cx="248176" cy="292933"/>
          </a:xfrm>
          <a:prstGeom prst="bentConnector3">
            <a:avLst>
              <a:gd name="adj1" fmla="val 50000"/>
            </a:avLst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2205FCAE-6B7A-BF03-1E47-7E160FE990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2035" y="1583761"/>
            <a:ext cx="547593" cy="54759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ADB0800-E5CB-6D65-06B6-D2DCE73B285C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17524" y="1592043"/>
            <a:ext cx="565056" cy="56505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4FC55AD-BC1C-8AB7-0A6D-E300FFC59B34}"/>
              </a:ext>
            </a:extLst>
          </p:cNvPr>
          <p:cNvSpPr txBox="1"/>
          <p:nvPr/>
        </p:nvSpPr>
        <p:spPr>
          <a:xfrm>
            <a:off x="917162" y="454171"/>
            <a:ext cx="2868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Explore: Signal-Agnostic Utility</a:t>
            </a:r>
            <a:r>
              <a:rPr lang="zh-CN" altLang="en-US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Collection</a:t>
            </a:r>
            <a:endParaRPr lang="en-CN" sz="1600" dirty="0">
              <a:solidFill>
                <a:srgbClr val="1B4773"/>
              </a:solidFill>
              <a:latin typeface="Comic Sans MS" panose="030F0902030302020204" pitchFamily="66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1E217C-2A06-90C8-FA12-F8ADCA31F3EA}"/>
              </a:ext>
            </a:extLst>
          </p:cNvPr>
          <p:cNvSpPr txBox="1"/>
          <p:nvPr/>
        </p:nvSpPr>
        <p:spPr>
          <a:xfrm>
            <a:off x="4879277" y="472355"/>
            <a:ext cx="2880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Reason: Build</a:t>
            </a:r>
            <a:r>
              <a:rPr lang="zh-CN" alt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State</a:t>
            </a:r>
            <a:r>
              <a:rPr lang="zh-CN" alt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Signals</a:t>
            </a:r>
            <a:endParaRPr lang="en-CN" sz="1600" dirty="0">
              <a:solidFill>
                <a:srgbClr val="225532"/>
              </a:solidFill>
              <a:latin typeface="Comic Sans MS" panose="030F0902030302020204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D82F204-5FBD-3350-CADC-3135095B06D4}"/>
              </a:ext>
            </a:extLst>
          </p:cNvPr>
          <p:cNvSpPr txBox="1"/>
          <p:nvPr/>
        </p:nvSpPr>
        <p:spPr>
          <a:xfrm>
            <a:off x="8993534" y="468214"/>
            <a:ext cx="2537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A93B31"/>
                </a:solidFill>
                <a:latin typeface="Comic Sans MS" panose="030F0902030302020204" pitchFamily="66" charset="0"/>
              </a:rPr>
              <a:t>Learn: Feature Selection &amp; Direction Discovery</a:t>
            </a:r>
            <a:endParaRPr lang="en-CN" sz="1600" dirty="0">
              <a:solidFill>
                <a:srgbClr val="A93B31"/>
              </a:solidFill>
              <a:latin typeface="Comic Sans MS" panose="030F0902030302020204" pitchFamily="66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10D7E23-71B0-4A5D-E79C-1395FE4EA22F}"/>
              </a:ext>
            </a:extLst>
          </p:cNvPr>
          <p:cNvSpPr/>
          <p:nvPr/>
        </p:nvSpPr>
        <p:spPr>
          <a:xfrm>
            <a:off x="708544" y="489258"/>
            <a:ext cx="337842" cy="337842"/>
          </a:xfrm>
          <a:prstGeom prst="ellipse">
            <a:avLst/>
          </a:prstGeom>
          <a:solidFill>
            <a:srgbClr val="8AB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303E189-110C-E17D-B700-A1E882D326EB}"/>
              </a:ext>
            </a:extLst>
          </p:cNvPr>
          <p:cNvSpPr/>
          <p:nvPr/>
        </p:nvSpPr>
        <p:spPr>
          <a:xfrm>
            <a:off x="255668" y="1093396"/>
            <a:ext cx="977333" cy="1542679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194086A-2095-B67F-D7EE-1723E3AAEB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194" y="1131072"/>
            <a:ext cx="461363" cy="46136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7671611-228C-5BDA-3980-6AF3BCAB129F}"/>
              </a:ext>
            </a:extLst>
          </p:cNvPr>
          <p:cNvSpPr txBox="1"/>
          <p:nvPr/>
        </p:nvSpPr>
        <p:spPr>
          <a:xfrm>
            <a:off x="475305" y="1550477"/>
            <a:ext cx="58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agent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D119030-9F20-8362-A24A-00131D2233B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2760" y="1941232"/>
            <a:ext cx="431734" cy="43173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A25AC5B-C934-AF13-D1A9-F2016C83E0D6}"/>
              </a:ext>
            </a:extLst>
          </p:cNvPr>
          <p:cNvSpPr txBox="1"/>
          <p:nvPr/>
        </p:nvSpPr>
        <p:spPr>
          <a:xfrm>
            <a:off x="244409" y="2333265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environment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E4C8458-340A-93A2-B5C3-C7E0B7D92B0C}"/>
              </a:ext>
            </a:extLst>
          </p:cNvPr>
          <p:cNvCxnSpPr>
            <a:cxnSpLocks/>
          </p:cNvCxnSpPr>
          <p:nvPr/>
        </p:nvCxnSpPr>
        <p:spPr>
          <a:xfrm>
            <a:off x="373887" y="1864735"/>
            <a:ext cx="761173" cy="0"/>
          </a:xfrm>
          <a:prstGeom prst="line">
            <a:avLst/>
          </a:prstGeom>
          <a:ln w="19050">
            <a:solidFill>
              <a:srgbClr val="8AB0D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8C2CF546-3010-901E-BDDA-A08FB94FB209}"/>
              </a:ext>
            </a:extLst>
          </p:cNvPr>
          <p:cNvCxnSpPr>
            <a:cxnSpLocks/>
            <a:stCxn id="42" idx="3"/>
            <a:endCxn id="12" idx="1"/>
          </p:cNvCxnSpPr>
          <p:nvPr/>
        </p:nvCxnSpPr>
        <p:spPr>
          <a:xfrm>
            <a:off x="1233001" y="1864736"/>
            <a:ext cx="324997" cy="437684"/>
          </a:xfrm>
          <a:prstGeom prst="bentConnector3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D7CEEE57-886D-372F-830A-94DFA871CE19}"/>
              </a:ext>
            </a:extLst>
          </p:cNvPr>
          <p:cNvCxnSpPr>
            <a:cxnSpLocks/>
            <a:stCxn id="42" idx="3"/>
            <a:endCxn id="6" idx="1"/>
          </p:cNvCxnSpPr>
          <p:nvPr/>
        </p:nvCxnSpPr>
        <p:spPr>
          <a:xfrm flipV="1">
            <a:off x="1233001" y="1417446"/>
            <a:ext cx="324997" cy="447290"/>
          </a:xfrm>
          <a:prstGeom prst="bentConnector3">
            <a:avLst>
              <a:gd name="adj1" fmla="val 50000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B7A3ED42-D41C-E6B8-E19B-BC8425A3A11D}"/>
              </a:ext>
            </a:extLst>
          </p:cNvPr>
          <p:cNvCxnSpPr>
            <a:cxnSpLocks/>
            <a:stCxn id="6" idx="3"/>
            <a:endCxn id="34" idx="0"/>
          </p:cNvCxnSpPr>
          <p:nvPr/>
        </p:nvCxnSpPr>
        <p:spPr>
          <a:xfrm>
            <a:off x="3248677" y="1417446"/>
            <a:ext cx="397155" cy="166315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3B99A12C-32CD-8790-E805-E18FE557795A}"/>
              </a:ext>
            </a:extLst>
          </p:cNvPr>
          <p:cNvSpPr/>
          <p:nvPr/>
        </p:nvSpPr>
        <p:spPr>
          <a:xfrm>
            <a:off x="373887" y="2894334"/>
            <a:ext cx="3462848" cy="1439039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EF8FCB7-0D24-9BB7-85BF-C6934EFE23F8}"/>
              </a:ext>
            </a:extLst>
          </p:cNvPr>
          <p:cNvSpPr txBox="1"/>
          <p:nvPr/>
        </p:nvSpPr>
        <p:spPr>
          <a:xfrm>
            <a:off x="475305" y="2742583"/>
            <a:ext cx="1691489" cy="307777"/>
          </a:xfrm>
          <a:prstGeom prst="rect">
            <a:avLst/>
          </a:prstGeom>
          <a:solidFill>
            <a:srgbClr val="F3FCFF"/>
          </a:solidFill>
        </p:spPr>
        <p:txBody>
          <a:bodyPr wrap="none" rtlCol="0">
            <a:spAutoFit/>
          </a:bodyPr>
          <a:lstStyle/>
          <a:p>
            <a:r>
              <a:rPr lang="en-CN" sz="1400" b="1" dirty="0">
                <a:solidFill>
                  <a:srgbClr val="1B4773"/>
                </a:solidFill>
                <a:latin typeface="Comic Sans MS" panose="030F0902030302020204" pitchFamily="66" charset="0"/>
              </a:rPr>
              <a:t>Webshop example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4A7DBF87-E284-A22F-C0D5-FF7A3D0402D3}"/>
              </a:ext>
            </a:extLst>
          </p:cNvPr>
          <p:cNvSpPr/>
          <p:nvPr/>
        </p:nvSpPr>
        <p:spPr>
          <a:xfrm>
            <a:off x="373887" y="4469213"/>
            <a:ext cx="3462848" cy="39269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866953D-596C-A8B9-E39D-038EDED119C8}"/>
                  </a:ext>
                </a:extLst>
              </p:cNvPr>
              <p:cNvSpPr txBox="1"/>
              <p:nvPr/>
            </p:nvSpPr>
            <p:spPr>
              <a:xfrm>
                <a:off x="867404" y="4508360"/>
                <a:ext cx="28081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𝑡𝑒𝑥𝑡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866953D-596C-A8B9-E39D-038EDED11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404" y="4508360"/>
                <a:ext cx="2808141" cy="307777"/>
              </a:xfrm>
              <a:prstGeom prst="rect">
                <a:avLst/>
              </a:prstGeom>
              <a:blipFill>
                <a:blip r:embed="rId1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2318BE97-A0C4-7D4C-44E3-A3ED1A1EF2F3}"/>
              </a:ext>
            </a:extLst>
          </p:cNvPr>
          <p:cNvSpPr txBox="1"/>
          <p:nvPr/>
        </p:nvSpPr>
        <p:spPr>
          <a:xfrm>
            <a:off x="720455" y="45348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7DE73A0-6473-F8D8-5C61-2702244951BF}"/>
              </a:ext>
            </a:extLst>
          </p:cNvPr>
          <p:cNvSpPr/>
          <p:nvPr/>
        </p:nvSpPr>
        <p:spPr>
          <a:xfrm>
            <a:off x="4633297" y="493190"/>
            <a:ext cx="337842" cy="337842"/>
          </a:xfrm>
          <a:prstGeom prst="ellipse">
            <a:avLst/>
          </a:prstGeom>
          <a:solidFill>
            <a:srgbClr val="94B6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A1C1F8F-28EC-673D-DE8A-9022CCE3430A}"/>
              </a:ext>
            </a:extLst>
          </p:cNvPr>
          <p:cNvSpPr txBox="1"/>
          <p:nvPr/>
        </p:nvSpPr>
        <p:spPr>
          <a:xfrm>
            <a:off x="4647927" y="47271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b</a:t>
            </a:r>
          </a:p>
        </p:txBody>
      </p: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0CC426A5-3FB9-0BBC-C802-0F241B29B4B8}"/>
              </a:ext>
            </a:extLst>
          </p:cNvPr>
          <p:cNvCxnSpPr>
            <a:cxnSpLocks/>
            <a:stCxn id="22" idx="3"/>
            <a:endCxn id="35" idx="0"/>
          </p:cNvCxnSpPr>
          <p:nvPr/>
        </p:nvCxnSpPr>
        <p:spPr>
          <a:xfrm>
            <a:off x="7185454" y="1458638"/>
            <a:ext cx="414598" cy="133405"/>
          </a:xfrm>
          <a:prstGeom prst="bentConnector2">
            <a:avLst/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E1A54F51-C786-2320-C9A0-D2082746D540}"/>
              </a:ext>
            </a:extLst>
          </p:cNvPr>
          <p:cNvCxnSpPr>
            <a:cxnSpLocks/>
            <a:stCxn id="27" idx="3"/>
            <a:endCxn id="35" idx="2"/>
          </p:cNvCxnSpPr>
          <p:nvPr/>
        </p:nvCxnSpPr>
        <p:spPr>
          <a:xfrm flipV="1">
            <a:off x="7198706" y="2157099"/>
            <a:ext cx="401346" cy="206231"/>
          </a:xfrm>
          <a:prstGeom prst="bentConnector2">
            <a:avLst/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77EF805-02E9-540C-A8D5-B4AC84C8C1F5}"/>
                  </a:ext>
                </a:extLst>
              </p:cNvPr>
              <p:cNvSpPr txBox="1"/>
              <p:nvPr/>
            </p:nvSpPr>
            <p:spPr>
              <a:xfrm>
                <a:off x="7131478" y="1710872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77EF805-02E9-540C-A8D5-B4AC84C8C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478" y="1710872"/>
                <a:ext cx="253274" cy="276999"/>
              </a:xfrm>
              <a:prstGeom prst="rect">
                <a:avLst/>
              </a:prstGeom>
              <a:blipFill>
                <a:blip r:embed="rId15"/>
                <a:stretch>
                  <a:fillRect l="-23810" r="-23810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1B157CAF-835A-29E6-7E4C-BBB5CDDD5703}"/>
              </a:ext>
            </a:extLst>
          </p:cNvPr>
          <p:cNvSpPr/>
          <p:nvPr/>
        </p:nvSpPr>
        <p:spPr>
          <a:xfrm>
            <a:off x="4504574" y="3028990"/>
            <a:ext cx="3378005" cy="1066333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08070EA4-1C47-2949-F1AB-3FC977E37D61}"/>
              </a:ext>
            </a:extLst>
          </p:cNvPr>
          <p:cNvSpPr/>
          <p:nvPr/>
        </p:nvSpPr>
        <p:spPr>
          <a:xfrm>
            <a:off x="8572430" y="490677"/>
            <a:ext cx="337842" cy="337842"/>
          </a:xfrm>
          <a:prstGeom prst="ellipse">
            <a:avLst/>
          </a:prstGeom>
          <a:solidFill>
            <a:srgbClr val="F1A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F197A7-BD69-C700-3C06-FED86565A8E9}"/>
              </a:ext>
            </a:extLst>
          </p:cNvPr>
          <p:cNvSpPr txBox="1"/>
          <p:nvPr/>
        </p:nvSpPr>
        <p:spPr>
          <a:xfrm>
            <a:off x="8587764" y="4506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c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5A8FF77-25CC-9296-8F23-536BF6407AAB}"/>
              </a:ext>
            </a:extLst>
          </p:cNvPr>
          <p:cNvSpPr/>
          <p:nvPr/>
        </p:nvSpPr>
        <p:spPr>
          <a:xfrm>
            <a:off x="8903172" y="1135177"/>
            <a:ext cx="1058633" cy="139284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3519BCB-6CEA-B01A-983C-77EE8D448DC5}"/>
              </a:ext>
            </a:extLst>
          </p:cNvPr>
          <p:cNvGrpSpPr/>
          <p:nvPr/>
        </p:nvGrpSpPr>
        <p:grpSpPr>
          <a:xfrm>
            <a:off x="8909105" y="1196784"/>
            <a:ext cx="877050" cy="835993"/>
            <a:chOff x="173590" y="5030995"/>
            <a:chExt cx="1156550" cy="1102409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615202DF-8F21-96BD-AA39-17A45A55F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783" y="5030995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0806183B-98A2-35F6-3395-B49F6D0FCC5D}"/>
                </a:ext>
              </a:extLst>
            </p:cNvPr>
            <p:cNvCxnSpPr>
              <a:cxnSpLocks/>
            </p:cNvCxnSpPr>
            <p:nvPr/>
          </p:nvCxnSpPr>
          <p:spPr>
            <a:xfrm>
              <a:off x="395783" y="6133404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5CDF2B5E-504A-C953-F442-8C5633F47A70}"/>
                </a:ext>
              </a:extLst>
            </p:cNvPr>
            <p:cNvSpPr/>
            <p:nvPr/>
          </p:nvSpPr>
          <p:spPr>
            <a:xfrm>
              <a:off x="476018" y="5253186"/>
              <a:ext cx="700756" cy="871671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1D81D07-DF69-D0D2-4A73-15D90A8C188E}"/>
                </a:ext>
              </a:extLst>
            </p:cNvPr>
            <p:cNvSpPr/>
            <p:nvPr/>
          </p:nvSpPr>
          <p:spPr>
            <a:xfrm>
              <a:off x="524890" y="5928304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ACE52DF5-3B36-26F6-288A-D91654816DDD}"/>
                </a:ext>
              </a:extLst>
            </p:cNvPr>
            <p:cNvSpPr/>
            <p:nvPr/>
          </p:nvSpPr>
          <p:spPr>
            <a:xfrm>
              <a:off x="694410" y="600521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879D85AA-AAA2-BEEA-F958-2A084836DF89}"/>
                </a:ext>
              </a:extLst>
            </p:cNvPr>
            <p:cNvSpPr/>
            <p:nvPr/>
          </p:nvSpPr>
          <p:spPr>
            <a:xfrm>
              <a:off x="781587" y="584284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25424C8-3B32-D5E0-3748-7A477B9E4131}"/>
                </a:ext>
              </a:extLst>
            </p:cNvPr>
            <p:cNvSpPr/>
            <p:nvPr/>
          </p:nvSpPr>
          <p:spPr>
            <a:xfrm>
              <a:off x="635826" y="5713233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6B9F0A-0061-B1A6-4A98-44B0F5E21777}"/>
                </a:ext>
              </a:extLst>
            </p:cNvPr>
            <p:cNvSpPr/>
            <p:nvPr/>
          </p:nvSpPr>
          <p:spPr>
            <a:xfrm>
              <a:off x="1035768" y="5146364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ED7FD8B-CF54-4803-3E9B-B6BBA71E7048}"/>
                </a:ext>
              </a:extLst>
            </p:cNvPr>
            <p:cNvSpPr/>
            <p:nvPr/>
          </p:nvSpPr>
          <p:spPr>
            <a:xfrm>
              <a:off x="1035768" y="5310069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2C04D69-081D-3BB2-69F8-9A3BE8AC5566}"/>
                </a:ext>
              </a:extLst>
            </p:cNvPr>
            <p:cNvSpPr/>
            <p:nvPr/>
          </p:nvSpPr>
          <p:spPr>
            <a:xfrm>
              <a:off x="940012" y="5398376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06F5B7FD-5223-AC5E-817B-58E26BE1C346}"/>
                </a:ext>
              </a:extLst>
            </p:cNvPr>
            <p:cNvSpPr/>
            <p:nvPr/>
          </p:nvSpPr>
          <p:spPr>
            <a:xfrm>
              <a:off x="844256" y="5246020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F477363-EE97-29D8-F9D4-D68B29995C1B}"/>
                </a:ext>
              </a:extLst>
            </p:cNvPr>
            <p:cNvSpPr/>
            <p:nvPr/>
          </p:nvSpPr>
          <p:spPr>
            <a:xfrm>
              <a:off x="737139" y="539975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F8AC73E6-7D88-35F5-483A-E7C39EA14FAA}"/>
                </a:ext>
              </a:extLst>
            </p:cNvPr>
            <p:cNvSpPr/>
            <p:nvPr/>
          </p:nvSpPr>
          <p:spPr>
            <a:xfrm>
              <a:off x="897283" y="558629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AF0CECF-FCF0-833A-BA3D-F45C3D359F12}"/>
                </a:ext>
              </a:extLst>
            </p:cNvPr>
            <p:cNvSpPr/>
            <p:nvPr/>
          </p:nvSpPr>
          <p:spPr>
            <a:xfrm>
              <a:off x="173590" y="5093041"/>
              <a:ext cx="934357" cy="184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2D82547-A71B-7174-291D-4C456D9529C9}"/>
              </a:ext>
            </a:extLst>
          </p:cNvPr>
          <p:cNvSpPr txBox="1"/>
          <p:nvPr/>
        </p:nvSpPr>
        <p:spPr>
          <a:xfrm>
            <a:off x="8863471" y="2024819"/>
            <a:ext cx="113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regularized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39FFF1A2-D58B-8735-D4AF-E8C7D1E7E93C}"/>
              </a:ext>
            </a:extLst>
          </p:cNvPr>
          <p:cNvSpPr/>
          <p:nvPr/>
        </p:nvSpPr>
        <p:spPr>
          <a:xfrm>
            <a:off x="10317878" y="1134596"/>
            <a:ext cx="1161669" cy="139284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9453229-AC54-5ECB-C5D6-AB5509C87523}"/>
              </a:ext>
            </a:extLst>
          </p:cNvPr>
          <p:cNvGrpSpPr/>
          <p:nvPr/>
        </p:nvGrpSpPr>
        <p:grpSpPr>
          <a:xfrm>
            <a:off x="10339049" y="1065135"/>
            <a:ext cx="988759" cy="1056854"/>
            <a:chOff x="45787" y="4868818"/>
            <a:chExt cx="1232148" cy="1317004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A0E70847-E7B3-AD41-E051-56F3BEB57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578" y="5038120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D77E4A76-D681-46F1-157B-78FDA4218216}"/>
                </a:ext>
              </a:extLst>
            </p:cNvPr>
            <p:cNvCxnSpPr>
              <a:cxnSpLocks/>
            </p:cNvCxnSpPr>
            <p:nvPr/>
          </p:nvCxnSpPr>
          <p:spPr>
            <a:xfrm>
              <a:off x="343578" y="5653415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B4618A6-6C1C-9ABF-4DB2-9807441F63EC}"/>
                </a:ext>
              </a:extLst>
            </p:cNvPr>
            <p:cNvSpPr/>
            <p:nvPr/>
          </p:nvSpPr>
          <p:spPr>
            <a:xfrm>
              <a:off x="433286" y="5312918"/>
              <a:ext cx="72015" cy="34200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2DD321F-3B31-854F-043B-BD9F260009CD}"/>
                </a:ext>
              </a:extLst>
            </p:cNvPr>
            <p:cNvSpPr/>
            <p:nvPr/>
          </p:nvSpPr>
          <p:spPr>
            <a:xfrm>
              <a:off x="585088" y="5486213"/>
              <a:ext cx="68356" cy="16720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2045A50F-20B3-51A3-6915-A879CCE06B4F}"/>
                </a:ext>
              </a:extLst>
            </p:cNvPr>
            <p:cNvSpPr/>
            <p:nvPr/>
          </p:nvSpPr>
          <p:spPr>
            <a:xfrm>
              <a:off x="771535" y="5449739"/>
              <a:ext cx="63084" cy="2036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EFF9444-6A75-D10D-A62B-A0EBA61BCFCA}"/>
                </a:ext>
              </a:extLst>
            </p:cNvPr>
            <p:cNvSpPr/>
            <p:nvPr/>
          </p:nvSpPr>
          <p:spPr>
            <a:xfrm>
              <a:off x="936292" y="5666506"/>
              <a:ext cx="63084" cy="1384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DAF062A-6CEC-6BA7-CB33-922437FD8E81}"/>
                </a:ext>
              </a:extLst>
            </p:cNvPr>
            <p:cNvSpPr/>
            <p:nvPr/>
          </p:nvSpPr>
          <p:spPr>
            <a:xfrm>
              <a:off x="1096219" y="5658963"/>
              <a:ext cx="62445" cy="36634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62608453-4437-96A4-957E-5EB147DFE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16870" y="5143122"/>
              <a:ext cx="121931" cy="121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460255F-69D7-9858-D0F0-F23A27D2B232}"/>
                    </a:ext>
                  </a:extLst>
                </p:cNvPr>
                <p:cNvSpPr txBox="1"/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CN" sz="1200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1460255F-69D7-9858-D0F0-F23A27D2B2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85217B3-3788-1DF9-14D0-BF6AA454D5CE}"/>
                </a:ext>
              </a:extLst>
            </p:cNvPr>
            <p:cNvCxnSpPr/>
            <p:nvPr/>
          </p:nvCxnSpPr>
          <p:spPr>
            <a:xfrm>
              <a:off x="343578" y="544973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791A58-C642-3587-FC8A-1866B6F2E957}"/>
                </a:ext>
              </a:extLst>
            </p:cNvPr>
            <p:cNvCxnSpPr/>
            <p:nvPr/>
          </p:nvCxnSpPr>
          <p:spPr>
            <a:xfrm>
              <a:off x="361567" y="581338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1E3AC86-A6FD-F7E5-6672-815AF25333A1}"/>
                    </a:ext>
                  </a:extLst>
                </p:cNvPr>
                <p:cNvSpPr txBox="1"/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11E3AC86-A6FD-F7E5-6672-815AF25333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blipFill>
                  <a:blip r:embed="rId18"/>
                  <a:stretch>
                    <a:fillRect l="-50000" r="-40000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11195CB-055D-17A4-CFD8-B4E857348749}"/>
                    </a:ext>
                  </a:extLst>
                </p:cNvPr>
                <p:cNvSpPr txBox="1"/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11195CB-055D-17A4-CFD8-B4E8573487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blipFill>
                  <a:blip r:embed="rId19"/>
                  <a:stretch>
                    <a:fillRect l="-16667" r="-33333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1F8ACB36-3BB7-35E1-9F83-EA2B7AACE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75731" y="6063891"/>
              <a:ext cx="121931" cy="121931"/>
            </a:xfrm>
            <a:prstGeom prst="rect">
              <a:avLst/>
            </a:prstGeom>
          </p:spPr>
        </p:pic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180DD981-324F-9961-7C23-A17FE2966579}"/>
              </a:ext>
            </a:extLst>
          </p:cNvPr>
          <p:cNvSpPr txBox="1"/>
          <p:nvPr/>
        </p:nvSpPr>
        <p:spPr>
          <a:xfrm>
            <a:off x="10447458" y="2053386"/>
            <a:ext cx="934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selection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29130D2-8912-7397-6439-E302BE68EE10}"/>
              </a:ext>
            </a:extLst>
          </p:cNvPr>
          <p:cNvSpPr txBox="1"/>
          <p:nvPr/>
        </p:nvSpPr>
        <p:spPr>
          <a:xfrm>
            <a:off x="10798192" y="1251290"/>
            <a:ext cx="635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feature</a:t>
            </a:r>
          </a:p>
        </p:txBody>
      </p:sp>
      <p:sp>
        <p:nvSpPr>
          <p:cNvPr id="102" name="Right Arrow 101">
            <a:extLst>
              <a:ext uri="{FF2B5EF4-FFF2-40B4-BE49-F238E27FC236}">
                <a16:creationId xmlns:a16="http://schemas.microsoft.com/office/drawing/2014/main" id="{85F1BB2A-D797-E433-A865-51981C3EA7BF}"/>
              </a:ext>
            </a:extLst>
          </p:cNvPr>
          <p:cNvSpPr/>
          <p:nvPr/>
        </p:nvSpPr>
        <p:spPr>
          <a:xfrm rot="5400000">
            <a:off x="10012336" y="2647594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EF7F8FE7-FD13-D0A2-2016-18C79D646660}"/>
              </a:ext>
            </a:extLst>
          </p:cNvPr>
          <p:cNvSpPr/>
          <p:nvPr/>
        </p:nvSpPr>
        <p:spPr>
          <a:xfrm>
            <a:off x="8532675" y="2958058"/>
            <a:ext cx="3318494" cy="854922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B643050-7A88-C2CE-BA00-7D5639C2C2B8}"/>
              </a:ext>
            </a:extLst>
          </p:cNvPr>
          <p:cNvSpPr/>
          <p:nvPr/>
        </p:nvSpPr>
        <p:spPr>
          <a:xfrm>
            <a:off x="8653324" y="3171737"/>
            <a:ext cx="18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185B8FB-0BF5-CD86-E30E-E0DEE34897B9}"/>
                  </a:ext>
                </a:extLst>
              </p:cNvPr>
              <p:cNvSpPr txBox="1"/>
              <p:nvPr/>
            </p:nvSpPr>
            <p:spPr>
              <a:xfrm>
                <a:off x="8793334" y="3080981"/>
                <a:ext cx="13876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600" dirty="0"/>
                  <a:t>Type 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/>
                  <a:t> &gt; 0)</a:t>
                </a: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C185B8FB-0BF5-CD86-E30E-E0DEE3489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334" y="3080981"/>
                <a:ext cx="1387688" cy="338554"/>
              </a:xfrm>
              <a:prstGeom prst="rect">
                <a:avLst/>
              </a:prstGeom>
              <a:blipFill>
                <a:blip r:embed="rId20"/>
                <a:stretch>
                  <a:fillRect l="-2727" t="-3571" r="-1818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>
            <a:extLst>
              <a:ext uri="{FF2B5EF4-FFF2-40B4-BE49-F238E27FC236}">
                <a16:creationId xmlns:a16="http://schemas.microsoft.com/office/drawing/2014/main" id="{1C9B535A-4CB0-2AF4-CE4C-360381380BE0}"/>
              </a:ext>
            </a:extLst>
          </p:cNvPr>
          <p:cNvSpPr txBox="1"/>
          <p:nvPr/>
        </p:nvSpPr>
        <p:spPr>
          <a:xfrm>
            <a:off x="8554978" y="3390132"/>
            <a:ext cx="16045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4472C4"/>
                </a:solidFill>
              </a:rPr>
              <a:t>Decision-Difficult</a:t>
            </a:r>
            <a:endParaRPr lang="en-CN" sz="1600" dirty="0">
              <a:solidFill>
                <a:srgbClr val="4472C4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8F99290-BE2E-C1A5-ABC0-6D405BB232CA}"/>
              </a:ext>
            </a:extLst>
          </p:cNvPr>
          <p:cNvSpPr/>
          <p:nvPr/>
        </p:nvSpPr>
        <p:spPr>
          <a:xfrm>
            <a:off x="10317694" y="3171737"/>
            <a:ext cx="180000" cy="18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BF8F081-142A-880E-DFC3-BFDDE7C6E9A6}"/>
                  </a:ext>
                </a:extLst>
              </p:cNvPr>
              <p:cNvSpPr txBox="1"/>
              <p:nvPr/>
            </p:nvSpPr>
            <p:spPr>
              <a:xfrm>
                <a:off x="10457704" y="3080981"/>
                <a:ext cx="131234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600" dirty="0"/>
                  <a:t>Type I(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/>
                  <a:t> &lt; 0)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FBF8F081-142A-880E-DFC3-BFDDE7C6E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704" y="3080981"/>
                <a:ext cx="1312347" cy="338554"/>
              </a:xfrm>
              <a:prstGeom prst="rect">
                <a:avLst/>
              </a:prstGeom>
              <a:blipFill>
                <a:blip r:embed="rId21"/>
                <a:stretch>
                  <a:fillRect l="-2885" t="-3571" r="-192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TextBox 108">
            <a:extLst>
              <a:ext uri="{FF2B5EF4-FFF2-40B4-BE49-F238E27FC236}">
                <a16:creationId xmlns:a16="http://schemas.microsoft.com/office/drawing/2014/main" id="{949F0F48-B975-769E-944B-393EC38C3B37}"/>
              </a:ext>
            </a:extLst>
          </p:cNvPr>
          <p:cNvSpPr txBox="1"/>
          <p:nvPr/>
        </p:nvSpPr>
        <p:spPr>
          <a:xfrm>
            <a:off x="10238119" y="3387314"/>
            <a:ext cx="16270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EBAB80"/>
                </a:solidFill>
              </a:rPr>
              <a:t>Information-Poor</a:t>
            </a:r>
            <a:endParaRPr lang="en-CN" sz="1600" dirty="0">
              <a:solidFill>
                <a:srgbClr val="EBAB80"/>
              </a:solidFill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15864129-2609-8F54-F1A1-1050A349BA14}"/>
              </a:ext>
            </a:extLst>
          </p:cNvPr>
          <p:cNvCxnSpPr>
            <a:cxnSpLocks/>
          </p:cNvCxnSpPr>
          <p:nvPr/>
        </p:nvCxnSpPr>
        <p:spPr>
          <a:xfrm>
            <a:off x="10210829" y="3121584"/>
            <a:ext cx="0" cy="537095"/>
          </a:xfrm>
          <a:prstGeom prst="line">
            <a:avLst/>
          </a:prstGeom>
          <a:ln w="19050">
            <a:solidFill>
              <a:srgbClr val="F1A08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ight Arrow 110">
            <a:extLst>
              <a:ext uri="{FF2B5EF4-FFF2-40B4-BE49-F238E27FC236}">
                <a16:creationId xmlns:a16="http://schemas.microsoft.com/office/drawing/2014/main" id="{65FB19C0-4FC2-B0C7-FB06-B754185193CB}"/>
              </a:ext>
            </a:extLst>
          </p:cNvPr>
          <p:cNvSpPr/>
          <p:nvPr/>
        </p:nvSpPr>
        <p:spPr>
          <a:xfrm rot="5400000">
            <a:off x="10027637" y="3897414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9EC5F1B0-01E5-0B1F-7222-D9683EF5BEE7}"/>
              </a:ext>
            </a:extLst>
          </p:cNvPr>
          <p:cNvSpPr/>
          <p:nvPr/>
        </p:nvSpPr>
        <p:spPr>
          <a:xfrm>
            <a:off x="8532675" y="4184877"/>
            <a:ext cx="3318494" cy="665696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4CC75DCA-3500-28C9-5999-7294430ECB96}"/>
              </a:ext>
            </a:extLst>
          </p:cNvPr>
          <p:cNvGrpSpPr/>
          <p:nvPr/>
        </p:nvGrpSpPr>
        <p:grpSpPr>
          <a:xfrm>
            <a:off x="8669828" y="4276275"/>
            <a:ext cx="466687" cy="466687"/>
            <a:chOff x="10896027" y="7645017"/>
            <a:chExt cx="466687" cy="466687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78C279B8-1EFC-E95B-2088-F553CB9FA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896027" y="7645017"/>
              <a:ext cx="466687" cy="466687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B2889BC6-0CAC-2569-FB15-1C23024A6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993156" y="7761575"/>
              <a:ext cx="282701" cy="282701"/>
            </a:xfrm>
            <a:prstGeom prst="rect">
              <a:avLst/>
            </a:prstGeom>
          </p:spPr>
        </p:pic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9E8AFADD-7CBF-8C06-1299-758F1217CECA}"/>
              </a:ext>
            </a:extLst>
          </p:cNvPr>
          <p:cNvSpPr txBox="1"/>
          <p:nvPr/>
        </p:nvSpPr>
        <p:spPr>
          <a:xfrm>
            <a:off x="9211458" y="4201682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solidFill>
                  <a:schemeClr val="tx1"/>
                </a:solidFill>
                <a:latin typeface="Comic Sans MS" panose="030F0902030302020204" pitchFamily="66" charset="0"/>
              </a:rPr>
              <a:t>Deployed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73007CD-44C8-E92C-91B4-AFFEDD2B9282}"/>
                  </a:ext>
                </a:extLst>
              </p:cNvPr>
              <p:cNvSpPr txBox="1"/>
              <p:nvPr/>
            </p:nvSpPr>
            <p:spPr>
              <a:xfrm>
                <a:off x="9190640" y="4496546"/>
                <a:ext cx="2521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73007CD-44C8-E92C-91B4-AFFEDD2B9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640" y="4496546"/>
                <a:ext cx="2521459" cy="307777"/>
              </a:xfrm>
              <a:prstGeom prst="rect">
                <a:avLst/>
              </a:prstGeom>
              <a:blipFill>
                <a:blip r:embed="rId2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BE6F7DB6-4DF2-A678-EC05-4DD38CD87308}"/>
              </a:ext>
            </a:extLst>
          </p:cNvPr>
          <p:cNvCxnSpPr>
            <a:cxnSpLocks/>
            <a:stCxn id="13" idx="3"/>
            <a:endCxn id="34" idx="2"/>
          </p:cNvCxnSpPr>
          <p:nvPr/>
        </p:nvCxnSpPr>
        <p:spPr>
          <a:xfrm flipV="1">
            <a:off x="3299348" y="2131354"/>
            <a:ext cx="346484" cy="167128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8E2F96D5-811B-6B74-4EEB-D1D140EF99E9}"/>
                  </a:ext>
                </a:extLst>
              </p:cNvPr>
              <p:cNvSpPr/>
              <p:nvPr/>
            </p:nvSpPr>
            <p:spPr>
              <a:xfrm>
                <a:off x="475305" y="3113892"/>
                <a:ext cx="1304547" cy="307778"/>
              </a:xfrm>
              <a:prstGeom prst="roundRect">
                <a:avLst>
                  <a:gd name="adj" fmla="val 8677"/>
                </a:avLst>
              </a:prstGeom>
              <a:solidFill>
                <a:srgbClr val="DBE8F3"/>
              </a:solidFill>
              <a:ln w="19050">
                <a:solidFill>
                  <a:srgbClr val="8AB0D7"/>
                </a:solidFill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𝑡𝑒𝑥𝑡</m:t>
                      </m:r>
                    </m:oMath>
                  </m:oMathPara>
                </a14:m>
                <a:endParaRPr lang="en-CN" sz="160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8E2F96D5-811B-6B74-4EEB-D1D140EF99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05" y="3113892"/>
                <a:ext cx="1304547" cy="307778"/>
              </a:xfrm>
              <a:prstGeom prst="roundRect">
                <a:avLst>
                  <a:gd name="adj" fmla="val 8677"/>
                </a:avLst>
              </a:prstGeom>
              <a:blipFill>
                <a:blip r:embed="rId25"/>
                <a:stretch>
                  <a:fillRect/>
                </a:stretch>
              </a:blipFill>
              <a:ln w="19050">
                <a:solidFill>
                  <a:srgbClr val="8AB0D7"/>
                </a:solidFill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2092F3C3-6EC1-BC6A-3E9A-8BCF346014C3}"/>
              </a:ext>
            </a:extLst>
          </p:cNvPr>
          <p:cNvSpPr/>
          <p:nvPr/>
        </p:nvSpPr>
        <p:spPr>
          <a:xfrm>
            <a:off x="475304" y="3505201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58686F5B-A6DC-7537-C38F-135339C40A2E}"/>
              </a:ext>
            </a:extLst>
          </p:cNvPr>
          <p:cNvSpPr/>
          <p:nvPr/>
        </p:nvSpPr>
        <p:spPr>
          <a:xfrm>
            <a:off x="475303" y="3907533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53D1786-A71D-3135-4060-2F24D7919DE7}"/>
              </a:ext>
            </a:extLst>
          </p:cNvPr>
          <p:cNvSpPr txBox="1"/>
          <p:nvPr/>
        </p:nvSpPr>
        <p:spPr>
          <a:xfrm>
            <a:off x="1779850" y="3100927"/>
            <a:ext cx="200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Results Page (Page 1/5)</a:t>
            </a:r>
            <a:r>
              <a:rPr lang="en-US" altLang="zh-CN" sz="1400" dirty="0"/>
              <a:t>…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001A925-952F-C9C1-607F-938ED1BB1FBE}"/>
                  </a:ext>
                </a:extLst>
              </p:cNvPr>
              <p:cNvSpPr txBox="1"/>
              <p:nvPr/>
            </p:nvSpPr>
            <p:spPr>
              <a:xfrm>
                <a:off x="527935" y="3484302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3001A925-952F-C9C1-607F-938ED1BB1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935" y="3484302"/>
                <a:ext cx="927690" cy="3385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9BF27B61-043D-6B98-FD5D-50A833BE02F7}"/>
                  </a:ext>
                </a:extLst>
              </p:cNvPr>
              <p:cNvSpPr txBox="1"/>
              <p:nvPr/>
            </p:nvSpPr>
            <p:spPr>
              <a:xfrm>
                <a:off x="528791" y="3896510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9BF27B61-043D-6B98-FD5D-50A833BE0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91" y="3896510"/>
                <a:ext cx="929485" cy="33855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5489CD17-69D3-D4DE-97C4-44F08DC4D1DF}"/>
              </a:ext>
            </a:extLst>
          </p:cNvPr>
          <p:cNvSpPr txBox="1"/>
          <p:nvPr/>
        </p:nvSpPr>
        <p:spPr>
          <a:xfrm>
            <a:off x="1774149" y="3484820"/>
            <a:ext cx="636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[Next]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75EAE29-C182-8FF4-6BCA-AD5CE6DE021D}"/>
              </a:ext>
            </a:extLst>
          </p:cNvPr>
          <p:cNvSpPr txBox="1"/>
          <p:nvPr/>
        </p:nvSpPr>
        <p:spPr>
          <a:xfrm>
            <a:off x="1774149" y="3896510"/>
            <a:ext cx="1356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[Back to Search]</a:t>
            </a: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47565895-9D2F-079A-8144-D4A177C581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0194" y="4491168"/>
            <a:ext cx="342160" cy="342160"/>
          </a:xfrm>
          <a:prstGeom prst="rect">
            <a:avLst/>
          </a:prstGeom>
        </p:spPr>
      </p:pic>
      <p:cxnSp>
        <p:nvCxnSpPr>
          <p:cNvPr id="147" name="Elbow Connector 146">
            <a:extLst>
              <a:ext uri="{FF2B5EF4-FFF2-40B4-BE49-F238E27FC236}">
                <a16:creationId xmlns:a16="http://schemas.microsoft.com/office/drawing/2014/main" id="{39425739-E111-1C4A-070C-99B898E4E50A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4877478" y="1751571"/>
            <a:ext cx="248739" cy="611759"/>
          </a:xfrm>
          <a:prstGeom prst="bentConnector3">
            <a:avLst>
              <a:gd name="adj1" fmla="val 50000"/>
            </a:avLst>
          </a:prstGeom>
          <a:ln w="12700">
            <a:solidFill>
              <a:srgbClr val="22553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8393630C-0747-65E6-B19F-AC120FD67755}"/>
              </a:ext>
            </a:extLst>
          </p:cNvPr>
          <p:cNvSpPr txBox="1"/>
          <p:nvPr/>
        </p:nvSpPr>
        <p:spPr>
          <a:xfrm>
            <a:off x="4648643" y="2868756"/>
            <a:ext cx="1577676" cy="307777"/>
          </a:xfrm>
          <a:prstGeom prst="rect">
            <a:avLst/>
          </a:prstGeom>
          <a:solidFill>
            <a:srgbClr val="FAFFF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Feature</a:t>
            </a:r>
            <a:r>
              <a:rPr lang="zh-CN" altLang="en-US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example</a:t>
            </a:r>
            <a:endParaRPr lang="en-CN" sz="1400" b="1" dirty="0">
              <a:solidFill>
                <a:srgbClr val="457543"/>
              </a:solidFill>
              <a:latin typeface="Comic Sans MS" panose="030F0902030302020204" pitchFamily="66" charset="0"/>
            </a:endParaRPr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20ECFC73-70C2-56EF-E04A-3B407536B9F1}"/>
              </a:ext>
            </a:extLst>
          </p:cNvPr>
          <p:cNvSpPr/>
          <p:nvPr/>
        </p:nvSpPr>
        <p:spPr>
          <a:xfrm>
            <a:off x="4647420" y="3211357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964616EB-E126-4F2F-47F8-F1B8967CAF6F}"/>
              </a:ext>
            </a:extLst>
          </p:cNvPr>
          <p:cNvSpPr/>
          <p:nvPr/>
        </p:nvSpPr>
        <p:spPr>
          <a:xfrm>
            <a:off x="4647420" y="3628488"/>
            <a:ext cx="1464546" cy="3077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7E8A219F-6A61-65BE-B05E-CA782CB2B98E}"/>
              </a:ext>
            </a:extLst>
          </p:cNvPr>
          <p:cNvSpPr/>
          <p:nvPr/>
        </p:nvSpPr>
        <p:spPr>
          <a:xfrm>
            <a:off x="6295404" y="3211357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02424140-E8AE-4D57-5E1E-6713D4C9287E}"/>
              </a:ext>
            </a:extLst>
          </p:cNvPr>
          <p:cNvSpPr/>
          <p:nvPr/>
        </p:nvSpPr>
        <p:spPr>
          <a:xfrm>
            <a:off x="6305136" y="3639511"/>
            <a:ext cx="1454813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11CD6A98-9C70-6877-3E0C-5520414717F9}"/>
              </a:ext>
            </a:extLst>
          </p:cNvPr>
          <p:cNvSpPr/>
          <p:nvPr/>
        </p:nvSpPr>
        <p:spPr>
          <a:xfrm>
            <a:off x="4511081" y="4204287"/>
            <a:ext cx="3371498" cy="6839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9582E3F-5663-A6B7-D604-FF8FD453F0B5}"/>
                  </a:ext>
                </a:extLst>
              </p:cNvPr>
              <p:cNvSpPr txBox="1"/>
              <p:nvPr/>
            </p:nvSpPr>
            <p:spPr>
              <a:xfrm>
                <a:off x="5286955" y="4203983"/>
                <a:ext cx="26262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9582E3F-5663-A6B7-D604-FF8FD453F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955" y="4203983"/>
                <a:ext cx="2626296" cy="307777"/>
              </a:xfrm>
              <a:prstGeom prst="rect">
                <a:avLst/>
              </a:prstGeom>
              <a:blipFill>
                <a:blip r:embed="rId28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Left Brace 38">
            <a:extLst>
              <a:ext uri="{FF2B5EF4-FFF2-40B4-BE49-F238E27FC236}">
                <a16:creationId xmlns:a16="http://schemas.microsoft.com/office/drawing/2014/main" id="{276E7204-3C35-9A08-2EBC-DBB64FD8C769}"/>
              </a:ext>
            </a:extLst>
          </p:cNvPr>
          <p:cNvSpPr/>
          <p:nvPr/>
        </p:nvSpPr>
        <p:spPr>
          <a:xfrm rot="16200000">
            <a:off x="6152316" y="4277665"/>
            <a:ext cx="153824" cy="63446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C225DF-CE39-5A5A-9AA6-54780298C7DF}"/>
              </a:ext>
            </a:extLst>
          </p:cNvPr>
          <p:cNvSpPr txBox="1"/>
          <p:nvPr/>
        </p:nvSpPr>
        <p:spPr>
          <a:xfrm>
            <a:off x="5601870" y="4600126"/>
            <a:ext cx="129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</a:t>
            </a:r>
            <a:r>
              <a:rPr lang="en-CN" sz="1400" dirty="0"/>
              <a:t>eatures’ value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6A7F02ED-AD7D-2DB4-209A-54656ADE5B96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61733" y="4363166"/>
            <a:ext cx="356732" cy="3567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DAB202A-CE9D-9497-DB40-4D05C38C7753}"/>
                  </a:ext>
                </a:extLst>
              </p:cNvPr>
              <p:cNvSpPr txBox="1"/>
              <p:nvPr/>
            </p:nvSpPr>
            <p:spPr>
              <a:xfrm>
                <a:off x="4640744" y="3193663"/>
                <a:ext cx="14962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𝑒𝑛𝑡𝑟𝑜𝑝𝑦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=0.043</a:t>
                </a: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DAB202A-CE9D-9497-DB40-4D05C38C7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3193663"/>
                <a:ext cx="1496243" cy="338554"/>
              </a:xfrm>
              <a:prstGeom prst="rect">
                <a:avLst/>
              </a:prstGeom>
              <a:blipFill>
                <a:blip r:embed="rId29"/>
                <a:stretch>
                  <a:fillRect t="-3704" r="-840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A91D42DF-AF86-644A-1EF1-43E8CB8D46D9}"/>
                  </a:ext>
                </a:extLst>
              </p:cNvPr>
              <p:cNvSpPr txBox="1"/>
              <p:nvPr/>
            </p:nvSpPr>
            <p:spPr>
              <a:xfrm>
                <a:off x="6243544" y="3604746"/>
                <a:ext cx="16166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𝑎𝑐𝑡𝑖𝑜𝑛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=2.31</a:t>
                </a:r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A91D42DF-AF86-644A-1EF1-43E8CB8D4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544" y="3604746"/>
                <a:ext cx="1616661" cy="338554"/>
              </a:xfrm>
              <a:prstGeom prst="rect">
                <a:avLst/>
              </a:prstGeom>
              <a:blipFill>
                <a:blip r:embed="rId30"/>
                <a:stretch>
                  <a:fillRect t="-3571" r="-156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F1CE9EE-B2B8-C099-1060-DDA38EE68A03}"/>
                  </a:ext>
                </a:extLst>
              </p:cNvPr>
              <p:cNvSpPr txBox="1"/>
              <p:nvPr/>
            </p:nvSpPr>
            <p:spPr>
              <a:xfrm>
                <a:off x="4642334" y="3603625"/>
                <a:ext cx="14382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=412</a:t>
                </a: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F1CE9EE-B2B8-C099-1060-DDA38EE68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334" y="3603625"/>
                <a:ext cx="1438214" cy="338554"/>
              </a:xfrm>
              <a:prstGeom prst="rect">
                <a:avLst/>
              </a:prstGeom>
              <a:blipFill>
                <a:blip r:embed="rId31"/>
                <a:stretch>
                  <a:fillRect t="-3571" r="-1754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D9F4EB0-B97C-290A-7719-C2AAE29159D8}"/>
                  </a:ext>
                </a:extLst>
              </p:cNvPr>
              <p:cNvSpPr txBox="1"/>
              <p:nvPr/>
            </p:nvSpPr>
            <p:spPr>
              <a:xfrm>
                <a:off x="6249740" y="3193534"/>
                <a:ext cx="78508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=3</a:t>
                </a: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D9F4EB0-B97C-290A-7719-C2AAE2915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740" y="3193534"/>
                <a:ext cx="785087" cy="338554"/>
              </a:xfrm>
              <a:prstGeom prst="rect">
                <a:avLst/>
              </a:prstGeom>
              <a:blipFill>
                <a:blip r:embed="rId32"/>
                <a:stretch>
                  <a:fillRect t="-3704" r="-322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Right Arrow 177">
            <a:extLst>
              <a:ext uri="{FF2B5EF4-FFF2-40B4-BE49-F238E27FC236}">
                <a16:creationId xmlns:a16="http://schemas.microsoft.com/office/drawing/2014/main" id="{8E7DC2B2-73AA-A991-EAE8-E4874CEA26D4}"/>
              </a:ext>
            </a:extLst>
          </p:cNvPr>
          <p:cNvSpPr/>
          <p:nvPr/>
        </p:nvSpPr>
        <p:spPr>
          <a:xfrm>
            <a:off x="4018414" y="2423347"/>
            <a:ext cx="411199" cy="401053"/>
          </a:xfrm>
          <a:prstGeom prst="rightArrow">
            <a:avLst/>
          </a:prstGeom>
          <a:solidFill>
            <a:srgbClr val="8AB0D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179" name="Right Arrow 178">
            <a:extLst>
              <a:ext uri="{FF2B5EF4-FFF2-40B4-BE49-F238E27FC236}">
                <a16:creationId xmlns:a16="http://schemas.microsoft.com/office/drawing/2014/main" id="{C49E5F5C-4C58-3CAC-F17D-F630967260A0}"/>
              </a:ext>
            </a:extLst>
          </p:cNvPr>
          <p:cNvSpPr/>
          <p:nvPr/>
        </p:nvSpPr>
        <p:spPr>
          <a:xfrm>
            <a:off x="8021594" y="2435548"/>
            <a:ext cx="411199" cy="401053"/>
          </a:xfrm>
          <a:prstGeom prst="rightArrow">
            <a:avLst/>
          </a:prstGeom>
          <a:solidFill>
            <a:srgbClr val="94B78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5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3C14A46-208B-7C26-E070-A265444E7C0D}"/>
              </a:ext>
            </a:extLst>
          </p:cNvPr>
          <p:cNvSpPr/>
          <p:nvPr/>
        </p:nvSpPr>
        <p:spPr>
          <a:xfrm>
            <a:off x="8364457" y="412939"/>
            <a:ext cx="3628189" cy="5458472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1A0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1B003D-0250-2E6F-EF05-AE7704782E2D}"/>
              </a:ext>
            </a:extLst>
          </p:cNvPr>
          <p:cNvSpPr/>
          <p:nvPr/>
        </p:nvSpPr>
        <p:spPr>
          <a:xfrm>
            <a:off x="4321136" y="412939"/>
            <a:ext cx="3764083" cy="5458472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FFDB858-A347-1168-B524-8EB7740136E0}"/>
              </a:ext>
            </a:extLst>
          </p:cNvPr>
          <p:cNvSpPr/>
          <p:nvPr/>
        </p:nvSpPr>
        <p:spPr>
          <a:xfrm>
            <a:off x="-237506" y="395859"/>
            <a:ext cx="4265383" cy="5475552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D0A6BE-21EB-0F5A-CFA9-8D7E80AFACE3}"/>
              </a:ext>
            </a:extLst>
          </p:cNvPr>
          <p:cNvGrpSpPr/>
          <p:nvPr/>
        </p:nvGrpSpPr>
        <p:grpSpPr>
          <a:xfrm>
            <a:off x="1323584" y="1745132"/>
            <a:ext cx="1690679" cy="553998"/>
            <a:chOff x="4350760" y="1738004"/>
            <a:chExt cx="1690679" cy="553998"/>
          </a:xfrm>
          <a:effectLst/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A03DAC4-E50A-DEFB-FDC3-E299BD4C110F}"/>
                </a:ext>
              </a:extLst>
            </p:cNvPr>
            <p:cNvSpPr/>
            <p:nvPr/>
          </p:nvSpPr>
          <p:spPr>
            <a:xfrm>
              <a:off x="4350760" y="1760010"/>
              <a:ext cx="1690679" cy="496080"/>
            </a:xfrm>
            <a:prstGeom prst="roundRect">
              <a:avLst/>
            </a:prstGeom>
            <a:solidFill>
              <a:srgbClr val="BCCFE8"/>
            </a:solidFill>
            <a:ln w="19050">
              <a:solidFill>
                <a:srgbClr val="8AB0D7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B44A2B7-4811-A7E3-4C4D-FD003A2A0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2418" y="1813044"/>
              <a:ext cx="405960" cy="405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09BE942-CBFB-087E-710C-2ED022EDF9D0}"/>
                    </a:ext>
                  </a:extLst>
                </p:cNvPr>
                <p:cNvSpPr txBox="1"/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Comic Sans MS" panose="030F0902030302020204" pitchFamily="66" charset="0"/>
                    </a:rPr>
                    <a:t>Test-</a:t>
                  </a:r>
                  <a:r>
                    <a:rPr lang="en-US" altLang="zh-CN" sz="1400" dirty="0">
                      <a:latin typeface="Comic Sans MS" panose="030F0902030302020204" pitchFamily="66" charset="0"/>
                    </a:rPr>
                    <a:t>Time</a:t>
                  </a:r>
                </a:p>
                <a:p>
                  <a:pPr algn="ctr"/>
                  <a:r>
                    <a:rPr lang="en-CN" sz="1400">
                      <a:latin typeface="Comic Sans MS" panose="030F0902030302020204" pitchFamily="66" charset="0"/>
                    </a:rPr>
                    <a:t>Optimizer</a:t>
                  </a:r>
                  <a:r>
                    <a:rPr lang="en-CN" sz="160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CN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09BE942-CBFB-087E-710C-2ED022EDF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1042" t="-2273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4AFE61C-4D70-EAA8-74E3-1EC9C34F77F4}"/>
              </a:ext>
            </a:extLst>
          </p:cNvPr>
          <p:cNvGrpSpPr/>
          <p:nvPr/>
        </p:nvGrpSpPr>
        <p:grpSpPr>
          <a:xfrm>
            <a:off x="1323486" y="3007655"/>
            <a:ext cx="1741350" cy="485206"/>
            <a:chOff x="9350664" y="2343215"/>
            <a:chExt cx="1741350" cy="48520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73AC35D-A8CA-C70E-5BC1-8331C3D255EE}"/>
                </a:ext>
              </a:extLst>
            </p:cNvPr>
            <p:cNvGrpSpPr/>
            <p:nvPr/>
          </p:nvGrpSpPr>
          <p:grpSpPr>
            <a:xfrm>
              <a:off x="9350664" y="2343215"/>
              <a:ext cx="1741350" cy="485206"/>
              <a:chOff x="4350760" y="1770884"/>
              <a:chExt cx="1741350" cy="485206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3A0D8F2-9F1E-6518-148C-3CD00F5565DC}"/>
                  </a:ext>
                </a:extLst>
              </p:cNvPr>
              <p:cNvSpPr/>
              <p:nvPr/>
            </p:nvSpPr>
            <p:spPr>
              <a:xfrm>
                <a:off x="4350760" y="1770884"/>
                <a:ext cx="1690679" cy="485206"/>
              </a:xfrm>
              <a:prstGeom prst="roundRect">
                <a:avLst/>
              </a:prstGeom>
              <a:solidFill>
                <a:srgbClr val="BCCFE8"/>
              </a:solidFill>
              <a:ln w="19050">
                <a:solidFill>
                  <a:srgbClr val="8AB0D7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2BBAE3-3462-7CBC-76E6-F7350F74EE21}"/>
                      </a:ext>
                    </a:extLst>
                  </p:cNvPr>
                  <p:cNvSpPr txBox="1"/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Comic Sans MS" panose="030F0902030302020204" pitchFamily="66" charset="0"/>
                      </a:rPr>
                      <a:t>Base Policy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a14:m>
                    <a:endParaRPr lang="en-CN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2BBAE3-3462-7CBC-76E6-F7350F74EE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97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D4BAED0-9B78-9056-D99D-15449D96F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16461" y="2352640"/>
              <a:ext cx="452689" cy="45268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EB69D0-EFD4-C68B-D3ED-C0F0CAAC81F5}"/>
                  </a:ext>
                </a:extLst>
              </p:cNvPr>
              <p:cNvSpPr txBox="1"/>
              <p:nvPr/>
            </p:nvSpPr>
            <p:spPr>
              <a:xfrm>
                <a:off x="2981428" y="1686265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1B4772"/>
                            </a:solidFill>
                          </a:ln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ln>
                    <a:solidFill>
                      <a:srgbClr val="1B4772"/>
                    </a:solidFill>
                  </a:ln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EB69D0-EFD4-C68B-D3ED-C0F0CAAC8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428" y="1686265"/>
                <a:ext cx="92769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6DE6E-3462-F28A-85EF-0238C4193125}"/>
                  </a:ext>
                </a:extLst>
              </p:cNvPr>
              <p:cNvSpPr txBox="1"/>
              <p:nvPr/>
            </p:nvSpPr>
            <p:spPr>
              <a:xfrm>
                <a:off x="3027033" y="3211357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1B4772"/>
                            </a:solidFill>
                          </a:ln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ln>
                    <a:solidFill>
                      <a:srgbClr val="1B4772"/>
                    </a:solidFill>
                  </a:ln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6DE6E-3462-F28A-85EF-0238C4193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33" y="3211357"/>
                <a:ext cx="929485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B96B7A-ED19-7280-6DE8-6D725E98F49F}"/>
                  </a:ext>
                </a:extLst>
              </p:cNvPr>
              <p:cNvSpPr txBox="1"/>
              <p:nvPr/>
            </p:nvSpPr>
            <p:spPr>
              <a:xfrm>
                <a:off x="5440963" y="1108514"/>
                <a:ext cx="18198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State text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B96B7A-ED19-7280-6DE8-6D725E98F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963" y="1108514"/>
                <a:ext cx="1819857" cy="307777"/>
              </a:xfrm>
              <a:prstGeom prst="rect">
                <a:avLst/>
              </a:prstGeom>
              <a:blipFill>
                <a:blip r:embed="rId9"/>
                <a:stretch>
                  <a:fillRect l="-694" t="-4000"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A65E7A14-5EBA-6817-F1E5-0AA9B1856D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8916" y="1191631"/>
            <a:ext cx="452689" cy="452689"/>
          </a:xfrm>
          <a:prstGeom prst="rect">
            <a:avLst/>
          </a:prstGeom>
        </p:spPr>
      </p:pic>
      <p:sp>
        <p:nvSpPr>
          <p:cNvPr id="31" name="Right Arrow 30">
            <a:extLst>
              <a:ext uri="{FF2B5EF4-FFF2-40B4-BE49-F238E27FC236}">
                <a16:creationId xmlns:a16="http://schemas.microsoft.com/office/drawing/2014/main" id="{210C67EE-34AE-AD55-052E-AFC6A141C4A0}"/>
              </a:ext>
            </a:extLst>
          </p:cNvPr>
          <p:cNvSpPr/>
          <p:nvPr/>
        </p:nvSpPr>
        <p:spPr>
          <a:xfrm>
            <a:off x="10012336" y="1649592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5AC190D-084E-1E27-A798-3AC3448D4601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397716" y="6322453"/>
            <a:ext cx="452689" cy="45268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4F014F7-74CE-BE8A-9240-74385F477065}"/>
              </a:ext>
            </a:extLst>
          </p:cNvPr>
          <p:cNvSpPr txBox="1"/>
          <p:nvPr/>
        </p:nvSpPr>
        <p:spPr>
          <a:xfrm>
            <a:off x="632157" y="454171"/>
            <a:ext cx="2868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Explore: Signal-Agnostic Data Collection</a:t>
            </a:r>
            <a:endParaRPr lang="en-CN" sz="1600" dirty="0">
              <a:solidFill>
                <a:srgbClr val="1B4773"/>
              </a:solidFill>
              <a:latin typeface="Comic Sans MS" panose="030F0902030302020204" pitchFamily="66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499845-4612-2F5C-C53C-EFC24A9358FA}"/>
              </a:ext>
            </a:extLst>
          </p:cNvPr>
          <p:cNvSpPr txBox="1"/>
          <p:nvPr/>
        </p:nvSpPr>
        <p:spPr>
          <a:xfrm>
            <a:off x="4879278" y="472355"/>
            <a:ext cx="2557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Reason: Feature Extraction &amp; Merging</a:t>
            </a:r>
            <a:endParaRPr lang="en-CN" sz="1600" dirty="0">
              <a:solidFill>
                <a:srgbClr val="225532"/>
              </a:solidFill>
              <a:latin typeface="Comic Sans MS" panose="030F0902030302020204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A13FD0-0C55-117F-7852-754A3784B785}"/>
              </a:ext>
            </a:extLst>
          </p:cNvPr>
          <p:cNvSpPr txBox="1"/>
          <p:nvPr/>
        </p:nvSpPr>
        <p:spPr>
          <a:xfrm>
            <a:off x="8993534" y="468214"/>
            <a:ext cx="2537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A93B31"/>
                </a:solidFill>
                <a:latin typeface="Comic Sans MS" panose="030F0902030302020204" pitchFamily="66" charset="0"/>
              </a:rPr>
              <a:t>Learn: Feature Selection &amp; Direction Discovery</a:t>
            </a:r>
            <a:endParaRPr lang="en-CN" sz="1600" dirty="0">
              <a:solidFill>
                <a:srgbClr val="A93B31"/>
              </a:solidFill>
              <a:latin typeface="Comic Sans MS" panose="030F0902030302020204" pitchFamily="66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AC8531-0E93-A73D-C590-F5E05CF35E2B}"/>
              </a:ext>
            </a:extLst>
          </p:cNvPr>
          <p:cNvSpPr/>
          <p:nvPr/>
        </p:nvSpPr>
        <p:spPr>
          <a:xfrm>
            <a:off x="281035" y="489258"/>
            <a:ext cx="337842" cy="337842"/>
          </a:xfrm>
          <a:prstGeom prst="ellipse">
            <a:avLst/>
          </a:prstGeom>
          <a:solidFill>
            <a:srgbClr val="8AB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B063F1C-71B8-9E51-2AD0-2B8CC68195D6}"/>
              </a:ext>
            </a:extLst>
          </p:cNvPr>
          <p:cNvSpPr/>
          <p:nvPr/>
        </p:nvSpPr>
        <p:spPr>
          <a:xfrm>
            <a:off x="-154377" y="1850506"/>
            <a:ext cx="977333" cy="1542679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B66C608-3CB0-7C66-C1CA-01C06B875A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49" y="1888182"/>
            <a:ext cx="461363" cy="46136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ADD5F92-B6AE-9915-0F88-9B706E772323}"/>
              </a:ext>
            </a:extLst>
          </p:cNvPr>
          <p:cNvSpPr txBox="1"/>
          <p:nvPr/>
        </p:nvSpPr>
        <p:spPr>
          <a:xfrm>
            <a:off x="65260" y="2307587"/>
            <a:ext cx="58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agent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5263B22-FE37-CB2F-8630-446BFD5EAF0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715" y="2698342"/>
            <a:ext cx="431734" cy="43173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E64235-C3C4-EBA9-1A69-4FEE0439A9D1}"/>
              </a:ext>
            </a:extLst>
          </p:cNvPr>
          <p:cNvSpPr txBox="1"/>
          <p:nvPr/>
        </p:nvSpPr>
        <p:spPr>
          <a:xfrm>
            <a:off x="-165636" y="3090375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environment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7C09190-7FF1-6294-8DB3-3E09B3AB24A0}"/>
              </a:ext>
            </a:extLst>
          </p:cNvPr>
          <p:cNvCxnSpPr>
            <a:cxnSpLocks/>
          </p:cNvCxnSpPr>
          <p:nvPr/>
        </p:nvCxnSpPr>
        <p:spPr>
          <a:xfrm>
            <a:off x="-36158" y="2621845"/>
            <a:ext cx="761173" cy="0"/>
          </a:xfrm>
          <a:prstGeom prst="line">
            <a:avLst/>
          </a:prstGeom>
          <a:ln w="19050">
            <a:solidFill>
              <a:srgbClr val="8AB0D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C836101D-1EAB-AD60-6EA0-B780ADD97B71}"/>
              </a:ext>
            </a:extLst>
          </p:cNvPr>
          <p:cNvCxnSpPr>
            <a:cxnSpLocks/>
            <a:stCxn id="42" idx="3"/>
            <a:endCxn id="12" idx="1"/>
          </p:cNvCxnSpPr>
          <p:nvPr/>
        </p:nvCxnSpPr>
        <p:spPr>
          <a:xfrm>
            <a:off x="822956" y="2621846"/>
            <a:ext cx="500530" cy="628412"/>
          </a:xfrm>
          <a:prstGeom prst="bentConnector3">
            <a:avLst>
              <a:gd name="adj1" fmla="val 65771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E9D0F640-2CF6-B718-C2E8-676D3C16E736}"/>
              </a:ext>
            </a:extLst>
          </p:cNvPr>
          <p:cNvCxnSpPr>
            <a:cxnSpLocks/>
            <a:stCxn id="42" idx="3"/>
            <a:endCxn id="6" idx="1"/>
          </p:cNvCxnSpPr>
          <p:nvPr/>
        </p:nvCxnSpPr>
        <p:spPr>
          <a:xfrm flipV="1">
            <a:off x="822956" y="2015178"/>
            <a:ext cx="500628" cy="606668"/>
          </a:xfrm>
          <a:prstGeom prst="bentConnector3">
            <a:avLst>
              <a:gd name="adj1" fmla="val 64454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E62747-54DD-B2CE-FBEB-98EB01BB8FE1}"/>
              </a:ext>
            </a:extLst>
          </p:cNvPr>
          <p:cNvCxnSpPr>
            <a:cxnSpLocks/>
            <a:stCxn id="6" idx="3"/>
            <a:endCxn id="143" idx="0"/>
          </p:cNvCxnSpPr>
          <p:nvPr/>
        </p:nvCxnSpPr>
        <p:spPr>
          <a:xfrm>
            <a:off x="3014263" y="2015178"/>
            <a:ext cx="414917" cy="292408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A3B0DEC-CD0E-E1C7-5BC3-2F1F1ECE129E}"/>
              </a:ext>
            </a:extLst>
          </p:cNvPr>
          <p:cNvSpPr/>
          <p:nvPr/>
        </p:nvSpPr>
        <p:spPr>
          <a:xfrm>
            <a:off x="-101278" y="3722098"/>
            <a:ext cx="3972909" cy="1439039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3A0369-21F7-C907-5171-3819EE87777D}"/>
              </a:ext>
            </a:extLst>
          </p:cNvPr>
          <p:cNvSpPr txBox="1"/>
          <p:nvPr/>
        </p:nvSpPr>
        <p:spPr>
          <a:xfrm>
            <a:off x="141" y="3570347"/>
            <a:ext cx="1691489" cy="307777"/>
          </a:xfrm>
          <a:prstGeom prst="rect">
            <a:avLst/>
          </a:prstGeom>
          <a:solidFill>
            <a:srgbClr val="F3FCFF"/>
          </a:solidFill>
        </p:spPr>
        <p:txBody>
          <a:bodyPr wrap="none" rtlCol="0">
            <a:spAutoFit/>
          </a:bodyPr>
          <a:lstStyle/>
          <a:p>
            <a:r>
              <a:rPr lang="en-CN" sz="1400" b="1" dirty="0">
                <a:solidFill>
                  <a:srgbClr val="1B4773"/>
                </a:solidFill>
                <a:latin typeface="Comic Sans MS" panose="030F0902030302020204" pitchFamily="66" charset="0"/>
              </a:rPr>
              <a:t>Webshop example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CC8FEBA-F3C9-3BAE-8B04-50BB3F9E3E21}"/>
              </a:ext>
            </a:extLst>
          </p:cNvPr>
          <p:cNvSpPr/>
          <p:nvPr/>
        </p:nvSpPr>
        <p:spPr>
          <a:xfrm>
            <a:off x="-101278" y="5328583"/>
            <a:ext cx="3972908" cy="39269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302802-45F8-3A4D-E5D5-4B2220533C0B}"/>
                  </a:ext>
                </a:extLst>
              </p:cNvPr>
              <p:cNvSpPr txBox="1"/>
              <p:nvPr/>
            </p:nvSpPr>
            <p:spPr>
              <a:xfrm>
                <a:off x="632157" y="5354144"/>
                <a:ext cx="332834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𝑡𝑒𝑥𝑡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6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302802-45F8-3A4D-E5D5-4B2220533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57" y="5354144"/>
                <a:ext cx="3328347" cy="338554"/>
              </a:xfrm>
              <a:prstGeom prst="rect">
                <a:avLst/>
              </a:prstGeom>
              <a:blipFill>
                <a:blip r:embed="rId1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8A22F383-BED0-5D95-51D8-0DD577C50159}"/>
              </a:ext>
            </a:extLst>
          </p:cNvPr>
          <p:cNvSpPr txBox="1"/>
          <p:nvPr/>
        </p:nvSpPr>
        <p:spPr>
          <a:xfrm>
            <a:off x="292946" y="45348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CFBA5B2-028C-3BD8-E51C-1B928754CEA4}"/>
              </a:ext>
            </a:extLst>
          </p:cNvPr>
          <p:cNvSpPr/>
          <p:nvPr/>
        </p:nvSpPr>
        <p:spPr>
          <a:xfrm>
            <a:off x="4633297" y="493190"/>
            <a:ext cx="337842" cy="337842"/>
          </a:xfrm>
          <a:prstGeom prst="ellipse">
            <a:avLst/>
          </a:prstGeom>
          <a:solidFill>
            <a:srgbClr val="94B6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E28887-D001-5F89-E409-C232BB02D688}"/>
              </a:ext>
            </a:extLst>
          </p:cNvPr>
          <p:cNvSpPr txBox="1"/>
          <p:nvPr/>
        </p:nvSpPr>
        <p:spPr>
          <a:xfrm>
            <a:off x="4647927" y="47271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7EF0552-A3E7-4BAE-AE42-05DBCBA93B08}"/>
                  </a:ext>
                </a:extLst>
              </p:cNvPr>
              <p:cNvSpPr txBox="1"/>
              <p:nvPr/>
            </p:nvSpPr>
            <p:spPr>
              <a:xfrm>
                <a:off x="11319922" y="6539735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7EF0552-A3E7-4BAE-AE42-05DBCBA93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9922" y="6539735"/>
                <a:ext cx="253274" cy="276999"/>
              </a:xfrm>
              <a:prstGeom prst="rect">
                <a:avLst/>
              </a:prstGeom>
              <a:blipFill>
                <a:blip r:embed="rId15"/>
                <a:stretch>
                  <a:fillRect l="-23810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5898FF80-0B40-19FD-63A8-9439C5E255F6}"/>
              </a:ext>
            </a:extLst>
          </p:cNvPr>
          <p:cNvSpPr/>
          <p:nvPr/>
        </p:nvSpPr>
        <p:spPr>
          <a:xfrm>
            <a:off x="4504574" y="4825704"/>
            <a:ext cx="3378005" cy="939735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EE6CBF3-714F-69F3-0E5E-AE55781AE033}"/>
              </a:ext>
            </a:extLst>
          </p:cNvPr>
          <p:cNvSpPr/>
          <p:nvPr/>
        </p:nvSpPr>
        <p:spPr>
          <a:xfrm>
            <a:off x="8572430" y="490677"/>
            <a:ext cx="337842" cy="337842"/>
          </a:xfrm>
          <a:prstGeom prst="ellipse">
            <a:avLst/>
          </a:prstGeom>
          <a:solidFill>
            <a:srgbClr val="F1A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FA07F3-E95D-4655-33EF-C3361E94F23F}"/>
              </a:ext>
            </a:extLst>
          </p:cNvPr>
          <p:cNvSpPr txBox="1"/>
          <p:nvPr/>
        </p:nvSpPr>
        <p:spPr>
          <a:xfrm>
            <a:off x="8587764" y="4506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c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D1BBCF1-690A-89B9-2E5E-2ECD93788E77}"/>
              </a:ext>
            </a:extLst>
          </p:cNvPr>
          <p:cNvSpPr/>
          <p:nvPr/>
        </p:nvSpPr>
        <p:spPr>
          <a:xfrm>
            <a:off x="8572430" y="1135177"/>
            <a:ext cx="1389375" cy="162103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4C1D883-B629-436C-4704-D381BABE5752}"/>
              </a:ext>
            </a:extLst>
          </p:cNvPr>
          <p:cNvGrpSpPr/>
          <p:nvPr/>
        </p:nvGrpSpPr>
        <p:grpSpPr>
          <a:xfrm>
            <a:off x="8572430" y="1188011"/>
            <a:ext cx="1137119" cy="1083887"/>
            <a:chOff x="173590" y="5030995"/>
            <a:chExt cx="1156550" cy="1102409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3EFE5ED-454F-C6BB-E459-11B8DFF4B3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783" y="5030995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E2D5F9DF-20F0-8EB9-92E2-1602BE3A4ECE}"/>
                </a:ext>
              </a:extLst>
            </p:cNvPr>
            <p:cNvCxnSpPr>
              <a:cxnSpLocks/>
            </p:cNvCxnSpPr>
            <p:nvPr/>
          </p:nvCxnSpPr>
          <p:spPr>
            <a:xfrm>
              <a:off x="395783" y="6133404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33394609-DB56-0549-9F9F-8CCBF2100D50}"/>
                </a:ext>
              </a:extLst>
            </p:cNvPr>
            <p:cNvSpPr/>
            <p:nvPr/>
          </p:nvSpPr>
          <p:spPr>
            <a:xfrm>
              <a:off x="476018" y="5253186"/>
              <a:ext cx="700756" cy="871671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24C3836-7FAE-BE5B-64A7-1768A6A04CA4}"/>
                </a:ext>
              </a:extLst>
            </p:cNvPr>
            <p:cNvSpPr/>
            <p:nvPr/>
          </p:nvSpPr>
          <p:spPr>
            <a:xfrm>
              <a:off x="524890" y="5928304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9BA020F-9F91-71E5-54C4-CC998942209A}"/>
                </a:ext>
              </a:extLst>
            </p:cNvPr>
            <p:cNvSpPr/>
            <p:nvPr/>
          </p:nvSpPr>
          <p:spPr>
            <a:xfrm>
              <a:off x="694410" y="600521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30B8D7C-5AD9-A485-346F-65D99563D697}"/>
                </a:ext>
              </a:extLst>
            </p:cNvPr>
            <p:cNvSpPr/>
            <p:nvPr/>
          </p:nvSpPr>
          <p:spPr>
            <a:xfrm>
              <a:off x="781587" y="584284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18E9489-13F0-607E-2246-A7F41C703C6E}"/>
                </a:ext>
              </a:extLst>
            </p:cNvPr>
            <p:cNvSpPr/>
            <p:nvPr/>
          </p:nvSpPr>
          <p:spPr>
            <a:xfrm>
              <a:off x="635826" y="5713233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1D3C06F-930F-C67B-DFDD-A4239655E58D}"/>
                </a:ext>
              </a:extLst>
            </p:cNvPr>
            <p:cNvSpPr/>
            <p:nvPr/>
          </p:nvSpPr>
          <p:spPr>
            <a:xfrm>
              <a:off x="1035768" y="5146364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5EBD167-A67A-87BA-6DED-1D706357E93D}"/>
                </a:ext>
              </a:extLst>
            </p:cNvPr>
            <p:cNvSpPr/>
            <p:nvPr/>
          </p:nvSpPr>
          <p:spPr>
            <a:xfrm>
              <a:off x="1035768" y="5310069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8F9D138-D96C-679E-BF65-614A3F0B83F9}"/>
                </a:ext>
              </a:extLst>
            </p:cNvPr>
            <p:cNvSpPr/>
            <p:nvPr/>
          </p:nvSpPr>
          <p:spPr>
            <a:xfrm>
              <a:off x="940012" y="5398376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F795FBE-B55C-F7E0-79AD-AF621C21E860}"/>
                </a:ext>
              </a:extLst>
            </p:cNvPr>
            <p:cNvSpPr/>
            <p:nvPr/>
          </p:nvSpPr>
          <p:spPr>
            <a:xfrm>
              <a:off x="844256" y="5246020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76A336B-5B00-54F2-80C5-6984E788A7E6}"/>
                </a:ext>
              </a:extLst>
            </p:cNvPr>
            <p:cNvSpPr/>
            <p:nvPr/>
          </p:nvSpPr>
          <p:spPr>
            <a:xfrm>
              <a:off x="737139" y="539975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9A7D91B-5B65-53D1-FF39-6F36F3147C1E}"/>
                </a:ext>
              </a:extLst>
            </p:cNvPr>
            <p:cNvSpPr/>
            <p:nvPr/>
          </p:nvSpPr>
          <p:spPr>
            <a:xfrm>
              <a:off x="897283" y="558629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077E6C8-0B3B-1E11-0E17-7636AC99FF41}"/>
                </a:ext>
              </a:extLst>
            </p:cNvPr>
            <p:cNvSpPr/>
            <p:nvPr/>
          </p:nvSpPr>
          <p:spPr>
            <a:xfrm>
              <a:off x="173590" y="5093041"/>
              <a:ext cx="934357" cy="184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464B068-4EE1-E464-4A2A-F9B289BA5148}"/>
              </a:ext>
            </a:extLst>
          </p:cNvPr>
          <p:cNvSpPr txBox="1"/>
          <p:nvPr/>
        </p:nvSpPr>
        <p:spPr>
          <a:xfrm>
            <a:off x="8715394" y="2256115"/>
            <a:ext cx="113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regularized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516866C2-7CC6-6D98-52DE-F8A444ECA625}"/>
              </a:ext>
            </a:extLst>
          </p:cNvPr>
          <p:cNvSpPr/>
          <p:nvPr/>
        </p:nvSpPr>
        <p:spPr>
          <a:xfrm>
            <a:off x="10317878" y="1134596"/>
            <a:ext cx="1533291" cy="1644769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AF032AB-2E2B-AF4B-ABD0-60ACF86FAECA}"/>
              </a:ext>
            </a:extLst>
          </p:cNvPr>
          <p:cNvGrpSpPr/>
          <p:nvPr/>
        </p:nvGrpSpPr>
        <p:grpSpPr>
          <a:xfrm>
            <a:off x="10407694" y="1112888"/>
            <a:ext cx="1201653" cy="1284410"/>
            <a:chOff x="45787" y="4868818"/>
            <a:chExt cx="1232148" cy="1317004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E7BD2F7A-5ED2-2734-6CEA-099738208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578" y="5038120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D84FF544-A32D-374E-7CE2-C427E0A9F412}"/>
                </a:ext>
              </a:extLst>
            </p:cNvPr>
            <p:cNvCxnSpPr>
              <a:cxnSpLocks/>
            </p:cNvCxnSpPr>
            <p:nvPr/>
          </p:nvCxnSpPr>
          <p:spPr>
            <a:xfrm>
              <a:off x="343578" y="5653415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6DFAB56-1521-7968-2360-5D03364849A9}"/>
                </a:ext>
              </a:extLst>
            </p:cNvPr>
            <p:cNvSpPr/>
            <p:nvPr/>
          </p:nvSpPr>
          <p:spPr>
            <a:xfrm>
              <a:off x="433286" y="5312918"/>
              <a:ext cx="72015" cy="34200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27CE35E-56C3-BA31-B392-BA32EC5989BE}"/>
                </a:ext>
              </a:extLst>
            </p:cNvPr>
            <p:cNvSpPr/>
            <p:nvPr/>
          </p:nvSpPr>
          <p:spPr>
            <a:xfrm>
              <a:off x="585088" y="5486213"/>
              <a:ext cx="68356" cy="16720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7B8B06C-8369-25AE-20F1-111A997C5F7E}"/>
                </a:ext>
              </a:extLst>
            </p:cNvPr>
            <p:cNvSpPr/>
            <p:nvPr/>
          </p:nvSpPr>
          <p:spPr>
            <a:xfrm>
              <a:off x="771535" y="5449739"/>
              <a:ext cx="63084" cy="2036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F93B029-DE54-FBF6-E442-42DEEF066C9B}"/>
                </a:ext>
              </a:extLst>
            </p:cNvPr>
            <p:cNvSpPr/>
            <p:nvPr/>
          </p:nvSpPr>
          <p:spPr>
            <a:xfrm>
              <a:off x="936292" y="5666506"/>
              <a:ext cx="63084" cy="1384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1F78783-6597-6EFC-73B4-A48EC52BE424}"/>
                </a:ext>
              </a:extLst>
            </p:cNvPr>
            <p:cNvSpPr/>
            <p:nvPr/>
          </p:nvSpPr>
          <p:spPr>
            <a:xfrm>
              <a:off x="1096219" y="5658963"/>
              <a:ext cx="62445" cy="36634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963F5F6-619C-EACF-897E-A78AE8A6E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16870" y="5143122"/>
              <a:ext cx="121931" cy="121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FB7D75A-87EE-CB47-BBDE-B29CCEEC91B0}"/>
                    </a:ext>
                  </a:extLst>
                </p:cNvPr>
                <p:cNvSpPr txBox="1"/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CN" sz="12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25A3E56-27B3-31BB-D3EF-40A41B95CE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03A0D82-96D7-6B50-4AD2-AF97AFF934F6}"/>
                </a:ext>
              </a:extLst>
            </p:cNvPr>
            <p:cNvCxnSpPr/>
            <p:nvPr/>
          </p:nvCxnSpPr>
          <p:spPr>
            <a:xfrm>
              <a:off x="343578" y="544973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66C3FB1-B385-5D3B-D83E-DCB732114022}"/>
                </a:ext>
              </a:extLst>
            </p:cNvPr>
            <p:cNvCxnSpPr/>
            <p:nvPr/>
          </p:nvCxnSpPr>
          <p:spPr>
            <a:xfrm>
              <a:off x="361567" y="581338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F1C8BC-C558-5B74-EE33-8CC77B2FE306}"/>
                    </a:ext>
                  </a:extLst>
                </p:cNvPr>
                <p:cNvSpPr txBox="1"/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68E330E-C295-7F57-BC54-1466388C4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blipFill>
                  <a:blip r:embed="rId22"/>
                  <a:stretch>
                    <a:fillRect l="-50000" r="-4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9AC27EF-EFF5-4D12-377E-D1272E4603D4}"/>
                    </a:ext>
                  </a:extLst>
                </p:cNvPr>
                <p:cNvSpPr txBox="1"/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7F5F75C4-CD8A-EE74-B480-EFE63B9E6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blipFill>
                  <a:blip r:embed="rId23"/>
                  <a:stretch>
                    <a:fillRect l="-10526" r="-31579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0B9EFD36-7F16-3B33-0551-6A79201CF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75731" y="6063891"/>
              <a:ext cx="121931" cy="121931"/>
            </a:xfrm>
            <a:prstGeom prst="rect">
              <a:avLst/>
            </a:prstGeom>
          </p:spPr>
        </p:pic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B43317E7-65D6-9C83-F4D9-F1948F2FBF7F}"/>
              </a:ext>
            </a:extLst>
          </p:cNvPr>
          <p:cNvSpPr txBox="1"/>
          <p:nvPr/>
        </p:nvSpPr>
        <p:spPr>
          <a:xfrm>
            <a:off x="10646723" y="2259141"/>
            <a:ext cx="934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selection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AFE2C63-528A-9E86-824F-6A0DAF790863}"/>
              </a:ext>
            </a:extLst>
          </p:cNvPr>
          <p:cNvSpPr txBox="1"/>
          <p:nvPr/>
        </p:nvSpPr>
        <p:spPr>
          <a:xfrm>
            <a:off x="10895468" y="1250850"/>
            <a:ext cx="635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feature</a:t>
            </a:r>
          </a:p>
        </p:txBody>
      </p:sp>
      <p:sp>
        <p:nvSpPr>
          <p:cNvPr id="102" name="Right Arrow 101">
            <a:extLst>
              <a:ext uri="{FF2B5EF4-FFF2-40B4-BE49-F238E27FC236}">
                <a16:creationId xmlns:a16="http://schemas.microsoft.com/office/drawing/2014/main" id="{8514F420-CE08-8F64-E9D1-CDA135148B24}"/>
              </a:ext>
            </a:extLst>
          </p:cNvPr>
          <p:cNvSpPr/>
          <p:nvPr/>
        </p:nvSpPr>
        <p:spPr>
          <a:xfrm rot="5400000">
            <a:off x="10012336" y="2822005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2B60AEBA-7104-6B54-8E84-D0138FFF3B7A}"/>
              </a:ext>
            </a:extLst>
          </p:cNvPr>
          <p:cNvSpPr/>
          <p:nvPr/>
        </p:nvSpPr>
        <p:spPr>
          <a:xfrm>
            <a:off x="8532675" y="3062868"/>
            <a:ext cx="3318494" cy="154579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D0E74C8-05E8-5E02-BE8F-B8510854152A}"/>
              </a:ext>
            </a:extLst>
          </p:cNvPr>
          <p:cNvSpPr/>
          <p:nvPr/>
        </p:nvSpPr>
        <p:spPr>
          <a:xfrm>
            <a:off x="8653324" y="3129376"/>
            <a:ext cx="18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24C417-DCB4-72FF-FB7B-E6594C418839}"/>
                  </a:ext>
                </a:extLst>
              </p:cNvPr>
              <p:cNvSpPr txBox="1"/>
              <p:nvPr/>
            </p:nvSpPr>
            <p:spPr>
              <a:xfrm>
                <a:off x="8793334" y="3038620"/>
                <a:ext cx="13876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600" dirty="0">
                    <a:solidFill>
                      <a:srgbClr val="4472C5"/>
                    </a:solidFill>
                  </a:rPr>
                  <a:t>Type 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>
                    <a:solidFill>
                      <a:srgbClr val="4472C5"/>
                    </a:solidFill>
                  </a:rPr>
                  <a:t> </a:t>
                </a:r>
                <a:r>
                  <a:rPr lang="en-CN" sz="1600">
                    <a:solidFill>
                      <a:srgbClr val="4472C5"/>
                    </a:solidFill>
                  </a:rPr>
                  <a:t>&gt; 0)</a:t>
                </a:r>
                <a:endParaRPr lang="en-CN" sz="1600" dirty="0">
                  <a:solidFill>
                    <a:srgbClr val="4472C5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24C417-DCB4-72FF-FB7B-E6594C418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334" y="3038620"/>
                <a:ext cx="1387688" cy="338554"/>
              </a:xfrm>
              <a:prstGeom prst="rect">
                <a:avLst/>
              </a:prstGeom>
              <a:blipFill>
                <a:blip r:embed="rId24"/>
                <a:stretch>
                  <a:fillRect l="-2727" t="-3704" r="-181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Rectangle 106">
            <a:extLst>
              <a:ext uri="{FF2B5EF4-FFF2-40B4-BE49-F238E27FC236}">
                <a16:creationId xmlns:a16="http://schemas.microsoft.com/office/drawing/2014/main" id="{C5215657-10D9-62C4-D110-8976C41E4079}"/>
              </a:ext>
            </a:extLst>
          </p:cNvPr>
          <p:cNvSpPr/>
          <p:nvPr/>
        </p:nvSpPr>
        <p:spPr>
          <a:xfrm>
            <a:off x="10317694" y="3129376"/>
            <a:ext cx="180000" cy="18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2059EEA-C30F-6C4F-4AE1-FD5626CB2179}"/>
                  </a:ext>
                </a:extLst>
              </p:cNvPr>
              <p:cNvSpPr txBox="1"/>
              <p:nvPr/>
            </p:nvSpPr>
            <p:spPr>
              <a:xfrm>
                <a:off x="10457704" y="3038620"/>
                <a:ext cx="13123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600" dirty="0">
                    <a:solidFill>
                      <a:srgbClr val="EBAB80"/>
                    </a:solidFill>
                  </a:rPr>
                  <a:t>Type I(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>
                    <a:solidFill>
                      <a:srgbClr val="EBAB80"/>
                    </a:solidFill>
                  </a:rPr>
                  <a:t> &lt; 0)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2059EEA-C30F-6C4F-4AE1-FD5626CB2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704" y="3038620"/>
                <a:ext cx="1312347" cy="338554"/>
              </a:xfrm>
              <a:prstGeom prst="rect">
                <a:avLst/>
              </a:prstGeom>
              <a:blipFill>
                <a:blip r:embed="rId25"/>
                <a:stretch>
                  <a:fillRect l="-2885" t="-3704" r="-1923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Right Arrow 110">
            <a:extLst>
              <a:ext uri="{FF2B5EF4-FFF2-40B4-BE49-F238E27FC236}">
                <a16:creationId xmlns:a16="http://schemas.microsoft.com/office/drawing/2014/main" id="{480818ED-9021-22DC-FDCF-3B98F4DD0038}"/>
              </a:ext>
            </a:extLst>
          </p:cNvPr>
          <p:cNvSpPr/>
          <p:nvPr/>
        </p:nvSpPr>
        <p:spPr>
          <a:xfrm rot="5400000">
            <a:off x="10027637" y="4796055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78325802-C0C5-8EC4-4D61-7CE1F606C766}"/>
              </a:ext>
            </a:extLst>
          </p:cNvPr>
          <p:cNvSpPr/>
          <p:nvPr/>
        </p:nvSpPr>
        <p:spPr>
          <a:xfrm>
            <a:off x="8532675" y="5083521"/>
            <a:ext cx="3318494" cy="665696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47270B-DD4D-0C6B-E09A-C99FBBFC1732}"/>
              </a:ext>
            </a:extLst>
          </p:cNvPr>
          <p:cNvGrpSpPr/>
          <p:nvPr/>
        </p:nvGrpSpPr>
        <p:grpSpPr>
          <a:xfrm>
            <a:off x="8669828" y="5174919"/>
            <a:ext cx="466687" cy="466687"/>
            <a:chOff x="10896027" y="7645017"/>
            <a:chExt cx="466687" cy="466687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79634C27-8390-7FAC-0672-DD9AEAB40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896027" y="7645017"/>
              <a:ext cx="466687" cy="466687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550F8C3A-293B-FBE0-93F7-9FF6B46FA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993156" y="7761575"/>
              <a:ext cx="282701" cy="282701"/>
            </a:xfrm>
            <a:prstGeom prst="rect">
              <a:avLst/>
            </a:prstGeom>
          </p:spPr>
        </p:pic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3357EC4D-CD1C-E4AA-8772-3BCD710F6B00}"/>
              </a:ext>
            </a:extLst>
          </p:cNvPr>
          <p:cNvSpPr txBox="1"/>
          <p:nvPr/>
        </p:nvSpPr>
        <p:spPr>
          <a:xfrm>
            <a:off x="9211458" y="5100326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solidFill>
                  <a:schemeClr val="tx1"/>
                </a:solidFill>
                <a:latin typeface="Comic Sans MS" panose="030F0902030302020204" pitchFamily="66" charset="0"/>
              </a:rPr>
              <a:t>Deployed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78BDB88-874D-018E-6B45-4CC315DEC1DE}"/>
                  </a:ext>
                </a:extLst>
              </p:cNvPr>
              <p:cNvSpPr txBox="1"/>
              <p:nvPr/>
            </p:nvSpPr>
            <p:spPr>
              <a:xfrm>
                <a:off x="9190640" y="5395190"/>
                <a:ext cx="2521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78BDB88-874D-018E-6B45-4CC315DEC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640" y="5395190"/>
                <a:ext cx="2521459" cy="307777"/>
              </a:xfrm>
              <a:prstGeom prst="rect">
                <a:avLst/>
              </a:prstGeom>
              <a:blipFill>
                <a:blip r:embed="rId2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47DEEBC5-BCF0-6408-F9FD-236983339815}"/>
              </a:ext>
            </a:extLst>
          </p:cNvPr>
          <p:cNvCxnSpPr>
            <a:cxnSpLocks/>
            <a:stCxn id="13" idx="3"/>
            <a:endCxn id="143" idx="2"/>
          </p:cNvCxnSpPr>
          <p:nvPr/>
        </p:nvCxnSpPr>
        <p:spPr>
          <a:xfrm flipV="1">
            <a:off x="3064836" y="2914253"/>
            <a:ext cx="364344" cy="332067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3FD687DD-3F39-2162-C2A9-9F729AC9B596}"/>
                  </a:ext>
                </a:extLst>
              </p:cNvPr>
              <p:cNvSpPr/>
              <p:nvPr/>
            </p:nvSpPr>
            <p:spPr>
              <a:xfrm>
                <a:off x="141" y="3941656"/>
                <a:ext cx="1304547" cy="307778"/>
              </a:xfrm>
              <a:prstGeom prst="roundRect">
                <a:avLst>
                  <a:gd name="adj" fmla="val 8677"/>
                </a:avLst>
              </a:prstGeom>
              <a:solidFill>
                <a:srgbClr val="DBE8F3"/>
              </a:solidFill>
              <a:ln w="19050">
                <a:solidFill>
                  <a:srgbClr val="8AB0D7"/>
                </a:solidFill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𝑡𝑒𝑥𝑡</m:t>
                      </m:r>
                    </m:oMath>
                  </m:oMathPara>
                </a14:m>
                <a:endParaRPr lang="en-CN" sz="160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3FD687DD-3F39-2162-C2A9-9F729AC9B5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" y="3941656"/>
                <a:ext cx="1304547" cy="307778"/>
              </a:xfrm>
              <a:prstGeom prst="roundRect">
                <a:avLst>
                  <a:gd name="adj" fmla="val 8677"/>
                </a:avLst>
              </a:prstGeom>
              <a:blipFill>
                <a:blip r:embed="rId29"/>
                <a:stretch>
                  <a:fillRect/>
                </a:stretch>
              </a:blipFill>
              <a:ln w="19050">
                <a:solidFill>
                  <a:srgbClr val="8AB0D7"/>
                </a:solidFill>
                <a:miter lim="8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956FC539-16FB-AB60-D149-523208946D53}"/>
              </a:ext>
            </a:extLst>
          </p:cNvPr>
          <p:cNvSpPr/>
          <p:nvPr/>
        </p:nvSpPr>
        <p:spPr>
          <a:xfrm>
            <a:off x="140" y="4332965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85AFB761-EC41-604D-D5AF-9FD43D7AB863}"/>
              </a:ext>
            </a:extLst>
          </p:cNvPr>
          <p:cNvSpPr/>
          <p:nvPr/>
        </p:nvSpPr>
        <p:spPr>
          <a:xfrm>
            <a:off x="139" y="4735297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22B99C5-B062-F418-B1DE-4352072EC1C1}"/>
              </a:ext>
            </a:extLst>
          </p:cNvPr>
          <p:cNvSpPr txBox="1"/>
          <p:nvPr/>
        </p:nvSpPr>
        <p:spPr>
          <a:xfrm>
            <a:off x="1769904" y="3928691"/>
            <a:ext cx="200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Results Page (Page 1/5)</a:t>
            </a:r>
            <a:r>
              <a:rPr lang="en-US" altLang="zh-CN" sz="1400" dirty="0"/>
              <a:t>…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F255697-8E91-97DC-7068-C6004F75109F}"/>
                  </a:ext>
                </a:extLst>
              </p:cNvPr>
              <p:cNvSpPr txBox="1"/>
              <p:nvPr/>
            </p:nvSpPr>
            <p:spPr>
              <a:xfrm>
                <a:off x="52771" y="4312066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F255697-8E91-97DC-7068-C6004F751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1" y="4312066"/>
                <a:ext cx="927690" cy="33855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88B58CB-BEDD-04CB-830A-C58BBE5D8B2B}"/>
                  </a:ext>
                </a:extLst>
              </p:cNvPr>
              <p:cNvSpPr txBox="1"/>
              <p:nvPr/>
            </p:nvSpPr>
            <p:spPr>
              <a:xfrm>
                <a:off x="53627" y="4724274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88B58CB-BEDD-04CB-830A-C58BBE5D8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7" y="4724274"/>
                <a:ext cx="929485" cy="33855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E1D801DA-171B-15F3-E46A-917F94D5C78B}"/>
              </a:ext>
            </a:extLst>
          </p:cNvPr>
          <p:cNvSpPr txBox="1"/>
          <p:nvPr/>
        </p:nvSpPr>
        <p:spPr>
          <a:xfrm>
            <a:off x="1764203" y="4312584"/>
            <a:ext cx="636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[Next]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4F167AC-BB2F-0F44-1DEF-A39A7A44F3AE}"/>
              </a:ext>
            </a:extLst>
          </p:cNvPr>
          <p:cNvSpPr txBox="1"/>
          <p:nvPr/>
        </p:nvSpPr>
        <p:spPr>
          <a:xfrm>
            <a:off x="1764203" y="4724274"/>
            <a:ext cx="1356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[Back to Search]</a:t>
            </a: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F361C5E0-0BCF-66A7-A3F3-7A4B96D0B5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29" y="5350538"/>
            <a:ext cx="342160" cy="342160"/>
          </a:xfrm>
          <a:prstGeom prst="rect">
            <a:avLst/>
          </a:prstGeom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16C38F9D-5FBC-947B-D0E5-8B1B1EB3AFB1}"/>
              </a:ext>
            </a:extLst>
          </p:cNvPr>
          <p:cNvSpPr txBox="1"/>
          <p:nvPr/>
        </p:nvSpPr>
        <p:spPr>
          <a:xfrm>
            <a:off x="4648643" y="4649428"/>
            <a:ext cx="1577676" cy="307777"/>
          </a:xfrm>
          <a:prstGeom prst="rect">
            <a:avLst/>
          </a:prstGeom>
          <a:solidFill>
            <a:srgbClr val="FAFFF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Feature</a:t>
            </a:r>
            <a:r>
              <a:rPr lang="zh-CN" altLang="en-US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example</a:t>
            </a:r>
            <a:endParaRPr lang="en-CN" sz="1400" b="1" dirty="0">
              <a:solidFill>
                <a:srgbClr val="457543"/>
              </a:solidFill>
              <a:latin typeface="Comic Sans MS" panose="030F0902030302020204" pitchFamily="66" charset="0"/>
            </a:endParaRPr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614543D8-E43A-6C44-CCBD-81A0793EF062}"/>
              </a:ext>
            </a:extLst>
          </p:cNvPr>
          <p:cNvSpPr/>
          <p:nvPr/>
        </p:nvSpPr>
        <p:spPr>
          <a:xfrm>
            <a:off x="4647420" y="4959945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B3324011-D541-4881-8F67-B35A3A17C572}"/>
              </a:ext>
            </a:extLst>
          </p:cNvPr>
          <p:cNvSpPr/>
          <p:nvPr/>
        </p:nvSpPr>
        <p:spPr>
          <a:xfrm>
            <a:off x="4647420" y="5377076"/>
            <a:ext cx="1464546" cy="3077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D2D77F05-343F-4B79-6F08-BF5C01D7C7EE}"/>
              </a:ext>
            </a:extLst>
          </p:cNvPr>
          <p:cNvSpPr/>
          <p:nvPr/>
        </p:nvSpPr>
        <p:spPr>
          <a:xfrm>
            <a:off x="6295404" y="4959945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20B14725-4C44-4C60-6C45-7D1ACE11C863}"/>
              </a:ext>
            </a:extLst>
          </p:cNvPr>
          <p:cNvSpPr/>
          <p:nvPr/>
        </p:nvSpPr>
        <p:spPr>
          <a:xfrm>
            <a:off x="6305136" y="5388099"/>
            <a:ext cx="1454813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DAB36D0D-1324-26B6-0965-54EC80EFFE4F}"/>
              </a:ext>
            </a:extLst>
          </p:cNvPr>
          <p:cNvSpPr/>
          <p:nvPr/>
        </p:nvSpPr>
        <p:spPr>
          <a:xfrm>
            <a:off x="4357779" y="7043260"/>
            <a:ext cx="3371498" cy="6839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8BAD3D-EF69-29BE-04F2-C0FD17FFC573}"/>
                  </a:ext>
                </a:extLst>
              </p:cNvPr>
              <p:cNvSpPr txBox="1"/>
              <p:nvPr/>
            </p:nvSpPr>
            <p:spPr>
              <a:xfrm>
                <a:off x="5133653" y="7042956"/>
                <a:ext cx="26262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8BAD3D-EF69-29BE-04F2-C0FD17FFC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653" y="7042956"/>
                <a:ext cx="2626296" cy="307777"/>
              </a:xfrm>
              <a:prstGeom prst="rect">
                <a:avLst/>
              </a:prstGeom>
              <a:blipFill>
                <a:blip r:embed="rId3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Left Brace 38">
            <a:extLst>
              <a:ext uri="{FF2B5EF4-FFF2-40B4-BE49-F238E27FC236}">
                <a16:creationId xmlns:a16="http://schemas.microsoft.com/office/drawing/2014/main" id="{0FD979E4-9CE0-7074-0DEA-3A9738E6C875}"/>
              </a:ext>
            </a:extLst>
          </p:cNvPr>
          <p:cNvSpPr/>
          <p:nvPr/>
        </p:nvSpPr>
        <p:spPr>
          <a:xfrm rot="16200000">
            <a:off x="5999014" y="7116638"/>
            <a:ext cx="153824" cy="63446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0C0623-AB61-F2C1-3EDF-6714322CC112}"/>
              </a:ext>
            </a:extLst>
          </p:cNvPr>
          <p:cNvSpPr txBox="1"/>
          <p:nvPr/>
        </p:nvSpPr>
        <p:spPr>
          <a:xfrm>
            <a:off x="5448568" y="7439099"/>
            <a:ext cx="129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</a:t>
            </a:r>
            <a:r>
              <a:rPr lang="en-CN" sz="1400" dirty="0"/>
              <a:t>eatures’ value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DF90CBF3-895E-1BB1-087B-12B1D90623F3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08431" y="7202139"/>
            <a:ext cx="356732" cy="3567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34F13FA-4187-2D69-E5C4-5B2F69BCB215}"/>
                  </a:ext>
                </a:extLst>
              </p:cNvPr>
              <p:cNvSpPr txBox="1"/>
              <p:nvPr/>
            </p:nvSpPr>
            <p:spPr>
              <a:xfrm>
                <a:off x="4640744" y="4942251"/>
                <a:ext cx="14962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𝑒𝑛𝑡𝑟𝑜𝑝𝑦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=0.043</a:t>
                </a: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34F13FA-4187-2D69-E5C4-5B2F69BCB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4942251"/>
                <a:ext cx="1496243" cy="338554"/>
              </a:xfrm>
              <a:prstGeom prst="rect">
                <a:avLst/>
              </a:prstGeom>
              <a:blipFill>
                <a:blip r:embed="rId33"/>
                <a:stretch>
                  <a:fillRect t="-7407" r="-840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ABFCD26-A883-C016-606B-BE32AF40B76B}"/>
                  </a:ext>
                </a:extLst>
              </p:cNvPr>
              <p:cNvSpPr txBox="1"/>
              <p:nvPr/>
            </p:nvSpPr>
            <p:spPr>
              <a:xfrm>
                <a:off x="6243544" y="5353334"/>
                <a:ext cx="16166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𝑎𝑐𝑡𝑖𝑜𝑛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=2.31</a:t>
                </a:r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ABFCD26-A883-C016-606B-BE32AF40B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544" y="5353334"/>
                <a:ext cx="1616661" cy="338554"/>
              </a:xfrm>
              <a:prstGeom prst="rect">
                <a:avLst/>
              </a:prstGeom>
              <a:blipFill>
                <a:blip r:embed="rId34"/>
                <a:stretch>
                  <a:fillRect t="-3571" r="-156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80922BB-E58F-9A81-6995-BAA1A71CEE55}"/>
                  </a:ext>
                </a:extLst>
              </p:cNvPr>
              <p:cNvSpPr txBox="1"/>
              <p:nvPr/>
            </p:nvSpPr>
            <p:spPr>
              <a:xfrm>
                <a:off x="4642334" y="5352213"/>
                <a:ext cx="14382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=412</a:t>
                </a: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80922BB-E58F-9A81-6995-BAA1A71CE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334" y="5352213"/>
                <a:ext cx="1438214" cy="338554"/>
              </a:xfrm>
              <a:prstGeom prst="rect">
                <a:avLst/>
              </a:prstGeom>
              <a:blipFill>
                <a:blip r:embed="rId35"/>
                <a:stretch>
                  <a:fillRect t="-3571" r="-1754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42105D3-248B-BC38-28DA-276387D5458D}"/>
                  </a:ext>
                </a:extLst>
              </p:cNvPr>
              <p:cNvSpPr txBox="1"/>
              <p:nvPr/>
            </p:nvSpPr>
            <p:spPr>
              <a:xfrm>
                <a:off x="6249740" y="4942122"/>
                <a:ext cx="78508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=3</a:t>
                </a: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42105D3-248B-BC38-28DA-276387D54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740" y="4942122"/>
                <a:ext cx="785087" cy="338554"/>
              </a:xfrm>
              <a:prstGeom prst="rect">
                <a:avLst/>
              </a:prstGeom>
              <a:blipFill>
                <a:blip r:embed="rId36"/>
                <a:stretch>
                  <a:fillRect t="-7407" r="-322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Right Arrow 177">
            <a:extLst>
              <a:ext uri="{FF2B5EF4-FFF2-40B4-BE49-F238E27FC236}">
                <a16:creationId xmlns:a16="http://schemas.microsoft.com/office/drawing/2014/main" id="{4F69B52A-5A5E-1625-2EAB-E30A580F82E7}"/>
              </a:ext>
            </a:extLst>
          </p:cNvPr>
          <p:cNvSpPr/>
          <p:nvPr/>
        </p:nvSpPr>
        <p:spPr>
          <a:xfrm>
            <a:off x="4018414" y="2423347"/>
            <a:ext cx="411199" cy="401053"/>
          </a:xfrm>
          <a:prstGeom prst="rightArrow">
            <a:avLst/>
          </a:prstGeom>
          <a:solidFill>
            <a:srgbClr val="8AB0D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179" name="Right Arrow 178">
            <a:extLst>
              <a:ext uri="{FF2B5EF4-FFF2-40B4-BE49-F238E27FC236}">
                <a16:creationId xmlns:a16="http://schemas.microsoft.com/office/drawing/2014/main" id="{7D2B6F00-3C84-2F39-A33C-E1546A65408E}"/>
              </a:ext>
            </a:extLst>
          </p:cNvPr>
          <p:cNvSpPr/>
          <p:nvPr/>
        </p:nvSpPr>
        <p:spPr>
          <a:xfrm>
            <a:off x="8021594" y="2435548"/>
            <a:ext cx="411199" cy="401053"/>
          </a:xfrm>
          <a:prstGeom prst="rightArrow">
            <a:avLst/>
          </a:prstGeom>
          <a:solidFill>
            <a:srgbClr val="94B78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F8C9307-2977-FB01-92C6-8B9E0A53E484}"/>
              </a:ext>
            </a:extLst>
          </p:cNvPr>
          <p:cNvSpPr/>
          <p:nvPr/>
        </p:nvSpPr>
        <p:spPr>
          <a:xfrm>
            <a:off x="993090" y="2463344"/>
            <a:ext cx="691794" cy="29286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B3C33F-EA74-B811-8D1E-03D5CBC5BB02}"/>
                  </a:ext>
                </a:extLst>
              </p:cNvPr>
              <p:cNvSpPr txBox="1"/>
              <p:nvPr/>
            </p:nvSpPr>
            <p:spPr>
              <a:xfrm>
                <a:off x="986371" y="2460605"/>
                <a:ext cx="7401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s</a:t>
                </a:r>
                <a:r>
                  <a:rPr lang="en-US" sz="1200" dirty="0">
                    <a:latin typeface="Comic Sans MS" panose="030F0902030302020204" pitchFamily="66" charset="0"/>
                  </a:rPr>
                  <a:t>tate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B3C33F-EA74-B811-8D1E-03D5CBC5B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371" y="2460605"/>
                <a:ext cx="740139" cy="276999"/>
              </a:xfrm>
              <a:prstGeom prst="rect">
                <a:avLst/>
              </a:prstGeom>
              <a:blipFill>
                <a:blip r:embed="rId3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D781598-004F-4BDB-DBC7-EB5E66508A30}"/>
              </a:ext>
            </a:extLst>
          </p:cNvPr>
          <p:cNvCxnSpPr>
            <a:cxnSpLocks/>
          </p:cNvCxnSpPr>
          <p:nvPr/>
        </p:nvCxnSpPr>
        <p:spPr>
          <a:xfrm>
            <a:off x="822956" y="2629496"/>
            <a:ext cx="170388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46301E28-4CF7-6A21-18A6-9865FDAD9C0D}"/>
              </a:ext>
            </a:extLst>
          </p:cNvPr>
          <p:cNvSpPr/>
          <p:nvPr/>
        </p:nvSpPr>
        <p:spPr>
          <a:xfrm>
            <a:off x="1193389" y="1158265"/>
            <a:ext cx="2168181" cy="385320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1C6BF3F-82CE-3C21-A4E8-4B7CCC209950}"/>
              </a:ext>
            </a:extLst>
          </p:cNvPr>
          <p:cNvSpPr txBox="1"/>
          <p:nvPr/>
        </p:nvSpPr>
        <p:spPr>
          <a:xfrm>
            <a:off x="-318571" y="1090136"/>
            <a:ext cx="1670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Comic Sans MS" panose="030F0902030302020204" pitchFamily="66" charset="0"/>
              </a:rPr>
              <a:t>Signal-agnostic</a:t>
            </a:r>
            <a:r>
              <a:rPr lang="zh-CN" altLang="en-US" sz="1400" dirty="0">
                <a:latin typeface="Comic Sans MS" panose="030F0902030302020204" pitchFamily="66" charset="0"/>
              </a:rPr>
              <a:t> </a:t>
            </a:r>
            <a:r>
              <a:rPr lang="en-US" altLang="zh-CN" sz="1400" dirty="0">
                <a:latin typeface="Comic Sans MS" panose="030F0902030302020204" pitchFamily="66" charset="0"/>
              </a:rPr>
              <a:t>exploration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3C4DA6F-9A54-322B-3EF0-DD14A9560E88}"/>
                  </a:ext>
                </a:extLst>
              </p:cNvPr>
              <p:cNvSpPr txBox="1"/>
              <p:nvPr/>
            </p:nvSpPr>
            <p:spPr>
              <a:xfrm>
                <a:off x="1602777" y="1203164"/>
                <a:ext cx="17709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Comic Sans MS" panose="030F0902030302020204" pitchFamily="66" charset="0"/>
                  </a:rPr>
                  <a:t>Bernoulli-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rollouts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3C4DA6F-9A54-322B-3EF0-DD14A9560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777" y="1203164"/>
                <a:ext cx="1770934" cy="307777"/>
              </a:xfrm>
              <a:prstGeom prst="rect">
                <a:avLst/>
              </a:prstGeom>
              <a:blipFill>
                <a:blip r:embed="rId38"/>
                <a:stretch>
                  <a:fillRect l="-1429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7" name="Picture 136">
            <a:extLst>
              <a:ext uri="{FF2B5EF4-FFF2-40B4-BE49-F238E27FC236}">
                <a16:creationId xmlns:a16="http://schemas.microsoft.com/office/drawing/2014/main" id="{6E7DC2A4-0697-63D1-757C-813ACBBD2F29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23486" y="1208609"/>
            <a:ext cx="268491" cy="268491"/>
          </a:xfrm>
          <a:prstGeom prst="rect">
            <a:avLst/>
          </a:prstGeom>
        </p:spPr>
      </p:pic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B1A29162-8E31-8567-82E2-47B4273C2B98}"/>
              </a:ext>
            </a:extLst>
          </p:cNvPr>
          <p:cNvCxnSpPr/>
          <p:nvPr/>
        </p:nvCxnSpPr>
        <p:spPr>
          <a:xfrm flipV="1">
            <a:off x="1795908" y="1525226"/>
            <a:ext cx="0" cy="222843"/>
          </a:xfrm>
          <a:prstGeom prst="straightConnector1">
            <a:avLst/>
          </a:prstGeom>
          <a:ln w="12700">
            <a:solidFill>
              <a:srgbClr val="1B47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615EB88-93B9-D47E-A8FD-4C239766F00C}"/>
              </a:ext>
            </a:extLst>
          </p:cNvPr>
          <p:cNvCxnSpPr>
            <a:cxnSpLocks/>
          </p:cNvCxnSpPr>
          <p:nvPr/>
        </p:nvCxnSpPr>
        <p:spPr>
          <a:xfrm>
            <a:off x="2441689" y="1540395"/>
            <a:ext cx="0" cy="218394"/>
          </a:xfrm>
          <a:prstGeom prst="straightConnector1">
            <a:avLst/>
          </a:prstGeom>
          <a:ln w="12700">
            <a:solidFill>
              <a:srgbClr val="1B47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D1415065-E765-BA7E-2C5D-26AED5939E39}"/>
              </a:ext>
            </a:extLst>
          </p:cNvPr>
          <p:cNvSpPr/>
          <p:nvPr/>
        </p:nvSpPr>
        <p:spPr>
          <a:xfrm>
            <a:off x="2949242" y="2307586"/>
            <a:ext cx="959876" cy="606667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04D33D0-FE15-07C0-EB01-5408CAE57CC3}"/>
              </a:ext>
            </a:extLst>
          </p:cNvPr>
          <p:cNvSpPr txBox="1"/>
          <p:nvPr/>
        </p:nvSpPr>
        <p:spPr>
          <a:xfrm>
            <a:off x="3197429" y="2273445"/>
            <a:ext cx="88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Compare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returns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9A9313B-E61C-3ECB-C2E4-CE7B117BE746}"/>
                  </a:ext>
                </a:extLst>
              </p:cNvPr>
              <p:cNvSpPr txBox="1"/>
              <p:nvPr/>
            </p:nvSpPr>
            <p:spPr>
              <a:xfrm>
                <a:off x="2896918" y="2672138"/>
                <a:ext cx="111979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sz="11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9A9313B-E61C-3ECB-C2E4-CE7B117BE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918" y="2672138"/>
                <a:ext cx="1119794" cy="2616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0" name="Picture 149">
            <a:extLst>
              <a:ext uri="{FF2B5EF4-FFF2-40B4-BE49-F238E27FC236}">
                <a16:creationId xmlns:a16="http://schemas.microsoft.com/office/drawing/2014/main" id="{7B434099-2A19-DECE-ABE4-D8421E43BFAC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964705" y="2333247"/>
            <a:ext cx="312202" cy="312202"/>
          </a:xfrm>
          <a:prstGeom prst="rect">
            <a:avLst/>
          </a:prstGeom>
        </p:spPr>
      </p:pic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6BEAFC7-30E9-E90D-C384-D7EEC029CAAA}"/>
              </a:ext>
            </a:extLst>
          </p:cNvPr>
          <p:cNvCxnSpPr>
            <a:cxnSpLocks/>
          </p:cNvCxnSpPr>
          <p:nvPr/>
        </p:nvCxnSpPr>
        <p:spPr>
          <a:xfrm>
            <a:off x="1416073" y="4095323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65714F34-7813-FF77-FA47-DFB11D11E51E}"/>
              </a:ext>
            </a:extLst>
          </p:cNvPr>
          <p:cNvCxnSpPr>
            <a:cxnSpLocks/>
          </p:cNvCxnSpPr>
          <p:nvPr/>
        </p:nvCxnSpPr>
        <p:spPr>
          <a:xfrm>
            <a:off x="1416073" y="4496546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D0BDB8C-D571-28DE-6C81-26CD0EA71AA2}"/>
              </a:ext>
            </a:extLst>
          </p:cNvPr>
          <p:cNvCxnSpPr>
            <a:cxnSpLocks/>
          </p:cNvCxnSpPr>
          <p:nvPr/>
        </p:nvCxnSpPr>
        <p:spPr>
          <a:xfrm>
            <a:off x="1416073" y="4850573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97F59DF0-94E0-B38B-EA9A-011F55DC9F61}"/>
              </a:ext>
            </a:extLst>
          </p:cNvPr>
          <p:cNvSpPr txBox="1"/>
          <p:nvPr/>
        </p:nvSpPr>
        <p:spPr>
          <a:xfrm>
            <a:off x="5488900" y="1321313"/>
            <a:ext cx="1770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(state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text,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history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…)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AE7070A-FA87-5788-1F37-94695EC2E849}"/>
              </a:ext>
            </a:extLst>
          </p:cNvPr>
          <p:cNvSpPr txBox="1"/>
          <p:nvPr/>
        </p:nvSpPr>
        <p:spPr>
          <a:xfrm>
            <a:off x="6770192" y="6171576"/>
            <a:ext cx="1572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Comic Sans MS" panose="030F0902030302020204" pitchFamily="66" charset="0"/>
              </a:rPr>
              <a:t>Action</a:t>
            </a:r>
            <a:r>
              <a:rPr lang="zh-CN" altLang="en-US" sz="1400" dirty="0">
                <a:latin typeface="Comic Sans MS" panose="030F0902030302020204" pitchFamily="66" charset="0"/>
              </a:rPr>
              <a:t> </a:t>
            </a:r>
            <a:r>
              <a:rPr lang="en-US" altLang="zh-CN" sz="1400" dirty="0">
                <a:latin typeface="Comic Sans MS" panose="030F0902030302020204" pitchFamily="66" charset="0"/>
              </a:rPr>
              <a:t>metadata</a:t>
            </a:r>
            <a:endParaRPr lang="en-US" sz="1400" dirty="0">
              <a:latin typeface="Comic Sans MS" panose="030F0902030302020204" pitchFamily="66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5B79153-E8EC-1E21-EA8E-6CAB37B594EB}"/>
              </a:ext>
            </a:extLst>
          </p:cNvPr>
          <p:cNvSpPr txBox="1"/>
          <p:nvPr/>
        </p:nvSpPr>
        <p:spPr>
          <a:xfrm>
            <a:off x="6786166" y="6429158"/>
            <a:ext cx="1357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(step,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action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type…)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1B96F342-B9A8-04DD-2F0D-1D7446EE18A5}"/>
              </a:ext>
            </a:extLst>
          </p:cNvPr>
          <p:cNvSpPr/>
          <p:nvPr/>
        </p:nvSpPr>
        <p:spPr>
          <a:xfrm>
            <a:off x="4514174" y="2044124"/>
            <a:ext cx="3378005" cy="1677974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9E3CEB6-FC4E-3576-8CEE-09C0569FD345}"/>
                  </a:ext>
                </a:extLst>
              </p:cNvPr>
              <p:cNvSpPr txBox="1"/>
              <p:nvPr/>
            </p:nvSpPr>
            <p:spPr>
              <a:xfrm>
                <a:off x="4640744" y="2073601"/>
                <a:ext cx="28959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Candidate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feature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pool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𝑐𝑎𝑛𝑑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9E3CEB6-FC4E-3576-8CEE-09C0569FD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2073601"/>
                <a:ext cx="2895922" cy="307777"/>
              </a:xfrm>
              <a:prstGeom prst="rect">
                <a:avLst/>
              </a:prstGeom>
              <a:blipFill>
                <a:blip r:embed="rId42"/>
                <a:stretch>
                  <a:fillRect l="-437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21AD513D-997F-596F-E702-DDDC0B3E0965}"/>
              </a:ext>
            </a:extLst>
          </p:cNvPr>
          <p:cNvGrpSpPr/>
          <p:nvPr/>
        </p:nvGrpSpPr>
        <p:grpSpPr>
          <a:xfrm>
            <a:off x="4640987" y="2395801"/>
            <a:ext cx="3121401" cy="567690"/>
            <a:chOff x="3576744" y="3431318"/>
            <a:chExt cx="3121401" cy="56769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A0EEC1E-F833-8951-3ED5-EA5F50D81A55}"/>
                </a:ext>
              </a:extLst>
            </p:cNvPr>
            <p:cNvGrpSpPr/>
            <p:nvPr/>
          </p:nvGrpSpPr>
          <p:grpSpPr>
            <a:xfrm>
              <a:off x="3576744" y="3431318"/>
              <a:ext cx="3121401" cy="567690"/>
              <a:chOff x="4350758" y="1753359"/>
              <a:chExt cx="3121401" cy="567690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E75EB396-B638-E83A-2D64-92A38236DE0A}"/>
                  </a:ext>
                </a:extLst>
              </p:cNvPr>
              <p:cNvSpPr/>
              <p:nvPr/>
            </p:nvSpPr>
            <p:spPr>
              <a:xfrm>
                <a:off x="4350758" y="1753359"/>
                <a:ext cx="3121401" cy="567690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100EC0-2CF1-36C8-3B90-40DA1554342D}"/>
                  </a:ext>
                </a:extLst>
              </p:cNvPr>
              <p:cNvSpPr txBox="1"/>
              <p:nvPr/>
            </p:nvSpPr>
            <p:spPr>
              <a:xfrm>
                <a:off x="4965963" y="1774485"/>
                <a:ext cx="1675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Universal Feature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5C84CBC-F2B4-84DF-FEFE-13523DAB2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3686924" y="3486266"/>
              <a:ext cx="440667" cy="440667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DC172C-4E74-FBE7-7E07-811ED01E9D3A}"/>
                </a:ext>
              </a:extLst>
            </p:cNvPr>
            <p:cNvSpPr txBox="1"/>
            <p:nvPr/>
          </p:nvSpPr>
          <p:spPr>
            <a:xfrm>
              <a:off x="4189946" y="3656446"/>
              <a:ext cx="19726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entropy, state text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F2A7F81-E591-2C76-063D-8CF4D62661EA}"/>
              </a:ext>
            </a:extLst>
          </p:cNvPr>
          <p:cNvGrpSpPr/>
          <p:nvPr/>
        </p:nvGrpSpPr>
        <p:grpSpPr>
          <a:xfrm>
            <a:off x="4640744" y="3019277"/>
            <a:ext cx="3119205" cy="579872"/>
            <a:chOff x="3576745" y="3438662"/>
            <a:chExt cx="3119205" cy="57987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1D9225F-098C-FB6F-9AE0-399B644654C8}"/>
                </a:ext>
              </a:extLst>
            </p:cNvPr>
            <p:cNvGrpSpPr/>
            <p:nvPr/>
          </p:nvGrpSpPr>
          <p:grpSpPr>
            <a:xfrm>
              <a:off x="3576745" y="3438662"/>
              <a:ext cx="3119205" cy="579872"/>
              <a:chOff x="4350759" y="1760703"/>
              <a:chExt cx="3119205" cy="579872"/>
            </a:xfrm>
          </p:grpSpPr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0625663D-E705-AB37-1DBF-EA18D6E8CFD9}"/>
                  </a:ext>
                </a:extLst>
              </p:cNvPr>
              <p:cNvSpPr/>
              <p:nvPr/>
            </p:nvSpPr>
            <p:spPr>
              <a:xfrm>
                <a:off x="4350759" y="1760703"/>
                <a:ext cx="3119205" cy="579872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A2EEC7-5CD6-C007-0ADD-8CFED40F4641}"/>
                  </a:ext>
                </a:extLst>
              </p:cNvPr>
              <p:cNvSpPr txBox="1"/>
              <p:nvPr/>
            </p:nvSpPr>
            <p:spPr>
              <a:xfrm>
                <a:off x="4972389" y="1781413"/>
                <a:ext cx="23664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LLM Reasoning Feature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20FA56D-C2D5-BAE2-D328-9E21D56F3AB4}"/>
                </a:ext>
              </a:extLst>
            </p:cNvPr>
            <p:cNvSpPr txBox="1"/>
            <p:nvPr/>
          </p:nvSpPr>
          <p:spPr>
            <a:xfrm>
              <a:off x="4189514" y="3678026"/>
              <a:ext cx="19640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action type, action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46506D06-7553-DD20-C004-6F0D1AE3E0D3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771155" y="3095870"/>
            <a:ext cx="399375" cy="399375"/>
          </a:xfrm>
          <a:prstGeom prst="rect">
            <a:avLst/>
          </a:prstGeom>
        </p:spPr>
      </p:pic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43C728EF-5EEE-D2FE-5528-BE72680053B9}"/>
              </a:ext>
            </a:extLst>
          </p:cNvPr>
          <p:cNvCxnSpPr>
            <a:cxnSpLocks/>
          </p:cNvCxnSpPr>
          <p:nvPr/>
        </p:nvCxnSpPr>
        <p:spPr>
          <a:xfrm>
            <a:off x="6136987" y="1705625"/>
            <a:ext cx="0" cy="309553"/>
          </a:xfrm>
          <a:prstGeom prst="straightConnector1">
            <a:avLst/>
          </a:prstGeom>
          <a:ln w="12700">
            <a:solidFill>
              <a:srgbClr val="4575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B8D5EE24-67F0-9D32-9274-75B270E4DC3B}"/>
              </a:ext>
            </a:extLst>
          </p:cNvPr>
          <p:cNvCxnSpPr>
            <a:cxnSpLocks/>
          </p:cNvCxnSpPr>
          <p:nvPr/>
        </p:nvCxnSpPr>
        <p:spPr>
          <a:xfrm>
            <a:off x="6145149" y="3735277"/>
            <a:ext cx="0" cy="309553"/>
          </a:xfrm>
          <a:prstGeom prst="straightConnector1">
            <a:avLst/>
          </a:prstGeom>
          <a:ln w="12700">
            <a:solidFill>
              <a:srgbClr val="4575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2AAFC777-B6C2-B310-5AA0-4DB667945539}"/>
                  </a:ext>
                </a:extLst>
              </p:cNvPr>
              <p:cNvSpPr txBox="1"/>
              <p:nvPr/>
            </p:nvSpPr>
            <p:spPr>
              <a:xfrm>
                <a:off x="4473302" y="3995891"/>
                <a:ext cx="1441420" cy="541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Feature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vector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2AAFC777-B6C2-B310-5AA0-4DB667945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302" y="3995891"/>
                <a:ext cx="1441420" cy="541623"/>
              </a:xfrm>
              <a:prstGeom prst="rect">
                <a:avLst/>
              </a:prstGeom>
              <a:blipFill>
                <a:blip r:embed="rId45"/>
                <a:stretch>
                  <a:fillRect l="-877" t="-2273" r="-877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1DAF52F-63A6-0D31-492A-82B53AEEDDBF}"/>
              </a:ext>
            </a:extLst>
          </p:cNvPr>
          <p:cNvGrpSpPr/>
          <p:nvPr/>
        </p:nvGrpSpPr>
        <p:grpSpPr>
          <a:xfrm>
            <a:off x="5988335" y="4196569"/>
            <a:ext cx="1981552" cy="220590"/>
            <a:chOff x="7992477" y="6025957"/>
            <a:chExt cx="1981552" cy="220590"/>
          </a:xfrm>
        </p:grpSpPr>
        <p:sp>
          <p:nvSpPr>
            <p:cNvPr id="184" name="Rounded Rectangle 183">
              <a:extLst>
                <a:ext uri="{FF2B5EF4-FFF2-40B4-BE49-F238E27FC236}">
                  <a16:creationId xmlns:a16="http://schemas.microsoft.com/office/drawing/2014/main" id="{4C156EAA-54A7-2F27-7AF4-8BB0EF31A3CD}"/>
                </a:ext>
              </a:extLst>
            </p:cNvPr>
            <p:cNvSpPr/>
            <p:nvPr/>
          </p:nvSpPr>
          <p:spPr>
            <a:xfrm>
              <a:off x="7992477" y="6025959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5" name="Rounded Rectangle 184">
              <a:extLst>
                <a:ext uri="{FF2B5EF4-FFF2-40B4-BE49-F238E27FC236}">
                  <a16:creationId xmlns:a16="http://schemas.microsoft.com/office/drawing/2014/main" id="{08718291-0649-2FC6-C743-CD68F9716F97}"/>
                </a:ext>
              </a:extLst>
            </p:cNvPr>
            <p:cNvSpPr/>
            <p:nvPr/>
          </p:nvSpPr>
          <p:spPr>
            <a:xfrm>
              <a:off x="8213337" y="6025959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6" name="Rounded Rectangle 185">
              <a:extLst>
                <a:ext uri="{FF2B5EF4-FFF2-40B4-BE49-F238E27FC236}">
                  <a16:creationId xmlns:a16="http://schemas.microsoft.com/office/drawing/2014/main" id="{326EC4C3-8108-AA2E-E2B8-1A1AE493A4D5}"/>
                </a:ext>
              </a:extLst>
            </p:cNvPr>
            <p:cNvSpPr/>
            <p:nvPr/>
          </p:nvSpPr>
          <p:spPr>
            <a:xfrm>
              <a:off x="8432793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7" name="Rounded Rectangle 186">
              <a:extLst>
                <a:ext uri="{FF2B5EF4-FFF2-40B4-BE49-F238E27FC236}">
                  <a16:creationId xmlns:a16="http://schemas.microsoft.com/office/drawing/2014/main" id="{CF6C81CB-D86E-1311-8DFC-A6BD0E5E0C25}"/>
                </a:ext>
              </a:extLst>
            </p:cNvPr>
            <p:cNvSpPr/>
            <p:nvPr/>
          </p:nvSpPr>
          <p:spPr>
            <a:xfrm>
              <a:off x="8653977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8" name="Rounded Rectangle 187">
              <a:extLst>
                <a:ext uri="{FF2B5EF4-FFF2-40B4-BE49-F238E27FC236}">
                  <a16:creationId xmlns:a16="http://schemas.microsoft.com/office/drawing/2014/main" id="{F4311762-B7CF-AF9B-E95A-F2E4976BD66A}"/>
                </a:ext>
              </a:extLst>
            </p:cNvPr>
            <p:cNvSpPr/>
            <p:nvPr/>
          </p:nvSpPr>
          <p:spPr>
            <a:xfrm>
              <a:off x="8874837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E2F1DA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9" name="Rounded Rectangle 188">
              <a:extLst>
                <a:ext uri="{FF2B5EF4-FFF2-40B4-BE49-F238E27FC236}">
                  <a16:creationId xmlns:a16="http://schemas.microsoft.com/office/drawing/2014/main" id="{2277CF4D-FF8F-406C-69B8-081C2C17526F}"/>
                </a:ext>
              </a:extLst>
            </p:cNvPr>
            <p:cNvSpPr/>
            <p:nvPr/>
          </p:nvSpPr>
          <p:spPr>
            <a:xfrm>
              <a:off x="9094293" y="6025957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E2F1DA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90" name="Rounded Rectangle 189">
              <a:extLst>
                <a:ext uri="{FF2B5EF4-FFF2-40B4-BE49-F238E27FC236}">
                  <a16:creationId xmlns:a16="http://schemas.microsoft.com/office/drawing/2014/main" id="{16FB753B-1BF4-6A91-629D-AD9277C36DC2}"/>
                </a:ext>
              </a:extLst>
            </p:cNvPr>
            <p:cNvSpPr/>
            <p:nvPr/>
          </p:nvSpPr>
          <p:spPr>
            <a:xfrm>
              <a:off x="9314257" y="6026252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91" name="Rounded Rectangle 190">
              <a:extLst>
                <a:ext uri="{FF2B5EF4-FFF2-40B4-BE49-F238E27FC236}">
                  <a16:creationId xmlns:a16="http://schemas.microsoft.com/office/drawing/2014/main" id="{1F7D0A32-A658-E9FD-CE1F-2E1D15637DE5}"/>
                </a:ext>
              </a:extLst>
            </p:cNvPr>
            <p:cNvSpPr/>
            <p:nvPr/>
          </p:nvSpPr>
          <p:spPr>
            <a:xfrm>
              <a:off x="9535117" y="6026252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92" name="Rounded Rectangle 191">
              <a:extLst>
                <a:ext uri="{FF2B5EF4-FFF2-40B4-BE49-F238E27FC236}">
                  <a16:creationId xmlns:a16="http://schemas.microsoft.com/office/drawing/2014/main" id="{B652FFEA-6B30-3149-A2E6-A7F8EF57B6BE}"/>
                </a:ext>
              </a:extLst>
            </p:cNvPr>
            <p:cNvSpPr/>
            <p:nvPr/>
          </p:nvSpPr>
          <p:spPr>
            <a:xfrm>
              <a:off x="9754573" y="6026251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8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9712F4-932B-5810-B0CA-FDF54F2F191C}"/>
                  </a:ext>
                </a:extLst>
              </p:cNvPr>
              <p:cNvSpPr txBox="1"/>
              <p:nvPr/>
            </p:nvSpPr>
            <p:spPr>
              <a:xfrm>
                <a:off x="8712216" y="3329430"/>
                <a:ext cx="13579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Use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optimizer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9712F4-932B-5810-B0CA-FDF54F2F1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216" y="3329430"/>
                <a:ext cx="1357934" cy="276999"/>
              </a:xfrm>
              <a:prstGeom prst="rect">
                <a:avLst/>
              </a:prstGeom>
              <a:blipFill>
                <a:blip r:embed="rId4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47211C1C-1223-F72D-BE6F-09E111A2C43A}"/>
                  </a:ext>
                </a:extLst>
              </p:cNvPr>
              <p:cNvSpPr txBox="1"/>
              <p:nvPr/>
            </p:nvSpPr>
            <p:spPr>
              <a:xfrm>
                <a:off x="10292179" y="3318308"/>
                <a:ext cx="14778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Use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base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policy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47211C1C-1223-F72D-BE6F-09E111A2C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179" y="3318308"/>
                <a:ext cx="1477871" cy="276999"/>
              </a:xfrm>
              <a:prstGeom prst="rect">
                <a:avLst/>
              </a:prstGeom>
              <a:blipFill>
                <a:blip r:embed="rId4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B2CC4B8-CB17-287F-B460-F132FED0ACFE}"/>
              </a:ext>
            </a:extLst>
          </p:cNvPr>
          <p:cNvGrpSpPr/>
          <p:nvPr/>
        </p:nvGrpSpPr>
        <p:grpSpPr>
          <a:xfrm>
            <a:off x="8910272" y="3649714"/>
            <a:ext cx="918027" cy="782288"/>
            <a:chOff x="8751135" y="3648072"/>
            <a:chExt cx="1097903" cy="935568"/>
          </a:xfrm>
        </p:grpSpPr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F3182D57-8CAB-998F-56EA-88C56FBE4C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1135" y="3648072"/>
              <a:ext cx="0" cy="8725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B99F83A8-4F50-50FC-4CDD-918B38346D16}"/>
                </a:ext>
              </a:extLst>
            </p:cNvPr>
            <p:cNvCxnSpPr>
              <a:cxnSpLocks/>
            </p:cNvCxnSpPr>
            <p:nvPr/>
          </p:nvCxnSpPr>
          <p:spPr>
            <a:xfrm>
              <a:off x="8751135" y="4529006"/>
              <a:ext cx="109790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B4C959BE-3EEE-2673-9DF3-125CC8AE47DE}"/>
                </a:ext>
              </a:extLst>
            </p:cNvPr>
            <p:cNvSpPr/>
            <p:nvPr/>
          </p:nvSpPr>
          <p:spPr>
            <a:xfrm rot="1363373">
              <a:off x="8972109" y="3726615"/>
              <a:ext cx="688983" cy="857025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B8A457C7-F94A-2D8B-2263-0563776B83BB}"/>
                </a:ext>
              </a:extLst>
            </p:cNvPr>
            <p:cNvSpPr/>
            <p:nvPr/>
          </p:nvSpPr>
          <p:spPr>
            <a:xfrm>
              <a:off x="8878073" y="4327352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EB504069-472B-7F39-9ECE-6D170113EA18}"/>
                </a:ext>
              </a:extLst>
            </p:cNvPr>
            <p:cNvSpPr/>
            <p:nvPr/>
          </p:nvSpPr>
          <p:spPr>
            <a:xfrm>
              <a:off x="9044745" y="4402972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04727B9B-1864-0320-732E-8F140972F905}"/>
                </a:ext>
              </a:extLst>
            </p:cNvPr>
            <p:cNvSpPr/>
            <p:nvPr/>
          </p:nvSpPr>
          <p:spPr>
            <a:xfrm>
              <a:off x="9155005" y="4274015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B72B06AA-6E17-2B35-F24A-DC0600956488}"/>
                </a:ext>
              </a:extLst>
            </p:cNvPr>
            <p:cNvSpPr/>
            <p:nvPr/>
          </p:nvSpPr>
          <p:spPr>
            <a:xfrm>
              <a:off x="9005556" y="4195676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9EA08653-B924-E5DB-3650-86EF96B07B7D}"/>
                </a:ext>
              </a:extLst>
            </p:cNvPr>
            <p:cNvSpPr/>
            <p:nvPr/>
          </p:nvSpPr>
          <p:spPr>
            <a:xfrm>
              <a:off x="9533791" y="3768012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D35297DE-DB48-48FC-1C2F-5856AB806F1B}"/>
                </a:ext>
              </a:extLst>
            </p:cNvPr>
            <p:cNvSpPr/>
            <p:nvPr/>
          </p:nvSpPr>
          <p:spPr>
            <a:xfrm>
              <a:off x="9349684" y="3858262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AEBD70D9-74ED-9634-B22B-65CAF658F282}"/>
                </a:ext>
              </a:extLst>
            </p:cNvPr>
            <p:cNvSpPr/>
            <p:nvPr/>
          </p:nvSpPr>
          <p:spPr>
            <a:xfrm>
              <a:off x="9445782" y="3953616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A66966B2-5EBE-19C3-4D4D-F92AD9AD46B6}"/>
                </a:ext>
              </a:extLst>
            </p:cNvPr>
            <p:cNvSpPr/>
            <p:nvPr/>
          </p:nvSpPr>
          <p:spPr>
            <a:xfrm>
              <a:off x="9640067" y="3899645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25023E7D-ED5C-4973-408F-C891731B218D}"/>
                </a:ext>
              </a:extLst>
            </p:cNvPr>
            <p:cNvSpPr/>
            <p:nvPr/>
          </p:nvSpPr>
          <p:spPr>
            <a:xfrm>
              <a:off x="9178811" y="4028616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40705A52-E7EA-E0F4-4032-A93302B1AB3B}"/>
                </a:ext>
              </a:extLst>
            </p:cNvPr>
            <p:cNvSpPr/>
            <p:nvPr/>
          </p:nvSpPr>
          <p:spPr>
            <a:xfrm>
              <a:off x="9287168" y="4113829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1CEA1AD-9AB2-C491-50DE-AAB42469319D}"/>
              </a:ext>
            </a:extLst>
          </p:cNvPr>
          <p:cNvSpPr/>
          <p:nvPr/>
        </p:nvSpPr>
        <p:spPr>
          <a:xfrm>
            <a:off x="8532675" y="3506123"/>
            <a:ext cx="918659" cy="181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73D3743-A064-F895-4A38-8BEA74E94A3A}"/>
                  </a:ext>
                </a:extLst>
              </p:cNvPr>
              <p:cNvSpPr txBox="1"/>
              <p:nvPr/>
            </p:nvSpPr>
            <p:spPr>
              <a:xfrm>
                <a:off x="8572430" y="3519114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73D3743-A064-F895-4A38-8BEA74E94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430" y="3519114"/>
                <a:ext cx="375487" cy="276999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TextBox 216">
            <a:extLst>
              <a:ext uri="{FF2B5EF4-FFF2-40B4-BE49-F238E27FC236}">
                <a16:creationId xmlns:a16="http://schemas.microsoft.com/office/drawing/2014/main" id="{8696727C-611B-AA1C-AB97-8192836F2DB0}"/>
              </a:ext>
            </a:extLst>
          </p:cNvPr>
          <p:cNvSpPr txBox="1"/>
          <p:nvPr/>
        </p:nvSpPr>
        <p:spPr>
          <a:xfrm>
            <a:off x="8664933" y="423646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</a:t>
            </a:r>
            <a:endParaRPr lang="en-US" sz="105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5BB8561-9C79-90F0-F3D5-93D6C8E7B993}"/>
              </a:ext>
            </a:extLst>
          </p:cNvPr>
          <p:cNvSpPr txBox="1"/>
          <p:nvPr/>
        </p:nvSpPr>
        <p:spPr>
          <a:xfrm>
            <a:off x="8664933" y="3759189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1</a:t>
            </a:r>
            <a:endParaRPr lang="en-US" sz="1050" dirty="0"/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7183254-A8D3-628E-C831-34DC24E716C3}"/>
              </a:ext>
            </a:extLst>
          </p:cNvPr>
          <p:cNvCxnSpPr>
            <a:cxnSpLocks/>
          </p:cNvCxnSpPr>
          <p:nvPr/>
        </p:nvCxnSpPr>
        <p:spPr>
          <a:xfrm>
            <a:off x="8879826" y="3892232"/>
            <a:ext cx="457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9565CF59-0A6F-A7E0-85E8-B7795C3C9A72}"/>
              </a:ext>
            </a:extLst>
          </p:cNvPr>
          <p:cNvSpPr txBox="1"/>
          <p:nvPr/>
        </p:nvSpPr>
        <p:spPr>
          <a:xfrm>
            <a:off x="8793334" y="4366445"/>
            <a:ext cx="381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low</a:t>
            </a:r>
            <a:endParaRPr lang="en-US" sz="1050" i="1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907F2E97-4DBC-BEEF-D8A4-B75975D90A30}"/>
              </a:ext>
            </a:extLst>
          </p:cNvPr>
          <p:cNvSpPr txBox="1"/>
          <p:nvPr/>
        </p:nvSpPr>
        <p:spPr>
          <a:xfrm>
            <a:off x="9448163" y="4372388"/>
            <a:ext cx="4219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high</a:t>
            </a:r>
            <a:endParaRPr lang="en-US" sz="1050" i="1" dirty="0"/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CBDF7ACF-B2DA-2A29-61B3-072D32C67FCA}"/>
              </a:ext>
            </a:extLst>
          </p:cNvPr>
          <p:cNvCxnSpPr>
            <a:cxnSpLocks/>
          </p:cNvCxnSpPr>
          <p:nvPr/>
        </p:nvCxnSpPr>
        <p:spPr>
          <a:xfrm flipV="1">
            <a:off x="10547178" y="3659584"/>
            <a:ext cx="0" cy="729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ECDF5631-C526-D953-E218-24FCC9C1714B}"/>
              </a:ext>
            </a:extLst>
          </p:cNvPr>
          <p:cNvCxnSpPr>
            <a:cxnSpLocks/>
          </p:cNvCxnSpPr>
          <p:nvPr/>
        </p:nvCxnSpPr>
        <p:spPr>
          <a:xfrm>
            <a:off x="10547178" y="4396189"/>
            <a:ext cx="91802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Freeform 226">
            <a:extLst>
              <a:ext uri="{FF2B5EF4-FFF2-40B4-BE49-F238E27FC236}">
                <a16:creationId xmlns:a16="http://schemas.microsoft.com/office/drawing/2014/main" id="{87CE6C4E-FEC8-B2C1-2CC4-E881366C397F}"/>
              </a:ext>
            </a:extLst>
          </p:cNvPr>
          <p:cNvSpPr/>
          <p:nvPr/>
        </p:nvSpPr>
        <p:spPr>
          <a:xfrm rot="21113160" flipV="1">
            <a:off x="10645440" y="3816763"/>
            <a:ext cx="700567" cy="557563"/>
          </a:xfrm>
          <a:custGeom>
            <a:avLst/>
            <a:gdLst>
              <a:gd name="connsiteX0" fmla="*/ 0 w 700756"/>
              <a:gd name="connsiteY0" fmla="*/ 871671 h 871671"/>
              <a:gd name="connsiteX1" fmla="*/ 213645 w 700756"/>
              <a:gd name="connsiteY1" fmla="*/ 700755 h 871671"/>
              <a:gd name="connsiteX2" fmla="*/ 350378 w 700756"/>
              <a:gd name="connsiteY2" fmla="*/ 299103 h 871671"/>
              <a:gd name="connsiteX3" fmla="*/ 495657 w 700756"/>
              <a:gd name="connsiteY3" fmla="*/ 68366 h 871671"/>
              <a:gd name="connsiteX4" fmla="*/ 700756 w 700756"/>
              <a:gd name="connsiteY4" fmla="*/ 0 h 87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756" h="871671">
                <a:moveTo>
                  <a:pt x="0" y="871671"/>
                </a:moveTo>
                <a:cubicBezTo>
                  <a:pt x="77624" y="833927"/>
                  <a:pt x="155249" y="796183"/>
                  <a:pt x="213645" y="700755"/>
                </a:cubicBezTo>
                <a:cubicBezTo>
                  <a:pt x="272041" y="605327"/>
                  <a:pt x="303376" y="404501"/>
                  <a:pt x="350378" y="299103"/>
                </a:cubicBezTo>
                <a:cubicBezTo>
                  <a:pt x="397380" y="193705"/>
                  <a:pt x="437261" y="118216"/>
                  <a:pt x="495657" y="68366"/>
                </a:cubicBezTo>
                <a:cubicBezTo>
                  <a:pt x="554053" y="18515"/>
                  <a:pt x="627404" y="9257"/>
                  <a:pt x="700756" y="0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31A6DF87-5E4C-F664-936B-C021E188CC73}"/>
              </a:ext>
            </a:extLst>
          </p:cNvPr>
          <p:cNvSpPr/>
          <p:nvPr/>
        </p:nvSpPr>
        <p:spPr>
          <a:xfrm rot="14848825">
            <a:off x="11248098" y="4291045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BEFDABDC-7DFB-81B0-C73E-1C301E85EB99}"/>
              </a:ext>
            </a:extLst>
          </p:cNvPr>
          <p:cNvSpPr/>
          <p:nvPr/>
        </p:nvSpPr>
        <p:spPr>
          <a:xfrm rot="14848825">
            <a:off x="11292638" y="4166309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75A4E727-A10B-7A63-48D7-228B33BD6CA0}"/>
              </a:ext>
            </a:extLst>
          </p:cNvPr>
          <p:cNvSpPr/>
          <p:nvPr/>
        </p:nvSpPr>
        <p:spPr>
          <a:xfrm rot="14848825">
            <a:off x="11129501" y="4161951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9836AFEA-2C5F-7FD5-B68F-A6C8C0D72BFD}"/>
              </a:ext>
            </a:extLst>
          </p:cNvPr>
          <p:cNvSpPr/>
          <p:nvPr/>
        </p:nvSpPr>
        <p:spPr>
          <a:xfrm rot="14848825">
            <a:off x="11049124" y="4251677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6C7ADC35-393B-5A14-1331-26CBC75D54B6}"/>
              </a:ext>
            </a:extLst>
          </p:cNvPr>
          <p:cNvSpPr/>
          <p:nvPr/>
        </p:nvSpPr>
        <p:spPr>
          <a:xfrm rot="14848825">
            <a:off x="10617354" y="3946761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2A8FA2FE-613E-096E-B8EF-4F39ADAC6B38}"/>
              </a:ext>
            </a:extLst>
          </p:cNvPr>
          <p:cNvSpPr/>
          <p:nvPr/>
        </p:nvSpPr>
        <p:spPr>
          <a:xfrm rot="14848825">
            <a:off x="10782810" y="4039044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2663B5EA-9F43-1AF5-4A37-3D636BF0A8B4}"/>
              </a:ext>
            </a:extLst>
          </p:cNvPr>
          <p:cNvSpPr/>
          <p:nvPr/>
        </p:nvSpPr>
        <p:spPr>
          <a:xfrm rot="14848825">
            <a:off x="10830941" y="389224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C6847865-3BE6-F165-10B9-FC538CF2BD5D}"/>
              </a:ext>
            </a:extLst>
          </p:cNvPr>
          <p:cNvSpPr/>
          <p:nvPr/>
        </p:nvSpPr>
        <p:spPr>
          <a:xfrm rot="14848825">
            <a:off x="10684994" y="3822518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C1FD68B6-89A9-C3BA-E03A-7D9BD2E602A0}"/>
              </a:ext>
            </a:extLst>
          </p:cNvPr>
          <p:cNvSpPr/>
          <p:nvPr/>
        </p:nvSpPr>
        <p:spPr>
          <a:xfrm rot="14848825">
            <a:off x="10932329" y="417700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0FA68311-74F3-6172-2E9D-9101E9456EC5}"/>
              </a:ext>
            </a:extLst>
          </p:cNvPr>
          <p:cNvSpPr/>
          <p:nvPr/>
        </p:nvSpPr>
        <p:spPr>
          <a:xfrm rot="14848825">
            <a:off x="10963447" y="403215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AFE2E74-3A47-615D-CE37-C64D29EBD3AB}"/>
              </a:ext>
            </a:extLst>
          </p:cNvPr>
          <p:cNvSpPr/>
          <p:nvPr/>
        </p:nvSpPr>
        <p:spPr>
          <a:xfrm>
            <a:off x="10169581" y="3515993"/>
            <a:ext cx="918659" cy="181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8D83DD5D-1C78-6E86-F2B9-9FB7701910FB}"/>
                  </a:ext>
                </a:extLst>
              </p:cNvPr>
              <p:cNvSpPr txBox="1"/>
              <p:nvPr/>
            </p:nvSpPr>
            <p:spPr>
              <a:xfrm>
                <a:off x="10209336" y="3528984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8D83DD5D-1C78-6E86-F2B9-9FB770191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336" y="3528984"/>
                <a:ext cx="375487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TextBox 239">
            <a:extLst>
              <a:ext uri="{FF2B5EF4-FFF2-40B4-BE49-F238E27FC236}">
                <a16:creationId xmlns:a16="http://schemas.microsoft.com/office/drawing/2014/main" id="{9FD358E2-7BAB-A6B8-7F53-2F9879AF62C2}"/>
              </a:ext>
            </a:extLst>
          </p:cNvPr>
          <p:cNvSpPr txBox="1"/>
          <p:nvPr/>
        </p:nvSpPr>
        <p:spPr>
          <a:xfrm>
            <a:off x="10301839" y="424633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</a:t>
            </a:r>
            <a:endParaRPr lang="en-US" sz="105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1032AE4B-A356-EB67-F6A8-8B89D5B1BD81}"/>
              </a:ext>
            </a:extLst>
          </p:cNvPr>
          <p:cNvSpPr txBox="1"/>
          <p:nvPr/>
        </p:nvSpPr>
        <p:spPr>
          <a:xfrm>
            <a:off x="10301839" y="3769059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1</a:t>
            </a:r>
            <a:endParaRPr lang="en-US" sz="1050" dirty="0"/>
          </a:p>
        </p:txBody>
      </p: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2F8C3A09-46B4-06C3-595D-546EA3F1E219}"/>
              </a:ext>
            </a:extLst>
          </p:cNvPr>
          <p:cNvCxnSpPr>
            <a:cxnSpLocks/>
          </p:cNvCxnSpPr>
          <p:nvPr/>
        </p:nvCxnSpPr>
        <p:spPr>
          <a:xfrm>
            <a:off x="10516732" y="3902102"/>
            <a:ext cx="457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7EB885C-4EE8-E90A-FC90-826A4BEC5C35}"/>
              </a:ext>
            </a:extLst>
          </p:cNvPr>
          <p:cNvSpPr txBox="1"/>
          <p:nvPr/>
        </p:nvSpPr>
        <p:spPr>
          <a:xfrm>
            <a:off x="10430240" y="4376315"/>
            <a:ext cx="381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low</a:t>
            </a:r>
            <a:endParaRPr lang="en-US" sz="1050" i="1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DFF1D73-2592-0A9F-283C-CCAA44B41481}"/>
              </a:ext>
            </a:extLst>
          </p:cNvPr>
          <p:cNvSpPr txBox="1"/>
          <p:nvPr/>
        </p:nvSpPr>
        <p:spPr>
          <a:xfrm>
            <a:off x="11085069" y="4382258"/>
            <a:ext cx="4219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high</a:t>
            </a:r>
            <a:endParaRPr lang="en-US" sz="1050" i="1" dirty="0"/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D015853A-8188-5CE0-EDA8-B6EDD374D8BC}"/>
              </a:ext>
            </a:extLst>
          </p:cNvPr>
          <p:cNvCxnSpPr/>
          <p:nvPr/>
        </p:nvCxnSpPr>
        <p:spPr>
          <a:xfrm>
            <a:off x="10181022" y="3246320"/>
            <a:ext cx="10900" cy="1220152"/>
          </a:xfrm>
          <a:prstGeom prst="line">
            <a:avLst/>
          </a:prstGeom>
          <a:ln w="12700">
            <a:solidFill>
              <a:srgbClr val="F4B2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57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3C14A46-208B-7C26-E070-A265444E7C0D}"/>
              </a:ext>
            </a:extLst>
          </p:cNvPr>
          <p:cNvSpPr/>
          <p:nvPr/>
        </p:nvSpPr>
        <p:spPr>
          <a:xfrm>
            <a:off x="8364457" y="412939"/>
            <a:ext cx="3628189" cy="5458472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1A0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1B003D-0250-2E6F-EF05-AE7704782E2D}"/>
              </a:ext>
            </a:extLst>
          </p:cNvPr>
          <p:cNvSpPr/>
          <p:nvPr/>
        </p:nvSpPr>
        <p:spPr>
          <a:xfrm>
            <a:off x="4321136" y="412939"/>
            <a:ext cx="3764083" cy="5458472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FFDB858-A347-1168-B524-8EB7740136E0}"/>
              </a:ext>
            </a:extLst>
          </p:cNvPr>
          <p:cNvSpPr/>
          <p:nvPr/>
        </p:nvSpPr>
        <p:spPr>
          <a:xfrm>
            <a:off x="-237506" y="395859"/>
            <a:ext cx="4265383" cy="5475552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D0A6BE-21EB-0F5A-CFA9-8D7E80AFACE3}"/>
              </a:ext>
            </a:extLst>
          </p:cNvPr>
          <p:cNvGrpSpPr/>
          <p:nvPr/>
        </p:nvGrpSpPr>
        <p:grpSpPr>
          <a:xfrm>
            <a:off x="1323584" y="1745132"/>
            <a:ext cx="1690679" cy="553998"/>
            <a:chOff x="4350760" y="1738004"/>
            <a:chExt cx="1690679" cy="553998"/>
          </a:xfrm>
          <a:effectLst/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A03DAC4-E50A-DEFB-FDC3-E299BD4C110F}"/>
                </a:ext>
              </a:extLst>
            </p:cNvPr>
            <p:cNvSpPr/>
            <p:nvPr/>
          </p:nvSpPr>
          <p:spPr>
            <a:xfrm>
              <a:off x="4350760" y="1760010"/>
              <a:ext cx="1690679" cy="496080"/>
            </a:xfrm>
            <a:prstGeom prst="roundRect">
              <a:avLst/>
            </a:prstGeom>
            <a:solidFill>
              <a:srgbClr val="BCCFE8"/>
            </a:solidFill>
            <a:ln w="19050">
              <a:solidFill>
                <a:srgbClr val="8AB0D7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B44A2B7-4811-A7E3-4C4D-FD003A2A0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2418" y="1813044"/>
              <a:ext cx="405960" cy="405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09BE942-CBFB-087E-710C-2ED022EDF9D0}"/>
                    </a:ext>
                  </a:extLst>
                </p:cNvPr>
                <p:cNvSpPr txBox="1"/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Comic Sans MS" panose="030F0902030302020204" pitchFamily="66" charset="0"/>
                    </a:rPr>
                    <a:t>Test-</a:t>
                  </a:r>
                  <a:r>
                    <a:rPr lang="en-US" altLang="zh-CN" sz="1400" dirty="0">
                      <a:latin typeface="Comic Sans MS" panose="030F0902030302020204" pitchFamily="66" charset="0"/>
                    </a:rPr>
                    <a:t>Time</a:t>
                  </a:r>
                </a:p>
                <a:p>
                  <a:pPr algn="ctr"/>
                  <a:r>
                    <a:rPr lang="en-CN" sz="1400">
                      <a:latin typeface="Comic Sans MS" panose="030F0902030302020204" pitchFamily="66" charset="0"/>
                    </a:rPr>
                    <a:t>Optimizer</a:t>
                  </a:r>
                  <a:r>
                    <a:rPr lang="en-CN" sz="160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CN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09BE942-CBFB-087E-710C-2ED022EDF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1042" t="-2273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4AFE61C-4D70-EAA8-74E3-1EC9C34F77F4}"/>
              </a:ext>
            </a:extLst>
          </p:cNvPr>
          <p:cNvGrpSpPr/>
          <p:nvPr/>
        </p:nvGrpSpPr>
        <p:grpSpPr>
          <a:xfrm>
            <a:off x="1323486" y="3007655"/>
            <a:ext cx="1741350" cy="485206"/>
            <a:chOff x="9350664" y="2343215"/>
            <a:chExt cx="1741350" cy="48520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73AC35D-A8CA-C70E-5BC1-8331C3D255EE}"/>
                </a:ext>
              </a:extLst>
            </p:cNvPr>
            <p:cNvGrpSpPr/>
            <p:nvPr/>
          </p:nvGrpSpPr>
          <p:grpSpPr>
            <a:xfrm>
              <a:off x="9350664" y="2343215"/>
              <a:ext cx="1741350" cy="485206"/>
              <a:chOff x="4350760" y="1770884"/>
              <a:chExt cx="1741350" cy="485206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3A0D8F2-9F1E-6518-148C-3CD00F5565DC}"/>
                  </a:ext>
                </a:extLst>
              </p:cNvPr>
              <p:cNvSpPr/>
              <p:nvPr/>
            </p:nvSpPr>
            <p:spPr>
              <a:xfrm>
                <a:off x="4350760" y="1770884"/>
                <a:ext cx="1690679" cy="485206"/>
              </a:xfrm>
              <a:prstGeom prst="roundRect">
                <a:avLst/>
              </a:prstGeom>
              <a:solidFill>
                <a:srgbClr val="BCCFE8"/>
              </a:solidFill>
              <a:ln w="19050">
                <a:solidFill>
                  <a:srgbClr val="8AB0D7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2BBAE3-3462-7CBC-76E6-F7350F74EE21}"/>
                      </a:ext>
                    </a:extLst>
                  </p:cNvPr>
                  <p:cNvSpPr txBox="1"/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Comic Sans MS" panose="030F0902030302020204" pitchFamily="66" charset="0"/>
                      </a:rPr>
                      <a:t>Base Policy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a14:m>
                    <a:endParaRPr lang="en-CN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2BBAE3-3462-7CBC-76E6-F7350F74EE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97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D4BAED0-9B78-9056-D99D-15449D96F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16461" y="2352640"/>
              <a:ext cx="452689" cy="45268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EB69D0-EFD4-C68B-D3ED-C0F0CAAC81F5}"/>
                  </a:ext>
                </a:extLst>
              </p:cNvPr>
              <p:cNvSpPr txBox="1"/>
              <p:nvPr/>
            </p:nvSpPr>
            <p:spPr>
              <a:xfrm>
                <a:off x="2981428" y="1686265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1B4772"/>
                            </a:solidFill>
                          </a:ln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ln>
                    <a:solidFill>
                      <a:srgbClr val="1B4772"/>
                    </a:solidFill>
                  </a:ln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EB69D0-EFD4-C68B-D3ED-C0F0CAAC8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428" y="1686265"/>
                <a:ext cx="92769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6DE6E-3462-F28A-85EF-0238C4193125}"/>
                  </a:ext>
                </a:extLst>
              </p:cNvPr>
              <p:cNvSpPr txBox="1"/>
              <p:nvPr/>
            </p:nvSpPr>
            <p:spPr>
              <a:xfrm>
                <a:off x="3027033" y="3211357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1B4772"/>
                            </a:solidFill>
                          </a:ln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ln>
                    <a:solidFill>
                      <a:srgbClr val="1B4772"/>
                    </a:solidFill>
                  </a:ln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6DE6E-3462-F28A-85EF-0238C4193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33" y="3211357"/>
                <a:ext cx="929485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B96B7A-ED19-7280-6DE8-6D725E98F49F}"/>
                  </a:ext>
                </a:extLst>
              </p:cNvPr>
              <p:cNvSpPr txBox="1"/>
              <p:nvPr/>
            </p:nvSpPr>
            <p:spPr>
              <a:xfrm>
                <a:off x="4884953" y="1109509"/>
                <a:ext cx="12123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Raw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state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B96B7A-ED19-7280-6DE8-6D725E98F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953" y="1109509"/>
                <a:ext cx="1212383" cy="307777"/>
              </a:xfrm>
              <a:prstGeom prst="rect">
                <a:avLst/>
              </a:prstGeom>
              <a:blipFill>
                <a:blip r:embed="rId9"/>
                <a:stretch>
                  <a:fillRect l="-1031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A65E7A14-5EBA-6817-F1E5-0AA9B1856D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4574" y="1233576"/>
            <a:ext cx="452689" cy="452689"/>
          </a:xfrm>
          <a:prstGeom prst="rect">
            <a:avLst/>
          </a:prstGeom>
        </p:spPr>
      </p:pic>
      <p:sp>
        <p:nvSpPr>
          <p:cNvPr id="31" name="Right Arrow 30">
            <a:extLst>
              <a:ext uri="{FF2B5EF4-FFF2-40B4-BE49-F238E27FC236}">
                <a16:creationId xmlns:a16="http://schemas.microsoft.com/office/drawing/2014/main" id="{210C67EE-34AE-AD55-052E-AFC6A141C4A0}"/>
              </a:ext>
            </a:extLst>
          </p:cNvPr>
          <p:cNvSpPr/>
          <p:nvPr/>
        </p:nvSpPr>
        <p:spPr>
          <a:xfrm>
            <a:off x="10012336" y="1649592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5AC190D-084E-1E27-A798-3AC3448D4601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08464" y="1252936"/>
            <a:ext cx="452689" cy="45268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4F014F7-74CE-BE8A-9240-74385F477065}"/>
              </a:ext>
            </a:extLst>
          </p:cNvPr>
          <p:cNvSpPr txBox="1"/>
          <p:nvPr/>
        </p:nvSpPr>
        <p:spPr>
          <a:xfrm>
            <a:off x="632157" y="454171"/>
            <a:ext cx="2868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Explore: Signal-Agnostic Data Collection</a:t>
            </a:r>
            <a:endParaRPr lang="en-CN" sz="1600" dirty="0">
              <a:solidFill>
                <a:srgbClr val="1B4773"/>
              </a:solidFill>
              <a:latin typeface="Comic Sans MS" panose="030F0902030302020204" pitchFamily="66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499845-4612-2F5C-C53C-EFC24A9358FA}"/>
              </a:ext>
            </a:extLst>
          </p:cNvPr>
          <p:cNvSpPr txBox="1"/>
          <p:nvPr/>
        </p:nvSpPr>
        <p:spPr>
          <a:xfrm>
            <a:off x="4879278" y="472355"/>
            <a:ext cx="2557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Reason: Feature Extraction &amp; Merging</a:t>
            </a:r>
            <a:endParaRPr lang="en-CN" sz="1600" dirty="0">
              <a:solidFill>
                <a:srgbClr val="225532"/>
              </a:solidFill>
              <a:latin typeface="Comic Sans MS" panose="030F0902030302020204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A13FD0-0C55-117F-7852-754A3784B785}"/>
              </a:ext>
            </a:extLst>
          </p:cNvPr>
          <p:cNvSpPr txBox="1"/>
          <p:nvPr/>
        </p:nvSpPr>
        <p:spPr>
          <a:xfrm>
            <a:off x="8993534" y="468214"/>
            <a:ext cx="2537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A93B31"/>
                </a:solidFill>
                <a:latin typeface="Comic Sans MS" panose="030F0902030302020204" pitchFamily="66" charset="0"/>
              </a:rPr>
              <a:t>Learn: Feature Selection &amp; Direction Discovery</a:t>
            </a:r>
            <a:endParaRPr lang="en-CN" sz="1600" dirty="0">
              <a:solidFill>
                <a:srgbClr val="A93B31"/>
              </a:solidFill>
              <a:latin typeface="Comic Sans MS" panose="030F0902030302020204" pitchFamily="66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AC8531-0E93-A73D-C590-F5E05CF35E2B}"/>
              </a:ext>
            </a:extLst>
          </p:cNvPr>
          <p:cNvSpPr/>
          <p:nvPr/>
        </p:nvSpPr>
        <p:spPr>
          <a:xfrm>
            <a:off x="281035" y="489258"/>
            <a:ext cx="337842" cy="337842"/>
          </a:xfrm>
          <a:prstGeom prst="ellipse">
            <a:avLst/>
          </a:prstGeom>
          <a:solidFill>
            <a:srgbClr val="8AB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B063F1C-71B8-9E51-2AD0-2B8CC68195D6}"/>
              </a:ext>
            </a:extLst>
          </p:cNvPr>
          <p:cNvSpPr/>
          <p:nvPr/>
        </p:nvSpPr>
        <p:spPr>
          <a:xfrm>
            <a:off x="-154377" y="1850506"/>
            <a:ext cx="977333" cy="1542679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B66C608-3CB0-7C66-C1CA-01C06B875A6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149" y="1888182"/>
            <a:ext cx="461363" cy="46136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ADD5F92-B6AE-9915-0F88-9B706E772323}"/>
              </a:ext>
            </a:extLst>
          </p:cNvPr>
          <p:cNvSpPr txBox="1"/>
          <p:nvPr/>
        </p:nvSpPr>
        <p:spPr>
          <a:xfrm>
            <a:off x="65260" y="2307587"/>
            <a:ext cx="58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agent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5263B22-FE37-CB2F-8630-446BFD5EAF0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2715" y="2698342"/>
            <a:ext cx="431734" cy="43173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E64235-C3C4-EBA9-1A69-4FEE0439A9D1}"/>
              </a:ext>
            </a:extLst>
          </p:cNvPr>
          <p:cNvSpPr txBox="1"/>
          <p:nvPr/>
        </p:nvSpPr>
        <p:spPr>
          <a:xfrm>
            <a:off x="-165636" y="3090375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environment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7C09190-7FF1-6294-8DB3-3E09B3AB24A0}"/>
              </a:ext>
            </a:extLst>
          </p:cNvPr>
          <p:cNvCxnSpPr>
            <a:cxnSpLocks/>
          </p:cNvCxnSpPr>
          <p:nvPr/>
        </p:nvCxnSpPr>
        <p:spPr>
          <a:xfrm>
            <a:off x="-36158" y="2621845"/>
            <a:ext cx="761173" cy="0"/>
          </a:xfrm>
          <a:prstGeom prst="line">
            <a:avLst/>
          </a:prstGeom>
          <a:ln w="19050">
            <a:solidFill>
              <a:srgbClr val="8AB0D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C836101D-1EAB-AD60-6EA0-B780ADD97B71}"/>
              </a:ext>
            </a:extLst>
          </p:cNvPr>
          <p:cNvCxnSpPr>
            <a:cxnSpLocks/>
            <a:stCxn id="42" idx="3"/>
            <a:endCxn id="12" idx="1"/>
          </p:cNvCxnSpPr>
          <p:nvPr/>
        </p:nvCxnSpPr>
        <p:spPr>
          <a:xfrm>
            <a:off x="822956" y="2621846"/>
            <a:ext cx="500530" cy="628412"/>
          </a:xfrm>
          <a:prstGeom prst="bentConnector3">
            <a:avLst>
              <a:gd name="adj1" fmla="val 65771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E9D0F640-2CF6-B718-C2E8-676D3C16E736}"/>
              </a:ext>
            </a:extLst>
          </p:cNvPr>
          <p:cNvCxnSpPr>
            <a:cxnSpLocks/>
            <a:stCxn id="42" idx="3"/>
            <a:endCxn id="6" idx="1"/>
          </p:cNvCxnSpPr>
          <p:nvPr/>
        </p:nvCxnSpPr>
        <p:spPr>
          <a:xfrm flipV="1">
            <a:off x="822956" y="2015178"/>
            <a:ext cx="500628" cy="606668"/>
          </a:xfrm>
          <a:prstGeom prst="bentConnector3">
            <a:avLst>
              <a:gd name="adj1" fmla="val 64454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E62747-54DD-B2CE-FBEB-98EB01BB8FE1}"/>
              </a:ext>
            </a:extLst>
          </p:cNvPr>
          <p:cNvCxnSpPr>
            <a:cxnSpLocks/>
            <a:stCxn id="6" idx="3"/>
            <a:endCxn id="143" idx="0"/>
          </p:cNvCxnSpPr>
          <p:nvPr/>
        </p:nvCxnSpPr>
        <p:spPr>
          <a:xfrm>
            <a:off x="3014263" y="2015178"/>
            <a:ext cx="414917" cy="292408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A3B0DEC-CD0E-E1C7-5BC3-2F1F1ECE129E}"/>
              </a:ext>
            </a:extLst>
          </p:cNvPr>
          <p:cNvSpPr/>
          <p:nvPr/>
        </p:nvSpPr>
        <p:spPr>
          <a:xfrm>
            <a:off x="-101278" y="4284161"/>
            <a:ext cx="3972909" cy="1439039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3A0369-21F7-C907-5171-3819EE87777D}"/>
              </a:ext>
            </a:extLst>
          </p:cNvPr>
          <p:cNvSpPr txBox="1"/>
          <p:nvPr/>
        </p:nvSpPr>
        <p:spPr>
          <a:xfrm>
            <a:off x="141" y="4132410"/>
            <a:ext cx="1691489" cy="307777"/>
          </a:xfrm>
          <a:prstGeom prst="rect">
            <a:avLst/>
          </a:prstGeom>
          <a:solidFill>
            <a:srgbClr val="F3FCFF"/>
          </a:solidFill>
        </p:spPr>
        <p:txBody>
          <a:bodyPr wrap="none" rtlCol="0">
            <a:spAutoFit/>
          </a:bodyPr>
          <a:lstStyle/>
          <a:p>
            <a:r>
              <a:rPr lang="en-CN" sz="1400" b="1" dirty="0">
                <a:solidFill>
                  <a:srgbClr val="1B4773"/>
                </a:solidFill>
                <a:latin typeface="Comic Sans MS" panose="030F0902030302020204" pitchFamily="66" charset="0"/>
              </a:rPr>
              <a:t>Webshop example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CC8FEBA-F3C9-3BAE-8B04-50BB3F9E3E21}"/>
              </a:ext>
            </a:extLst>
          </p:cNvPr>
          <p:cNvSpPr/>
          <p:nvPr/>
        </p:nvSpPr>
        <p:spPr>
          <a:xfrm>
            <a:off x="-101278" y="3766951"/>
            <a:ext cx="3972908" cy="39269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302802-45F8-3A4D-E5D5-4B2220533C0B}"/>
                  </a:ext>
                </a:extLst>
              </p:cNvPr>
              <p:cNvSpPr txBox="1"/>
              <p:nvPr/>
            </p:nvSpPr>
            <p:spPr>
              <a:xfrm>
                <a:off x="632157" y="3792512"/>
                <a:ext cx="31879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𝑡𝑒𝑥𝑡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6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302802-45F8-3A4D-E5D5-4B2220533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57" y="3792512"/>
                <a:ext cx="3187989" cy="338554"/>
              </a:xfrm>
              <a:prstGeom prst="rect">
                <a:avLst/>
              </a:prstGeom>
              <a:blipFill>
                <a:blip r:embed="rId14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8A22F383-BED0-5D95-51D8-0DD577C50159}"/>
              </a:ext>
            </a:extLst>
          </p:cNvPr>
          <p:cNvSpPr txBox="1"/>
          <p:nvPr/>
        </p:nvSpPr>
        <p:spPr>
          <a:xfrm>
            <a:off x="292946" y="45348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CFBA5B2-028C-3BD8-E51C-1B928754CEA4}"/>
              </a:ext>
            </a:extLst>
          </p:cNvPr>
          <p:cNvSpPr/>
          <p:nvPr/>
        </p:nvSpPr>
        <p:spPr>
          <a:xfrm>
            <a:off x="4633297" y="493190"/>
            <a:ext cx="337842" cy="337842"/>
          </a:xfrm>
          <a:prstGeom prst="ellipse">
            <a:avLst/>
          </a:prstGeom>
          <a:solidFill>
            <a:srgbClr val="94B6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E28887-D001-5F89-E409-C232BB02D688}"/>
              </a:ext>
            </a:extLst>
          </p:cNvPr>
          <p:cNvSpPr txBox="1"/>
          <p:nvPr/>
        </p:nvSpPr>
        <p:spPr>
          <a:xfrm>
            <a:off x="4647927" y="47271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7EF0552-A3E7-4BAE-AE42-05DBCBA93B08}"/>
                  </a:ext>
                </a:extLst>
              </p:cNvPr>
              <p:cNvSpPr txBox="1"/>
              <p:nvPr/>
            </p:nvSpPr>
            <p:spPr>
              <a:xfrm>
                <a:off x="11319922" y="6539735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7EF0552-A3E7-4BAE-AE42-05DBCBA93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9922" y="6539735"/>
                <a:ext cx="253274" cy="276999"/>
              </a:xfrm>
              <a:prstGeom prst="rect">
                <a:avLst/>
              </a:prstGeom>
              <a:blipFill>
                <a:blip r:embed="rId15"/>
                <a:stretch>
                  <a:fillRect l="-23810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5898FF80-0B40-19FD-63A8-9439C5E255F6}"/>
              </a:ext>
            </a:extLst>
          </p:cNvPr>
          <p:cNvSpPr/>
          <p:nvPr/>
        </p:nvSpPr>
        <p:spPr>
          <a:xfrm>
            <a:off x="4504574" y="4825704"/>
            <a:ext cx="3378005" cy="939735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EE6CBF3-714F-69F3-0E5E-AE55781AE033}"/>
              </a:ext>
            </a:extLst>
          </p:cNvPr>
          <p:cNvSpPr/>
          <p:nvPr/>
        </p:nvSpPr>
        <p:spPr>
          <a:xfrm>
            <a:off x="8572430" y="490677"/>
            <a:ext cx="337842" cy="337842"/>
          </a:xfrm>
          <a:prstGeom prst="ellipse">
            <a:avLst/>
          </a:prstGeom>
          <a:solidFill>
            <a:srgbClr val="F1A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FA07F3-E95D-4655-33EF-C3361E94F23F}"/>
              </a:ext>
            </a:extLst>
          </p:cNvPr>
          <p:cNvSpPr txBox="1"/>
          <p:nvPr/>
        </p:nvSpPr>
        <p:spPr>
          <a:xfrm>
            <a:off x="8587764" y="4506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c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D1BBCF1-690A-89B9-2E5E-2ECD93788E77}"/>
              </a:ext>
            </a:extLst>
          </p:cNvPr>
          <p:cNvSpPr/>
          <p:nvPr/>
        </p:nvSpPr>
        <p:spPr>
          <a:xfrm>
            <a:off x="8572430" y="1135177"/>
            <a:ext cx="1389375" cy="162103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4C1D883-B629-436C-4704-D381BABE5752}"/>
              </a:ext>
            </a:extLst>
          </p:cNvPr>
          <p:cNvGrpSpPr/>
          <p:nvPr/>
        </p:nvGrpSpPr>
        <p:grpSpPr>
          <a:xfrm>
            <a:off x="8572430" y="1188011"/>
            <a:ext cx="1137119" cy="1083887"/>
            <a:chOff x="173590" y="5030995"/>
            <a:chExt cx="1156550" cy="1102409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3EFE5ED-454F-C6BB-E459-11B8DFF4B3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783" y="5030995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E2D5F9DF-20F0-8EB9-92E2-1602BE3A4ECE}"/>
                </a:ext>
              </a:extLst>
            </p:cNvPr>
            <p:cNvCxnSpPr>
              <a:cxnSpLocks/>
            </p:cNvCxnSpPr>
            <p:nvPr/>
          </p:nvCxnSpPr>
          <p:spPr>
            <a:xfrm>
              <a:off x="395783" y="6133404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33394609-DB56-0549-9F9F-8CCBF2100D50}"/>
                </a:ext>
              </a:extLst>
            </p:cNvPr>
            <p:cNvSpPr/>
            <p:nvPr/>
          </p:nvSpPr>
          <p:spPr>
            <a:xfrm>
              <a:off x="476018" y="5253186"/>
              <a:ext cx="700756" cy="871671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24C3836-7FAE-BE5B-64A7-1768A6A04CA4}"/>
                </a:ext>
              </a:extLst>
            </p:cNvPr>
            <p:cNvSpPr/>
            <p:nvPr/>
          </p:nvSpPr>
          <p:spPr>
            <a:xfrm>
              <a:off x="524890" y="5928304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9BA020F-9F91-71E5-54C4-CC998942209A}"/>
                </a:ext>
              </a:extLst>
            </p:cNvPr>
            <p:cNvSpPr/>
            <p:nvPr/>
          </p:nvSpPr>
          <p:spPr>
            <a:xfrm>
              <a:off x="694410" y="600521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30B8D7C-5AD9-A485-346F-65D99563D697}"/>
                </a:ext>
              </a:extLst>
            </p:cNvPr>
            <p:cNvSpPr/>
            <p:nvPr/>
          </p:nvSpPr>
          <p:spPr>
            <a:xfrm>
              <a:off x="781587" y="584284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18E9489-13F0-607E-2246-A7F41C703C6E}"/>
                </a:ext>
              </a:extLst>
            </p:cNvPr>
            <p:cNvSpPr/>
            <p:nvPr/>
          </p:nvSpPr>
          <p:spPr>
            <a:xfrm>
              <a:off x="635826" y="5713233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1D3C06F-930F-C67B-DFDD-A4239655E58D}"/>
                </a:ext>
              </a:extLst>
            </p:cNvPr>
            <p:cNvSpPr/>
            <p:nvPr/>
          </p:nvSpPr>
          <p:spPr>
            <a:xfrm>
              <a:off x="1035768" y="5146364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5EBD167-A67A-87BA-6DED-1D706357E93D}"/>
                </a:ext>
              </a:extLst>
            </p:cNvPr>
            <p:cNvSpPr/>
            <p:nvPr/>
          </p:nvSpPr>
          <p:spPr>
            <a:xfrm>
              <a:off x="1035768" y="5310069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8F9D138-D96C-679E-BF65-614A3F0B83F9}"/>
                </a:ext>
              </a:extLst>
            </p:cNvPr>
            <p:cNvSpPr/>
            <p:nvPr/>
          </p:nvSpPr>
          <p:spPr>
            <a:xfrm>
              <a:off x="940012" y="5398376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F795FBE-B55C-F7E0-79AD-AF621C21E860}"/>
                </a:ext>
              </a:extLst>
            </p:cNvPr>
            <p:cNvSpPr/>
            <p:nvPr/>
          </p:nvSpPr>
          <p:spPr>
            <a:xfrm>
              <a:off x="844256" y="5246020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76A336B-5B00-54F2-80C5-6984E788A7E6}"/>
                </a:ext>
              </a:extLst>
            </p:cNvPr>
            <p:cNvSpPr/>
            <p:nvPr/>
          </p:nvSpPr>
          <p:spPr>
            <a:xfrm>
              <a:off x="737139" y="539975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9A7D91B-5B65-53D1-FF39-6F36F3147C1E}"/>
                </a:ext>
              </a:extLst>
            </p:cNvPr>
            <p:cNvSpPr/>
            <p:nvPr/>
          </p:nvSpPr>
          <p:spPr>
            <a:xfrm>
              <a:off x="897283" y="558629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077E6C8-0B3B-1E11-0E17-7636AC99FF41}"/>
                </a:ext>
              </a:extLst>
            </p:cNvPr>
            <p:cNvSpPr/>
            <p:nvPr/>
          </p:nvSpPr>
          <p:spPr>
            <a:xfrm>
              <a:off x="173590" y="5093041"/>
              <a:ext cx="934357" cy="184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464B068-4EE1-E464-4A2A-F9B289BA5148}"/>
              </a:ext>
            </a:extLst>
          </p:cNvPr>
          <p:cNvSpPr txBox="1"/>
          <p:nvPr/>
        </p:nvSpPr>
        <p:spPr>
          <a:xfrm>
            <a:off x="8715394" y="2256115"/>
            <a:ext cx="113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regularized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516866C2-7CC6-6D98-52DE-F8A444ECA625}"/>
              </a:ext>
            </a:extLst>
          </p:cNvPr>
          <p:cNvSpPr/>
          <p:nvPr/>
        </p:nvSpPr>
        <p:spPr>
          <a:xfrm>
            <a:off x="10317878" y="1134596"/>
            <a:ext cx="1533291" cy="1644769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AF032AB-2E2B-AF4B-ABD0-60ACF86FAECA}"/>
              </a:ext>
            </a:extLst>
          </p:cNvPr>
          <p:cNvGrpSpPr/>
          <p:nvPr/>
        </p:nvGrpSpPr>
        <p:grpSpPr>
          <a:xfrm>
            <a:off x="10407694" y="1112888"/>
            <a:ext cx="1201653" cy="1284410"/>
            <a:chOff x="45787" y="4868818"/>
            <a:chExt cx="1232148" cy="1317004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E7BD2F7A-5ED2-2734-6CEA-099738208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578" y="5038120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D84FF544-A32D-374E-7CE2-C427E0A9F412}"/>
                </a:ext>
              </a:extLst>
            </p:cNvPr>
            <p:cNvCxnSpPr>
              <a:cxnSpLocks/>
            </p:cNvCxnSpPr>
            <p:nvPr/>
          </p:nvCxnSpPr>
          <p:spPr>
            <a:xfrm>
              <a:off x="343578" y="5653415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6DFAB56-1521-7968-2360-5D03364849A9}"/>
                </a:ext>
              </a:extLst>
            </p:cNvPr>
            <p:cNvSpPr/>
            <p:nvPr/>
          </p:nvSpPr>
          <p:spPr>
            <a:xfrm>
              <a:off x="433286" y="5312918"/>
              <a:ext cx="72015" cy="34200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27CE35E-56C3-BA31-B392-BA32EC5989BE}"/>
                </a:ext>
              </a:extLst>
            </p:cNvPr>
            <p:cNvSpPr/>
            <p:nvPr/>
          </p:nvSpPr>
          <p:spPr>
            <a:xfrm>
              <a:off x="585088" y="5486213"/>
              <a:ext cx="68356" cy="16720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7B8B06C-8369-25AE-20F1-111A997C5F7E}"/>
                </a:ext>
              </a:extLst>
            </p:cNvPr>
            <p:cNvSpPr/>
            <p:nvPr/>
          </p:nvSpPr>
          <p:spPr>
            <a:xfrm>
              <a:off x="771535" y="5449739"/>
              <a:ext cx="63084" cy="2036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F93B029-DE54-FBF6-E442-42DEEF066C9B}"/>
                </a:ext>
              </a:extLst>
            </p:cNvPr>
            <p:cNvSpPr/>
            <p:nvPr/>
          </p:nvSpPr>
          <p:spPr>
            <a:xfrm>
              <a:off x="936292" y="5666506"/>
              <a:ext cx="63084" cy="1384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1F78783-6597-6EFC-73B4-A48EC52BE424}"/>
                </a:ext>
              </a:extLst>
            </p:cNvPr>
            <p:cNvSpPr/>
            <p:nvPr/>
          </p:nvSpPr>
          <p:spPr>
            <a:xfrm>
              <a:off x="1096219" y="5658963"/>
              <a:ext cx="62445" cy="36634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963F5F6-619C-EACF-897E-A78AE8A6E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16870" y="5143122"/>
              <a:ext cx="121931" cy="121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FB7D75A-87EE-CB47-BBDE-B29CCEEC91B0}"/>
                    </a:ext>
                  </a:extLst>
                </p:cNvPr>
                <p:cNvSpPr txBox="1"/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CN" sz="12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25A3E56-27B3-31BB-D3EF-40A41B95CE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03A0D82-96D7-6B50-4AD2-AF97AFF934F6}"/>
                </a:ext>
              </a:extLst>
            </p:cNvPr>
            <p:cNvCxnSpPr/>
            <p:nvPr/>
          </p:nvCxnSpPr>
          <p:spPr>
            <a:xfrm>
              <a:off x="343578" y="544973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66C3FB1-B385-5D3B-D83E-DCB732114022}"/>
                </a:ext>
              </a:extLst>
            </p:cNvPr>
            <p:cNvCxnSpPr/>
            <p:nvPr/>
          </p:nvCxnSpPr>
          <p:spPr>
            <a:xfrm>
              <a:off x="361567" y="581338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F1C8BC-C558-5B74-EE33-8CC77B2FE306}"/>
                    </a:ext>
                  </a:extLst>
                </p:cNvPr>
                <p:cNvSpPr txBox="1"/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68E330E-C295-7F57-BC54-1466388C4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blipFill>
                  <a:blip r:embed="rId22"/>
                  <a:stretch>
                    <a:fillRect l="-50000" r="-4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9AC27EF-EFF5-4D12-377E-D1272E4603D4}"/>
                    </a:ext>
                  </a:extLst>
                </p:cNvPr>
                <p:cNvSpPr txBox="1"/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7F5F75C4-CD8A-EE74-B480-EFE63B9E6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blipFill>
                  <a:blip r:embed="rId23"/>
                  <a:stretch>
                    <a:fillRect l="-10526" r="-31579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0B9EFD36-7F16-3B33-0551-6A79201CF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75731" y="6063891"/>
              <a:ext cx="121931" cy="121931"/>
            </a:xfrm>
            <a:prstGeom prst="rect">
              <a:avLst/>
            </a:prstGeom>
          </p:spPr>
        </p:pic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B43317E7-65D6-9C83-F4D9-F1948F2FBF7F}"/>
              </a:ext>
            </a:extLst>
          </p:cNvPr>
          <p:cNvSpPr txBox="1"/>
          <p:nvPr/>
        </p:nvSpPr>
        <p:spPr>
          <a:xfrm>
            <a:off x="10646723" y="2259141"/>
            <a:ext cx="934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selection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AFE2C63-528A-9E86-824F-6A0DAF790863}"/>
              </a:ext>
            </a:extLst>
          </p:cNvPr>
          <p:cNvSpPr txBox="1"/>
          <p:nvPr/>
        </p:nvSpPr>
        <p:spPr>
          <a:xfrm>
            <a:off x="10895468" y="1250850"/>
            <a:ext cx="635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feature</a:t>
            </a:r>
          </a:p>
        </p:txBody>
      </p:sp>
      <p:sp>
        <p:nvSpPr>
          <p:cNvPr id="102" name="Right Arrow 101">
            <a:extLst>
              <a:ext uri="{FF2B5EF4-FFF2-40B4-BE49-F238E27FC236}">
                <a16:creationId xmlns:a16="http://schemas.microsoft.com/office/drawing/2014/main" id="{8514F420-CE08-8F64-E9D1-CDA135148B24}"/>
              </a:ext>
            </a:extLst>
          </p:cNvPr>
          <p:cNvSpPr/>
          <p:nvPr/>
        </p:nvSpPr>
        <p:spPr>
          <a:xfrm rot="5400000">
            <a:off x="10012336" y="2822005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2B60AEBA-7104-6B54-8E84-D0138FFF3B7A}"/>
              </a:ext>
            </a:extLst>
          </p:cNvPr>
          <p:cNvSpPr/>
          <p:nvPr/>
        </p:nvSpPr>
        <p:spPr>
          <a:xfrm>
            <a:off x="8532675" y="3062868"/>
            <a:ext cx="3318494" cy="154579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D0E74C8-05E8-5E02-BE8F-B8510854152A}"/>
              </a:ext>
            </a:extLst>
          </p:cNvPr>
          <p:cNvSpPr/>
          <p:nvPr/>
        </p:nvSpPr>
        <p:spPr>
          <a:xfrm>
            <a:off x="8653324" y="3129376"/>
            <a:ext cx="18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24C417-DCB4-72FF-FB7B-E6594C418839}"/>
                  </a:ext>
                </a:extLst>
              </p:cNvPr>
              <p:cNvSpPr txBox="1"/>
              <p:nvPr/>
            </p:nvSpPr>
            <p:spPr>
              <a:xfrm>
                <a:off x="8793334" y="3038620"/>
                <a:ext cx="13876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600" dirty="0">
                    <a:solidFill>
                      <a:srgbClr val="4472C5"/>
                    </a:solidFill>
                  </a:rPr>
                  <a:t>Type 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>
                    <a:solidFill>
                      <a:srgbClr val="4472C5"/>
                    </a:solidFill>
                  </a:rPr>
                  <a:t> </a:t>
                </a:r>
                <a:r>
                  <a:rPr lang="en-CN" sz="1600">
                    <a:solidFill>
                      <a:srgbClr val="4472C5"/>
                    </a:solidFill>
                  </a:rPr>
                  <a:t>&gt; 0)</a:t>
                </a:r>
                <a:endParaRPr lang="en-CN" sz="1600" dirty="0">
                  <a:solidFill>
                    <a:srgbClr val="4472C5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24C417-DCB4-72FF-FB7B-E6594C418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334" y="3038620"/>
                <a:ext cx="1387688" cy="338554"/>
              </a:xfrm>
              <a:prstGeom prst="rect">
                <a:avLst/>
              </a:prstGeom>
              <a:blipFill>
                <a:blip r:embed="rId24"/>
                <a:stretch>
                  <a:fillRect l="-2727" t="-3704" r="-181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Rectangle 106">
            <a:extLst>
              <a:ext uri="{FF2B5EF4-FFF2-40B4-BE49-F238E27FC236}">
                <a16:creationId xmlns:a16="http://schemas.microsoft.com/office/drawing/2014/main" id="{C5215657-10D9-62C4-D110-8976C41E4079}"/>
              </a:ext>
            </a:extLst>
          </p:cNvPr>
          <p:cNvSpPr/>
          <p:nvPr/>
        </p:nvSpPr>
        <p:spPr>
          <a:xfrm>
            <a:off x="10317694" y="3129376"/>
            <a:ext cx="180000" cy="18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2059EEA-C30F-6C4F-4AE1-FD5626CB2179}"/>
                  </a:ext>
                </a:extLst>
              </p:cNvPr>
              <p:cNvSpPr txBox="1"/>
              <p:nvPr/>
            </p:nvSpPr>
            <p:spPr>
              <a:xfrm>
                <a:off x="10457704" y="3038620"/>
                <a:ext cx="13123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600" dirty="0">
                    <a:solidFill>
                      <a:srgbClr val="EBAB80"/>
                    </a:solidFill>
                  </a:rPr>
                  <a:t>Type I(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>
                    <a:solidFill>
                      <a:srgbClr val="EBAB80"/>
                    </a:solidFill>
                  </a:rPr>
                  <a:t> &lt; 0)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2059EEA-C30F-6C4F-4AE1-FD5626CB2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704" y="3038620"/>
                <a:ext cx="1312347" cy="338554"/>
              </a:xfrm>
              <a:prstGeom prst="rect">
                <a:avLst/>
              </a:prstGeom>
              <a:blipFill>
                <a:blip r:embed="rId25"/>
                <a:stretch>
                  <a:fillRect l="-2885" t="-3704" r="-1923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Right Arrow 110">
            <a:extLst>
              <a:ext uri="{FF2B5EF4-FFF2-40B4-BE49-F238E27FC236}">
                <a16:creationId xmlns:a16="http://schemas.microsoft.com/office/drawing/2014/main" id="{480818ED-9021-22DC-FDCF-3B98F4DD0038}"/>
              </a:ext>
            </a:extLst>
          </p:cNvPr>
          <p:cNvSpPr/>
          <p:nvPr/>
        </p:nvSpPr>
        <p:spPr>
          <a:xfrm rot="5400000">
            <a:off x="10027637" y="4796055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78325802-C0C5-8EC4-4D61-7CE1F606C766}"/>
              </a:ext>
            </a:extLst>
          </p:cNvPr>
          <p:cNvSpPr/>
          <p:nvPr/>
        </p:nvSpPr>
        <p:spPr>
          <a:xfrm>
            <a:off x="8532675" y="5083521"/>
            <a:ext cx="3318494" cy="665696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47270B-DD4D-0C6B-E09A-C99FBBFC1732}"/>
              </a:ext>
            </a:extLst>
          </p:cNvPr>
          <p:cNvGrpSpPr/>
          <p:nvPr/>
        </p:nvGrpSpPr>
        <p:grpSpPr>
          <a:xfrm>
            <a:off x="8669828" y="5174919"/>
            <a:ext cx="466687" cy="466687"/>
            <a:chOff x="10896027" y="7645017"/>
            <a:chExt cx="466687" cy="466687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79634C27-8390-7FAC-0672-DD9AEAB40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896027" y="7645017"/>
              <a:ext cx="466687" cy="466687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550F8C3A-293B-FBE0-93F7-9FF6B46FA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993156" y="7761575"/>
              <a:ext cx="282701" cy="282701"/>
            </a:xfrm>
            <a:prstGeom prst="rect">
              <a:avLst/>
            </a:prstGeom>
          </p:spPr>
        </p:pic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3357EC4D-CD1C-E4AA-8772-3BCD710F6B00}"/>
              </a:ext>
            </a:extLst>
          </p:cNvPr>
          <p:cNvSpPr txBox="1"/>
          <p:nvPr/>
        </p:nvSpPr>
        <p:spPr>
          <a:xfrm>
            <a:off x="9211458" y="5100326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solidFill>
                  <a:schemeClr val="tx1"/>
                </a:solidFill>
                <a:latin typeface="Comic Sans MS" panose="030F0902030302020204" pitchFamily="66" charset="0"/>
              </a:rPr>
              <a:t>Deployed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78BDB88-874D-018E-6B45-4CC315DEC1DE}"/>
                  </a:ext>
                </a:extLst>
              </p:cNvPr>
              <p:cNvSpPr txBox="1"/>
              <p:nvPr/>
            </p:nvSpPr>
            <p:spPr>
              <a:xfrm>
                <a:off x="9190640" y="5395190"/>
                <a:ext cx="2521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78BDB88-874D-018E-6B45-4CC315DEC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640" y="5395190"/>
                <a:ext cx="2521459" cy="307777"/>
              </a:xfrm>
              <a:prstGeom prst="rect">
                <a:avLst/>
              </a:prstGeom>
              <a:blipFill>
                <a:blip r:embed="rId2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47DEEBC5-BCF0-6408-F9FD-236983339815}"/>
              </a:ext>
            </a:extLst>
          </p:cNvPr>
          <p:cNvCxnSpPr>
            <a:cxnSpLocks/>
            <a:stCxn id="13" idx="3"/>
            <a:endCxn id="143" idx="2"/>
          </p:cNvCxnSpPr>
          <p:nvPr/>
        </p:nvCxnSpPr>
        <p:spPr>
          <a:xfrm flipV="1">
            <a:off x="3064836" y="2914253"/>
            <a:ext cx="364344" cy="332067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3FD687DD-3F39-2162-C2A9-9F729AC9B596}"/>
                  </a:ext>
                </a:extLst>
              </p:cNvPr>
              <p:cNvSpPr/>
              <p:nvPr/>
            </p:nvSpPr>
            <p:spPr>
              <a:xfrm>
                <a:off x="141" y="4503719"/>
                <a:ext cx="1304547" cy="307778"/>
              </a:xfrm>
              <a:prstGeom prst="roundRect">
                <a:avLst>
                  <a:gd name="adj" fmla="val 8677"/>
                </a:avLst>
              </a:prstGeom>
              <a:solidFill>
                <a:srgbClr val="DBE8F3"/>
              </a:solidFill>
              <a:ln w="19050">
                <a:solidFill>
                  <a:srgbClr val="8AB0D7"/>
                </a:solidFill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𝑡𝑒𝑥𝑡</m:t>
                      </m:r>
                    </m:oMath>
                  </m:oMathPara>
                </a14:m>
                <a:endParaRPr lang="en-CN" sz="1600">
                  <a:solidFill>
                    <a:srgbClr val="1B4774"/>
                  </a:solidFill>
                </a:endParaRPr>
              </a:p>
            </p:txBody>
          </p:sp>
        </mc:Choice>
        <mc:Fallback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3FD687DD-3F39-2162-C2A9-9F729AC9B5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" y="4503719"/>
                <a:ext cx="1304547" cy="307778"/>
              </a:xfrm>
              <a:prstGeom prst="roundRect">
                <a:avLst>
                  <a:gd name="adj" fmla="val 8677"/>
                </a:avLst>
              </a:prstGeom>
              <a:blipFill>
                <a:blip r:embed="rId29"/>
                <a:stretch>
                  <a:fillRect/>
                </a:stretch>
              </a:blipFill>
              <a:ln w="19050">
                <a:solidFill>
                  <a:srgbClr val="8AB0D7"/>
                </a:solidFill>
                <a:miter lim="800000"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956FC539-16FB-AB60-D149-523208946D53}"/>
              </a:ext>
            </a:extLst>
          </p:cNvPr>
          <p:cNvSpPr/>
          <p:nvPr/>
        </p:nvSpPr>
        <p:spPr>
          <a:xfrm>
            <a:off x="140" y="4895028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85AFB761-EC41-604D-D5AF-9FD43D7AB863}"/>
              </a:ext>
            </a:extLst>
          </p:cNvPr>
          <p:cNvSpPr/>
          <p:nvPr/>
        </p:nvSpPr>
        <p:spPr>
          <a:xfrm>
            <a:off x="139" y="5297360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22B99C5-B062-F418-B1DE-4352072EC1C1}"/>
              </a:ext>
            </a:extLst>
          </p:cNvPr>
          <p:cNvSpPr txBox="1"/>
          <p:nvPr/>
        </p:nvSpPr>
        <p:spPr>
          <a:xfrm>
            <a:off x="1769904" y="4490754"/>
            <a:ext cx="200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Results Page (Page 1/5)</a:t>
            </a:r>
            <a:r>
              <a:rPr lang="en-US" altLang="zh-CN" sz="1400" dirty="0"/>
              <a:t>…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F255697-8E91-97DC-7068-C6004F75109F}"/>
                  </a:ext>
                </a:extLst>
              </p:cNvPr>
              <p:cNvSpPr txBox="1"/>
              <p:nvPr/>
            </p:nvSpPr>
            <p:spPr>
              <a:xfrm>
                <a:off x="52771" y="4874129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F255697-8E91-97DC-7068-C6004F751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1" y="4874129"/>
                <a:ext cx="927690" cy="33855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88B58CB-BEDD-04CB-830A-C58BBE5D8B2B}"/>
                  </a:ext>
                </a:extLst>
              </p:cNvPr>
              <p:cNvSpPr txBox="1"/>
              <p:nvPr/>
            </p:nvSpPr>
            <p:spPr>
              <a:xfrm>
                <a:off x="53627" y="5286337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88B58CB-BEDD-04CB-830A-C58BBE5D8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7" y="5286337"/>
                <a:ext cx="929485" cy="33855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E1D801DA-171B-15F3-E46A-917F94D5C78B}"/>
              </a:ext>
            </a:extLst>
          </p:cNvPr>
          <p:cNvSpPr txBox="1"/>
          <p:nvPr/>
        </p:nvSpPr>
        <p:spPr>
          <a:xfrm>
            <a:off x="1764203" y="4874647"/>
            <a:ext cx="636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[Next]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4F167AC-BB2F-0F44-1DEF-A39A7A44F3AE}"/>
              </a:ext>
            </a:extLst>
          </p:cNvPr>
          <p:cNvSpPr txBox="1"/>
          <p:nvPr/>
        </p:nvSpPr>
        <p:spPr>
          <a:xfrm>
            <a:off x="1764203" y="5286337"/>
            <a:ext cx="1356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[Back to Search]</a:t>
            </a: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F361C5E0-0BCF-66A7-A3F3-7A4B96D0B5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029" y="3788906"/>
            <a:ext cx="342160" cy="342160"/>
          </a:xfrm>
          <a:prstGeom prst="rect">
            <a:avLst/>
          </a:prstGeom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16C38F9D-5FBC-947B-D0E5-8B1B1EB3AFB1}"/>
              </a:ext>
            </a:extLst>
          </p:cNvPr>
          <p:cNvSpPr txBox="1"/>
          <p:nvPr/>
        </p:nvSpPr>
        <p:spPr>
          <a:xfrm>
            <a:off x="4648643" y="4649428"/>
            <a:ext cx="1577676" cy="307777"/>
          </a:xfrm>
          <a:prstGeom prst="rect">
            <a:avLst/>
          </a:prstGeom>
          <a:solidFill>
            <a:srgbClr val="FAFFF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Feature</a:t>
            </a:r>
            <a:r>
              <a:rPr lang="zh-CN" altLang="en-US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example</a:t>
            </a:r>
            <a:endParaRPr lang="en-CN" sz="1400" b="1" dirty="0">
              <a:solidFill>
                <a:srgbClr val="457543"/>
              </a:solidFill>
              <a:latin typeface="Comic Sans MS" panose="030F0902030302020204" pitchFamily="66" charset="0"/>
            </a:endParaRPr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614543D8-E43A-6C44-CCBD-81A0793EF062}"/>
              </a:ext>
            </a:extLst>
          </p:cNvPr>
          <p:cNvSpPr/>
          <p:nvPr/>
        </p:nvSpPr>
        <p:spPr>
          <a:xfrm>
            <a:off x="4647420" y="4959945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B3324011-D541-4881-8F67-B35A3A17C572}"/>
              </a:ext>
            </a:extLst>
          </p:cNvPr>
          <p:cNvSpPr/>
          <p:nvPr/>
        </p:nvSpPr>
        <p:spPr>
          <a:xfrm>
            <a:off x="4647420" y="5377076"/>
            <a:ext cx="1464546" cy="3077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D2D77F05-343F-4B79-6F08-BF5C01D7C7EE}"/>
              </a:ext>
            </a:extLst>
          </p:cNvPr>
          <p:cNvSpPr/>
          <p:nvPr/>
        </p:nvSpPr>
        <p:spPr>
          <a:xfrm>
            <a:off x="6295404" y="4959945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20B14725-4C44-4C60-6C45-7D1ACE11C863}"/>
              </a:ext>
            </a:extLst>
          </p:cNvPr>
          <p:cNvSpPr/>
          <p:nvPr/>
        </p:nvSpPr>
        <p:spPr>
          <a:xfrm>
            <a:off x="6305136" y="5388099"/>
            <a:ext cx="1454813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DAB36D0D-1324-26B6-0965-54EC80EFFE4F}"/>
              </a:ext>
            </a:extLst>
          </p:cNvPr>
          <p:cNvSpPr/>
          <p:nvPr/>
        </p:nvSpPr>
        <p:spPr>
          <a:xfrm>
            <a:off x="4357779" y="7043260"/>
            <a:ext cx="3371498" cy="6839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8BAD3D-EF69-29BE-04F2-C0FD17FFC573}"/>
                  </a:ext>
                </a:extLst>
              </p:cNvPr>
              <p:cNvSpPr txBox="1"/>
              <p:nvPr/>
            </p:nvSpPr>
            <p:spPr>
              <a:xfrm>
                <a:off x="5133653" y="7042956"/>
                <a:ext cx="26262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8BAD3D-EF69-29BE-04F2-C0FD17FFC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653" y="7042956"/>
                <a:ext cx="2626296" cy="307777"/>
              </a:xfrm>
              <a:prstGeom prst="rect">
                <a:avLst/>
              </a:prstGeom>
              <a:blipFill>
                <a:blip r:embed="rId3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Left Brace 38">
            <a:extLst>
              <a:ext uri="{FF2B5EF4-FFF2-40B4-BE49-F238E27FC236}">
                <a16:creationId xmlns:a16="http://schemas.microsoft.com/office/drawing/2014/main" id="{0FD979E4-9CE0-7074-0DEA-3A9738E6C875}"/>
              </a:ext>
            </a:extLst>
          </p:cNvPr>
          <p:cNvSpPr/>
          <p:nvPr/>
        </p:nvSpPr>
        <p:spPr>
          <a:xfrm rot="16200000">
            <a:off x="5999014" y="7116638"/>
            <a:ext cx="153824" cy="63446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0C0623-AB61-F2C1-3EDF-6714322CC112}"/>
              </a:ext>
            </a:extLst>
          </p:cNvPr>
          <p:cNvSpPr txBox="1"/>
          <p:nvPr/>
        </p:nvSpPr>
        <p:spPr>
          <a:xfrm>
            <a:off x="5448568" y="7439099"/>
            <a:ext cx="129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</a:t>
            </a:r>
            <a:r>
              <a:rPr lang="en-CN" sz="1400" dirty="0"/>
              <a:t>eatures’ value</a:t>
            </a:r>
          </a:p>
        </p:txBody>
      </p:sp>
      <p:pic>
        <p:nvPicPr>
          <p:cNvPr id="171" name="Picture 170">
            <a:extLst>
              <a:ext uri="{FF2B5EF4-FFF2-40B4-BE49-F238E27FC236}">
                <a16:creationId xmlns:a16="http://schemas.microsoft.com/office/drawing/2014/main" id="{DF90CBF3-895E-1BB1-087B-12B1D90623F3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08431" y="7202139"/>
            <a:ext cx="356732" cy="3567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34F13FA-4187-2D69-E5C4-5B2F69BCB215}"/>
                  </a:ext>
                </a:extLst>
              </p:cNvPr>
              <p:cNvSpPr txBox="1"/>
              <p:nvPr/>
            </p:nvSpPr>
            <p:spPr>
              <a:xfrm>
                <a:off x="4640744" y="4942251"/>
                <a:ext cx="14962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𝑒𝑛𝑡𝑟𝑜𝑝𝑦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=0.043</a:t>
                </a:r>
              </a:p>
            </p:txBody>
          </p:sp>
        </mc:Choice>
        <mc:Fallback xmlns="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34F13FA-4187-2D69-E5C4-5B2F69BCB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4942251"/>
                <a:ext cx="1496243" cy="338554"/>
              </a:xfrm>
              <a:prstGeom prst="rect">
                <a:avLst/>
              </a:prstGeom>
              <a:blipFill>
                <a:blip r:embed="rId33"/>
                <a:stretch>
                  <a:fillRect t="-7407" r="-840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ABFCD26-A883-C016-606B-BE32AF40B76B}"/>
                  </a:ext>
                </a:extLst>
              </p:cNvPr>
              <p:cNvSpPr txBox="1"/>
              <p:nvPr/>
            </p:nvSpPr>
            <p:spPr>
              <a:xfrm>
                <a:off x="6243544" y="5353334"/>
                <a:ext cx="16166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𝑎𝑐𝑡𝑖𝑜𝑛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=2.31</a:t>
                </a:r>
              </a:p>
            </p:txBody>
          </p:sp>
        </mc:Choice>
        <mc:Fallback xmlns=""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ABFCD26-A883-C016-606B-BE32AF40B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544" y="5353334"/>
                <a:ext cx="1616661" cy="338554"/>
              </a:xfrm>
              <a:prstGeom prst="rect">
                <a:avLst/>
              </a:prstGeom>
              <a:blipFill>
                <a:blip r:embed="rId34"/>
                <a:stretch>
                  <a:fillRect t="-3571" r="-156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80922BB-E58F-9A81-6995-BAA1A71CEE55}"/>
                  </a:ext>
                </a:extLst>
              </p:cNvPr>
              <p:cNvSpPr txBox="1"/>
              <p:nvPr/>
            </p:nvSpPr>
            <p:spPr>
              <a:xfrm>
                <a:off x="4642334" y="5352213"/>
                <a:ext cx="14382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=412</a:t>
                </a:r>
              </a:p>
            </p:txBody>
          </p:sp>
        </mc:Choice>
        <mc:Fallback xmlns="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80922BB-E58F-9A81-6995-BAA1A71CE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334" y="5352213"/>
                <a:ext cx="1438214" cy="338554"/>
              </a:xfrm>
              <a:prstGeom prst="rect">
                <a:avLst/>
              </a:prstGeom>
              <a:blipFill>
                <a:blip r:embed="rId35"/>
                <a:stretch>
                  <a:fillRect t="-3571" r="-1754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42105D3-248B-BC38-28DA-276387D5458D}"/>
                  </a:ext>
                </a:extLst>
              </p:cNvPr>
              <p:cNvSpPr txBox="1"/>
              <p:nvPr/>
            </p:nvSpPr>
            <p:spPr>
              <a:xfrm>
                <a:off x="6249740" y="4942122"/>
                <a:ext cx="78508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=3</a:t>
                </a:r>
              </a:p>
            </p:txBody>
          </p:sp>
        </mc:Choice>
        <mc:Fallback xmlns="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42105D3-248B-BC38-28DA-276387D54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740" y="4942122"/>
                <a:ext cx="785087" cy="338554"/>
              </a:xfrm>
              <a:prstGeom prst="rect">
                <a:avLst/>
              </a:prstGeom>
              <a:blipFill>
                <a:blip r:embed="rId36"/>
                <a:stretch>
                  <a:fillRect t="-7407" r="-3226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Right Arrow 177">
            <a:extLst>
              <a:ext uri="{FF2B5EF4-FFF2-40B4-BE49-F238E27FC236}">
                <a16:creationId xmlns:a16="http://schemas.microsoft.com/office/drawing/2014/main" id="{4F69B52A-5A5E-1625-2EAB-E30A580F82E7}"/>
              </a:ext>
            </a:extLst>
          </p:cNvPr>
          <p:cNvSpPr/>
          <p:nvPr/>
        </p:nvSpPr>
        <p:spPr>
          <a:xfrm>
            <a:off x="4018414" y="3079331"/>
            <a:ext cx="411199" cy="401053"/>
          </a:xfrm>
          <a:prstGeom prst="rightArrow">
            <a:avLst/>
          </a:prstGeom>
          <a:solidFill>
            <a:srgbClr val="8AB0D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179" name="Right Arrow 178">
            <a:extLst>
              <a:ext uri="{FF2B5EF4-FFF2-40B4-BE49-F238E27FC236}">
                <a16:creationId xmlns:a16="http://schemas.microsoft.com/office/drawing/2014/main" id="{7D2B6F00-3C84-2F39-A33C-E1546A65408E}"/>
              </a:ext>
            </a:extLst>
          </p:cNvPr>
          <p:cNvSpPr/>
          <p:nvPr/>
        </p:nvSpPr>
        <p:spPr>
          <a:xfrm>
            <a:off x="8021594" y="3091532"/>
            <a:ext cx="411199" cy="401053"/>
          </a:xfrm>
          <a:prstGeom prst="rightArrow">
            <a:avLst/>
          </a:prstGeom>
          <a:solidFill>
            <a:srgbClr val="94B78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F8C9307-2977-FB01-92C6-8B9E0A53E484}"/>
              </a:ext>
            </a:extLst>
          </p:cNvPr>
          <p:cNvSpPr/>
          <p:nvPr/>
        </p:nvSpPr>
        <p:spPr>
          <a:xfrm>
            <a:off x="993090" y="2463344"/>
            <a:ext cx="691794" cy="29286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B3C33F-EA74-B811-8D1E-03D5CBC5BB02}"/>
                  </a:ext>
                </a:extLst>
              </p:cNvPr>
              <p:cNvSpPr txBox="1"/>
              <p:nvPr/>
            </p:nvSpPr>
            <p:spPr>
              <a:xfrm>
                <a:off x="986371" y="2460605"/>
                <a:ext cx="7401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s</a:t>
                </a:r>
                <a:r>
                  <a:rPr lang="en-US" sz="1200" dirty="0">
                    <a:latin typeface="Comic Sans MS" panose="030F0902030302020204" pitchFamily="66" charset="0"/>
                  </a:rPr>
                  <a:t>tate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B3C33F-EA74-B811-8D1E-03D5CBC5B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371" y="2460605"/>
                <a:ext cx="740139" cy="276999"/>
              </a:xfrm>
              <a:prstGeom prst="rect">
                <a:avLst/>
              </a:prstGeom>
              <a:blipFill>
                <a:blip r:embed="rId3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D781598-004F-4BDB-DBC7-EB5E66508A30}"/>
              </a:ext>
            </a:extLst>
          </p:cNvPr>
          <p:cNvCxnSpPr>
            <a:cxnSpLocks/>
          </p:cNvCxnSpPr>
          <p:nvPr/>
        </p:nvCxnSpPr>
        <p:spPr>
          <a:xfrm>
            <a:off x="822956" y="2629496"/>
            <a:ext cx="170388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46301E28-4CF7-6A21-18A6-9865FDAD9C0D}"/>
              </a:ext>
            </a:extLst>
          </p:cNvPr>
          <p:cNvSpPr/>
          <p:nvPr/>
        </p:nvSpPr>
        <p:spPr>
          <a:xfrm>
            <a:off x="1193389" y="1158265"/>
            <a:ext cx="2168181" cy="385320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1C6BF3F-82CE-3C21-A4E8-4B7CCC209950}"/>
              </a:ext>
            </a:extLst>
          </p:cNvPr>
          <p:cNvSpPr txBox="1"/>
          <p:nvPr/>
        </p:nvSpPr>
        <p:spPr>
          <a:xfrm>
            <a:off x="-318571" y="1090136"/>
            <a:ext cx="1670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Comic Sans MS" panose="030F0902030302020204" pitchFamily="66" charset="0"/>
              </a:rPr>
              <a:t>Signal-agnostic</a:t>
            </a:r>
            <a:r>
              <a:rPr lang="zh-CN" altLang="en-US" sz="1400" dirty="0">
                <a:latin typeface="Comic Sans MS" panose="030F0902030302020204" pitchFamily="66" charset="0"/>
              </a:rPr>
              <a:t> </a:t>
            </a:r>
            <a:r>
              <a:rPr lang="en-US" altLang="zh-CN" sz="1400" dirty="0">
                <a:latin typeface="Comic Sans MS" panose="030F0902030302020204" pitchFamily="66" charset="0"/>
              </a:rPr>
              <a:t>exploration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3C4DA6F-9A54-322B-3EF0-DD14A9560E88}"/>
                  </a:ext>
                </a:extLst>
              </p:cNvPr>
              <p:cNvSpPr txBox="1"/>
              <p:nvPr/>
            </p:nvSpPr>
            <p:spPr>
              <a:xfrm>
                <a:off x="1602777" y="1203164"/>
                <a:ext cx="17709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Comic Sans MS" panose="030F0902030302020204" pitchFamily="66" charset="0"/>
                  </a:rPr>
                  <a:t>Bernoulli-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rollouts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3C4DA6F-9A54-322B-3EF0-DD14A9560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777" y="1203164"/>
                <a:ext cx="1770934" cy="307777"/>
              </a:xfrm>
              <a:prstGeom prst="rect">
                <a:avLst/>
              </a:prstGeom>
              <a:blipFill>
                <a:blip r:embed="rId38"/>
                <a:stretch>
                  <a:fillRect l="-1429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7" name="Picture 136">
            <a:extLst>
              <a:ext uri="{FF2B5EF4-FFF2-40B4-BE49-F238E27FC236}">
                <a16:creationId xmlns:a16="http://schemas.microsoft.com/office/drawing/2014/main" id="{6E7DC2A4-0697-63D1-757C-813ACBBD2F29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23486" y="1208609"/>
            <a:ext cx="268491" cy="268491"/>
          </a:xfrm>
          <a:prstGeom prst="rect">
            <a:avLst/>
          </a:prstGeom>
        </p:spPr>
      </p:pic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B1A29162-8E31-8567-82E2-47B4273C2B98}"/>
              </a:ext>
            </a:extLst>
          </p:cNvPr>
          <p:cNvCxnSpPr/>
          <p:nvPr/>
        </p:nvCxnSpPr>
        <p:spPr>
          <a:xfrm flipV="1">
            <a:off x="1795908" y="1525226"/>
            <a:ext cx="0" cy="222843"/>
          </a:xfrm>
          <a:prstGeom prst="straightConnector1">
            <a:avLst/>
          </a:prstGeom>
          <a:ln w="12700">
            <a:solidFill>
              <a:srgbClr val="1B47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615EB88-93B9-D47E-A8FD-4C239766F00C}"/>
              </a:ext>
            </a:extLst>
          </p:cNvPr>
          <p:cNvCxnSpPr>
            <a:cxnSpLocks/>
          </p:cNvCxnSpPr>
          <p:nvPr/>
        </p:nvCxnSpPr>
        <p:spPr>
          <a:xfrm>
            <a:off x="2441689" y="1540395"/>
            <a:ext cx="0" cy="218394"/>
          </a:xfrm>
          <a:prstGeom prst="straightConnector1">
            <a:avLst/>
          </a:prstGeom>
          <a:ln w="12700">
            <a:solidFill>
              <a:srgbClr val="1B47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D1415065-E765-BA7E-2C5D-26AED5939E39}"/>
              </a:ext>
            </a:extLst>
          </p:cNvPr>
          <p:cNvSpPr/>
          <p:nvPr/>
        </p:nvSpPr>
        <p:spPr>
          <a:xfrm>
            <a:off x="2949242" y="2307586"/>
            <a:ext cx="959876" cy="606667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04D33D0-FE15-07C0-EB01-5408CAE57CC3}"/>
              </a:ext>
            </a:extLst>
          </p:cNvPr>
          <p:cNvSpPr txBox="1"/>
          <p:nvPr/>
        </p:nvSpPr>
        <p:spPr>
          <a:xfrm>
            <a:off x="3197429" y="2273445"/>
            <a:ext cx="88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Compare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returns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9A9313B-E61C-3ECB-C2E4-CE7B117BE746}"/>
                  </a:ext>
                </a:extLst>
              </p:cNvPr>
              <p:cNvSpPr txBox="1"/>
              <p:nvPr/>
            </p:nvSpPr>
            <p:spPr>
              <a:xfrm>
                <a:off x="2896918" y="2672138"/>
                <a:ext cx="111979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sz="11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9A9313B-E61C-3ECB-C2E4-CE7B117BE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918" y="2672138"/>
                <a:ext cx="1119794" cy="2616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0" name="Picture 149">
            <a:extLst>
              <a:ext uri="{FF2B5EF4-FFF2-40B4-BE49-F238E27FC236}">
                <a16:creationId xmlns:a16="http://schemas.microsoft.com/office/drawing/2014/main" id="{7B434099-2A19-DECE-ABE4-D8421E43BFAC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964705" y="2333247"/>
            <a:ext cx="312202" cy="312202"/>
          </a:xfrm>
          <a:prstGeom prst="rect">
            <a:avLst/>
          </a:prstGeom>
        </p:spPr>
      </p:pic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6BEAFC7-30E9-E90D-C384-D7EEC029CAAA}"/>
              </a:ext>
            </a:extLst>
          </p:cNvPr>
          <p:cNvCxnSpPr>
            <a:cxnSpLocks/>
          </p:cNvCxnSpPr>
          <p:nvPr/>
        </p:nvCxnSpPr>
        <p:spPr>
          <a:xfrm>
            <a:off x="1416073" y="4657386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65714F34-7813-FF77-FA47-DFB11D11E51E}"/>
              </a:ext>
            </a:extLst>
          </p:cNvPr>
          <p:cNvCxnSpPr>
            <a:cxnSpLocks/>
          </p:cNvCxnSpPr>
          <p:nvPr/>
        </p:nvCxnSpPr>
        <p:spPr>
          <a:xfrm>
            <a:off x="1416073" y="5058609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D0BDB8C-D571-28DE-6C81-26CD0EA71AA2}"/>
              </a:ext>
            </a:extLst>
          </p:cNvPr>
          <p:cNvCxnSpPr>
            <a:cxnSpLocks/>
          </p:cNvCxnSpPr>
          <p:nvPr/>
        </p:nvCxnSpPr>
        <p:spPr>
          <a:xfrm>
            <a:off x="1416073" y="5412636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97F59DF0-94E0-B38B-EA9A-011F55DC9F61}"/>
              </a:ext>
            </a:extLst>
          </p:cNvPr>
          <p:cNvSpPr txBox="1"/>
          <p:nvPr/>
        </p:nvSpPr>
        <p:spPr>
          <a:xfrm>
            <a:off x="4877263" y="1354591"/>
            <a:ext cx="1357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(state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text,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history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…)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2C20C43-334E-B156-D6E8-979E416DEC76}"/>
              </a:ext>
            </a:extLst>
          </p:cNvPr>
          <p:cNvSpPr txBox="1"/>
          <p:nvPr/>
        </p:nvSpPr>
        <p:spPr>
          <a:xfrm>
            <a:off x="5925639" y="1328891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latin typeface="Comic Sans MS" panose="030F0902030302020204" pitchFamily="66" charset="0"/>
              </a:rPr>
              <a:t>+</a:t>
            </a:r>
            <a:endParaRPr lang="en-US" dirty="0">
              <a:latin typeface="Comic Sans MS" panose="030F0902030302020204" pitchFamily="66" charset="0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EAE7070A-FA87-5788-1F37-94695EC2E849}"/>
              </a:ext>
            </a:extLst>
          </p:cNvPr>
          <p:cNvSpPr txBox="1"/>
          <p:nvPr/>
        </p:nvSpPr>
        <p:spPr>
          <a:xfrm>
            <a:off x="6580940" y="1102059"/>
            <a:ext cx="15728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latin typeface="Comic Sans MS" panose="030F0902030302020204" pitchFamily="66" charset="0"/>
              </a:rPr>
              <a:t>Action</a:t>
            </a:r>
            <a:r>
              <a:rPr lang="zh-CN" altLang="en-US" sz="1400" dirty="0">
                <a:latin typeface="Comic Sans MS" panose="030F0902030302020204" pitchFamily="66" charset="0"/>
              </a:rPr>
              <a:t> </a:t>
            </a:r>
            <a:r>
              <a:rPr lang="en-US" altLang="zh-CN" sz="1400" dirty="0">
                <a:latin typeface="Comic Sans MS" panose="030F0902030302020204" pitchFamily="66" charset="0"/>
              </a:rPr>
              <a:t>metadata</a:t>
            </a:r>
            <a:endParaRPr lang="en-US" sz="1400" dirty="0">
              <a:latin typeface="Comic Sans MS" panose="030F0902030302020204" pitchFamily="66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5B79153-E8EC-1E21-EA8E-6CAB37B594EB}"/>
              </a:ext>
            </a:extLst>
          </p:cNvPr>
          <p:cNvSpPr txBox="1"/>
          <p:nvPr/>
        </p:nvSpPr>
        <p:spPr>
          <a:xfrm>
            <a:off x="6596914" y="1359641"/>
            <a:ext cx="1357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(step,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action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type…)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1B96F342-B9A8-04DD-2F0D-1D7446EE18A5}"/>
              </a:ext>
            </a:extLst>
          </p:cNvPr>
          <p:cNvSpPr/>
          <p:nvPr/>
        </p:nvSpPr>
        <p:spPr>
          <a:xfrm>
            <a:off x="4514174" y="2044124"/>
            <a:ext cx="3378005" cy="1677974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9E3CEB6-FC4E-3576-8CEE-09C0569FD345}"/>
                  </a:ext>
                </a:extLst>
              </p:cNvPr>
              <p:cNvSpPr txBox="1"/>
              <p:nvPr/>
            </p:nvSpPr>
            <p:spPr>
              <a:xfrm>
                <a:off x="4640744" y="2073601"/>
                <a:ext cx="28959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Candidate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feature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pool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𝑐𝑎𝑛𝑑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9E3CEB6-FC4E-3576-8CEE-09C0569FD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2073601"/>
                <a:ext cx="2895922" cy="307777"/>
              </a:xfrm>
              <a:prstGeom prst="rect">
                <a:avLst/>
              </a:prstGeom>
              <a:blipFill>
                <a:blip r:embed="rId42"/>
                <a:stretch>
                  <a:fillRect l="-437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21AD513D-997F-596F-E702-DDDC0B3E0965}"/>
              </a:ext>
            </a:extLst>
          </p:cNvPr>
          <p:cNvGrpSpPr/>
          <p:nvPr/>
        </p:nvGrpSpPr>
        <p:grpSpPr>
          <a:xfrm>
            <a:off x="4640987" y="2395801"/>
            <a:ext cx="3121401" cy="567690"/>
            <a:chOff x="3576744" y="3431318"/>
            <a:chExt cx="3121401" cy="56769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A0EEC1E-F833-8951-3ED5-EA5F50D81A55}"/>
                </a:ext>
              </a:extLst>
            </p:cNvPr>
            <p:cNvGrpSpPr/>
            <p:nvPr/>
          </p:nvGrpSpPr>
          <p:grpSpPr>
            <a:xfrm>
              <a:off x="3576744" y="3431318"/>
              <a:ext cx="3121401" cy="567690"/>
              <a:chOff x="4350758" y="1753359"/>
              <a:chExt cx="3121401" cy="567690"/>
            </a:xfrm>
          </p:grpSpPr>
          <p:sp>
            <p:nvSpPr>
              <p:cNvPr id="22" name="Rounded Rectangle 21">
                <a:extLst>
                  <a:ext uri="{FF2B5EF4-FFF2-40B4-BE49-F238E27FC236}">
                    <a16:creationId xmlns:a16="http://schemas.microsoft.com/office/drawing/2014/main" id="{E75EB396-B638-E83A-2D64-92A38236DE0A}"/>
                  </a:ext>
                </a:extLst>
              </p:cNvPr>
              <p:cNvSpPr/>
              <p:nvPr/>
            </p:nvSpPr>
            <p:spPr>
              <a:xfrm>
                <a:off x="4350758" y="1753359"/>
                <a:ext cx="3121401" cy="567690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100EC0-2CF1-36C8-3B90-40DA1554342D}"/>
                  </a:ext>
                </a:extLst>
              </p:cNvPr>
              <p:cNvSpPr txBox="1"/>
              <p:nvPr/>
            </p:nvSpPr>
            <p:spPr>
              <a:xfrm>
                <a:off x="4965963" y="1774485"/>
                <a:ext cx="1675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Universal Feature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5C84CBC-F2B4-84DF-FEFE-13523DAB2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3686924" y="3486266"/>
              <a:ext cx="440667" cy="440667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5DC172C-4E74-FBE7-7E07-811ED01E9D3A}"/>
                </a:ext>
              </a:extLst>
            </p:cNvPr>
            <p:cNvSpPr txBox="1"/>
            <p:nvPr/>
          </p:nvSpPr>
          <p:spPr>
            <a:xfrm>
              <a:off x="4189946" y="3656446"/>
              <a:ext cx="19726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entropy, state text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F2A7F81-E591-2C76-063D-8CF4D62661EA}"/>
              </a:ext>
            </a:extLst>
          </p:cNvPr>
          <p:cNvGrpSpPr/>
          <p:nvPr/>
        </p:nvGrpSpPr>
        <p:grpSpPr>
          <a:xfrm>
            <a:off x="4640744" y="3019277"/>
            <a:ext cx="3119205" cy="579872"/>
            <a:chOff x="3576745" y="3438662"/>
            <a:chExt cx="3119205" cy="57987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1D9225F-098C-FB6F-9AE0-399B644654C8}"/>
                </a:ext>
              </a:extLst>
            </p:cNvPr>
            <p:cNvGrpSpPr/>
            <p:nvPr/>
          </p:nvGrpSpPr>
          <p:grpSpPr>
            <a:xfrm>
              <a:off x="3576745" y="3438662"/>
              <a:ext cx="3119205" cy="579872"/>
              <a:chOff x="4350759" y="1760703"/>
              <a:chExt cx="3119205" cy="579872"/>
            </a:xfrm>
          </p:grpSpPr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0625663D-E705-AB37-1DBF-EA18D6E8CFD9}"/>
                  </a:ext>
                </a:extLst>
              </p:cNvPr>
              <p:cNvSpPr/>
              <p:nvPr/>
            </p:nvSpPr>
            <p:spPr>
              <a:xfrm>
                <a:off x="4350759" y="1760703"/>
                <a:ext cx="3119205" cy="579872"/>
              </a:xfrm>
              <a:prstGeom prst="roundRect">
                <a:avLst/>
              </a:prstGeom>
              <a:solidFill>
                <a:srgbClr val="D2E8C8"/>
              </a:solidFill>
              <a:ln w="19050">
                <a:solidFill>
                  <a:srgbClr val="639552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A2EEC7-5CD6-C007-0ADD-8CFED40F4641}"/>
                  </a:ext>
                </a:extLst>
              </p:cNvPr>
              <p:cNvSpPr txBox="1"/>
              <p:nvPr/>
            </p:nvSpPr>
            <p:spPr>
              <a:xfrm>
                <a:off x="4972389" y="1781413"/>
                <a:ext cx="236644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Comic Sans MS" panose="030F0902030302020204" pitchFamily="66" charset="0"/>
                  </a:rPr>
                  <a:t>LLM Reasoning Feature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20FA56D-C2D5-BAE2-D328-9E21D56F3AB4}"/>
                </a:ext>
              </a:extLst>
            </p:cNvPr>
            <p:cNvSpPr txBox="1"/>
            <p:nvPr/>
          </p:nvSpPr>
          <p:spPr>
            <a:xfrm>
              <a:off x="4189514" y="3678026"/>
              <a:ext cx="19640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action type, action length, …</a:t>
              </a:r>
              <a:endParaRPr lang="en-CN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46506D06-7553-DD20-C004-6F0D1AE3E0D3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771155" y="3095870"/>
            <a:ext cx="399375" cy="399375"/>
          </a:xfrm>
          <a:prstGeom prst="rect">
            <a:avLst/>
          </a:prstGeom>
        </p:spPr>
      </p:pic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43C728EF-5EEE-D2FE-5528-BE72680053B9}"/>
              </a:ext>
            </a:extLst>
          </p:cNvPr>
          <p:cNvCxnSpPr>
            <a:cxnSpLocks/>
          </p:cNvCxnSpPr>
          <p:nvPr/>
        </p:nvCxnSpPr>
        <p:spPr>
          <a:xfrm>
            <a:off x="6136987" y="1705625"/>
            <a:ext cx="0" cy="309553"/>
          </a:xfrm>
          <a:prstGeom prst="straightConnector1">
            <a:avLst/>
          </a:prstGeom>
          <a:ln w="12700">
            <a:solidFill>
              <a:srgbClr val="4575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B8D5EE24-67F0-9D32-9274-75B270E4DC3B}"/>
              </a:ext>
            </a:extLst>
          </p:cNvPr>
          <p:cNvCxnSpPr>
            <a:cxnSpLocks/>
          </p:cNvCxnSpPr>
          <p:nvPr/>
        </p:nvCxnSpPr>
        <p:spPr>
          <a:xfrm>
            <a:off x="6145149" y="3735277"/>
            <a:ext cx="0" cy="309553"/>
          </a:xfrm>
          <a:prstGeom prst="straightConnector1">
            <a:avLst/>
          </a:prstGeom>
          <a:ln w="12700">
            <a:solidFill>
              <a:srgbClr val="4575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2AAFC777-B6C2-B310-5AA0-4DB667945539}"/>
                  </a:ext>
                </a:extLst>
              </p:cNvPr>
              <p:cNvSpPr txBox="1"/>
              <p:nvPr/>
            </p:nvSpPr>
            <p:spPr>
              <a:xfrm>
                <a:off x="4473302" y="3995891"/>
                <a:ext cx="1441420" cy="541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Feature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vector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)∈</m:t>
                      </m:r>
                      <m:sSup>
                        <m:sSupPr>
                          <m:ctrlP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2AAFC777-B6C2-B310-5AA0-4DB667945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302" y="3995891"/>
                <a:ext cx="1441420" cy="541623"/>
              </a:xfrm>
              <a:prstGeom prst="rect">
                <a:avLst/>
              </a:prstGeom>
              <a:blipFill>
                <a:blip r:embed="rId45"/>
                <a:stretch>
                  <a:fillRect l="-877" t="-2273" r="-877"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1DAF52F-63A6-0D31-492A-82B53AEEDDBF}"/>
              </a:ext>
            </a:extLst>
          </p:cNvPr>
          <p:cNvGrpSpPr/>
          <p:nvPr/>
        </p:nvGrpSpPr>
        <p:grpSpPr>
          <a:xfrm>
            <a:off x="5988335" y="4196569"/>
            <a:ext cx="1981552" cy="220590"/>
            <a:chOff x="7992477" y="6025957"/>
            <a:chExt cx="1981552" cy="220590"/>
          </a:xfrm>
        </p:grpSpPr>
        <p:sp>
          <p:nvSpPr>
            <p:cNvPr id="184" name="Rounded Rectangle 183">
              <a:extLst>
                <a:ext uri="{FF2B5EF4-FFF2-40B4-BE49-F238E27FC236}">
                  <a16:creationId xmlns:a16="http://schemas.microsoft.com/office/drawing/2014/main" id="{4C156EAA-54A7-2F27-7AF4-8BB0EF31A3CD}"/>
                </a:ext>
              </a:extLst>
            </p:cNvPr>
            <p:cNvSpPr/>
            <p:nvPr/>
          </p:nvSpPr>
          <p:spPr>
            <a:xfrm>
              <a:off x="7992477" y="6025959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5" name="Rounded Rectangle 184">
              <a:extLst>
                <a:ext uri="{FF2B5EF4-FFF2-40B4-BE49-F238E27FC236}">
                  <a16:creationId xmlns:a16="http://schemas.microsoft.com/office/drawing/2014/main" id="{08718291-0649-2FC6-C743-CD68F9716F97}"/>
                </a:ext>
              </a:extLst>
            </p:cNvPr>
            <p:cNvSpPr/>
            <p:nvPr/>
          </p:nvSpPr>
          <p:spPr>
            <a:xfrm>
              <a:off x="8213337" y="6025959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6" name="Rounded Rectangle 185">
              <a:extLst>
                <a:ext uri="{FF2B5EF4-FFF2-40B4-BE49-F238E27FC236}">
                  <a16:creationId xmlns:a16="http://schemas.microsoft.com/office/drawing/2014/main" id="{326EC4C3-8108-AA2E-E2B8-1A1AE493A4D5}"/>
                </a:ext>
              </a:extLst>
            </p:cNvPr>
            <p:cNvSpPr/>
            <p:nvPr/>
          </p:nvSpPr>
          <p:spPr>
            <a:xfrm>
              <a:off x="8432793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7" name="Rounded Rectangle 186">
              <a:extLst>
                <a:ext uri="{FF2B5EF4-FFF2-40B4-BE49-F238E27FC236}">
                  <a16:creationId xmlns:a16="http://schemas.microsoft.com/office/drawing/2014/main" id="{CF6C81CB-D86E-1311-8DFC-A6BD0E5E0C25}"/>
                </a:ext>
              </a:extLst>
            </p:cNvPr>
            <p:cNvSpPr/>
            <p:nvPr/>
          </p:nvSpPr>
          <p:spPr>
            <a:xfrm>
              <a:off x="8653977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8" name="Rounded Rectangle 187">
              <a:extLst>
                <a:ext uri="{FF2B5EF4-FFF2-40B4-BE49-F238E27FC236}">
                  <a16:creationId xmlns:a16="http://schemas.microsoft.com/office/drawing/2014/main" id="{F4311762-B7CF-AF9B-E95A-F2E4976BD66A}"/>
                </a:ext>
              </a:extLst>
            </p:cNvPr>
            <p:cNvSpPr/>
            <p:nvPr/>
          </p:nvSpPr>
          <p:spPr>
            <a:xfrm>
              <a:off x="8874837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E2F1DA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9" name="Rounded Rectangle 188">
              <a:extLst>
                <a:ext uri="{FF2B5EF4-FFF2-40B4-BE49-F238E27FC236}">
                  <a16:creationId xmlns:a16="http://schemas.microsoft.com/office/drawing/2014/main" id="{2277CF4D-FF8F-406C-69B8-081C2C17526F}"/>
                </a:ext>
              </a:extLst>
            </p:cNvPr>
            <p:cNvSpPr/>
            <p:nvPr/>
          </p:nvSpPr>
          <p:spPr>
            <a:xfrm>
              <a:off x="9094293" y="6025957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E2F1DA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90" name="Rounded Rectangle 189">
              <a:extLst>
                <a:ext uri="{FF2B5EF4-FFF2-40B4-BE49-F238E27FC236}">
                  <a16:creationId xmlns:a16="http://schemas.microsoft.com/office/drawing/2014/main" id="{16FB753B-1BF4-6A91-629D-AD9277C36DC2}"/>
                </a:ext>
              </a:extLst>
            </p:cNvPr>
            <p:cNvSpPr/>
            <p:nvPr/>
          </p:nvSpPr>
          <p:spPr>
            <a:xfrm>
              <a:off x="9314257" y="6026252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91" name="Rounded Rectangle 190">
              <a:extLst>
                <a:ext uri="{FF2B5EF4-FFF2-40B4-BE49-F238E27FC236}">
                  <a16:creationId xmlns:a16="http://schemas.microsoft.com/office/drawing/2014/main" id="{1F7D0A32-A658-E9FD-CE1F-2E1D15637DE5}"/>
                </a:ext>
              </a:extLst>
            </p:cNvPr>
            <p:cNvSpPr/>
            <p:nvPr/>
          </p:nvSpPr>
          <p:spPr>
            <a:xfrm>
              <a:off x="9535117" y="6026252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92" name="Rounded Rectangle 191">
              <a:extLst>
                <a:ext uri="{FF2B5EF4-FFF2-40B4-BE49-F238E27FC236}">
                  <a16:creationId xmlns:a16="http://schemas.microsoft.com/office/drawing/2014/main" id="{B652FFEA-6B30-3149-A2E6-A7F8EF57B6BE}"/>
                </a:ext>
              </a:extLst>
            </p:cNvPr>
            <p:cNvSpPr/>
            <p:nvPr/>
          </p:nvSpPr>
          <p:spPr>
            <a:xfrm>
              <a:off x="9754573" y="6026251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8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9712F4-932B-5810-B0CA-FDF54F2F191C}"/>
                  </a:ext>
                </a:extLst>
              </p:cNvPr>
              <p:cNvSpPr txBox="1"/>
              <p:nvPr/>
            </p:nvSpPr>
            <p:spPr>
              <a:xfrm>
                <a:off x="8712216" y="3329430"/>
                <a:ext cx="13579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Use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optimizer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9712F4-932B-5810-B0CA-FDF54F2F1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216" y="3329430"/>
                <a:ext cx="1357934" cy="276999"/>
              </a:xfrm>
              <a:prstGeom prst="rect">
                <a:avLst/>
              </a:prstGeom>
              <a:blipFill>
                <a:blip r:embed="rId4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47211C1C-1223-F72D-BE6F-09E111A2C43A}"/>
                  </a:ext>
                </a:extLst>
              </p:cNvPr>
              <p:cNvSpPr txBox="1"/>
              <p:nvPr/>
            </p:nvSpPr>
            <p:spPr>
              <a:xfrm>
                <a:off x="10292179" y="3318308"/>
                <a:ext cx="14778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Use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base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policy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47211C1C-1223-F72D-BE6F-09E111A2C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179" y="3318308"/>
                <a:ext cx="1477871" cy="276999"/>
              </a:xfrm>
              <a:prstGeom prst="rect">
                <a:avLst/>
              </a:prstGeom>
              <a:blipFill>
                <a:blip r:embed="rId4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B2CC4B8-CB17-287F-B460-F132FED0ACFE}"/>
              </a:ext>
            </a:extLst>
          </p:cNvPr>
          <p:cNvGrpSpPr/>
          <p:nvPr/>
        </p:nvGrpSpPr>
        <p:grpSpPr>
          <a:xfrm>
            <a:off x="8910272" y="3649714"/>
            <a:ext cx="918027" cy="782288"/>
            <a:chOff x="8751135" y="3648072"/>
            <a:chExt cx="1097903" cy="935568"/>
          </a:xfrm>
        </p:grpSpPr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F3182D57-8CAB-998F-56EA-88C56FBE4C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1135" y="3648072"/>
              <a:ext cx="0" cy="8725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B99F83A8-4F50-50FC-4CDD-918B38346D16}"/>
                </a:ext>
              </a:extLst>
            </p:cNvPr>
            <p:cNvCxnSpPr>
              <a:cxnSpLocks/>
            </p:cNvCxnSpPr>
            <p:nvPr/>
          </p:nvCxnSpPr>
          <p:spPr>
            <a:xfrm>
              <a:off x="8751135" y="4529006"/>
              <a:ext cx="109790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B4C959BE-3EEE-2673-9DF3-125CC8AE47DE}"/>
                </a:ext>
              </a:extLst>
            </p:cNvPr>
            <p:cNvSpPr/>
            <p:nvPr/>
          </p:nvSpPr>
          <p:spPr>
            <a:xfrm rot="1363373">
              <a:off x="8972109" y="3726615"/>
              <a:ext cx="688983" cy="857025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B8A457C7-F94A-2D8B-2263-0563776B83BB}"/>
                </a:ext>
              </a:extLst>
            </p:cNvPr>
            <p:cNvSpPr/>
            <p:nvPr/>
          </p:nvSpPr>
          <p:spPr>
            <a:xfrm>
              <a:off x="8878073" y="4327352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EB504069-472B-7F39-9ECE-6D170113EA18}"/>
                </a:ext>
              </a:extLst>
            </p:cNvPr>
            <p:cNvSpPr/>
            <p:nvPr/>
          </p:nvSpPr>
          <p:spPr>
            <a:xfrm>
              <a:off x="9044745" y="4402972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04727B9B-1864-0320-732E-8F140972F905}"/>
                </a:ext>
              </a:extLst>
            </p:cNvPr>
            <p:cNvSpPr/>
            <p:nvPr/>
          </p:nvSpPr>
          <p:spPr>
            <a:xfrm>
              <a:off x="9155005" y="4274015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B72B06AA-6E17-2B35-F24A-DC0600956488}"/>
                </a:ext>
              </a:extLst>
            </p:cNvPr>
            <p:cNvSpPr/>
            <p:nvPr/>
          </p:nvSpPr>
          <p:spPr>
            <a:xfrm>
              <a:off x="9005556" y="4195676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9EA08653-B924-E5DB-3650-86EF96B07B7D}"/>
                </a:ext>
              </a:extLst>
            </p:cNvPr>
            <p:cNvSpPr/>
            <p:nvPr/>
          </p:nvSpPr>
          <p:spPr>
            <a:xfrm>
              <a:off x="9533791" y="3768012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D35297DE-DB48-48FC-1C2F-5856AB806F1B}"/>
                </a:ext>
              </a:extLst>
            </p:cNvPr>
            <p:cNvSpPr/>
            <p:nvPr/>
          </p:nvSpPr>
          <p:spPr>
            <a:xfrm>
              <a:off x="9349684" y="3858262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AEBD70D9-74ED-9634-B22B-65CAF658F282}"/>
                </a:ext>
              </a:extLst>
            </p:cNvPr>
            <p:cNvSpPr/>
            <p:nvPr/>
          </p:nvSpPr>
          <p:spPr>
            <a:xfrm>
              <a:off x="9445782" y="3953616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A66966B2-5EBE-19C3-4D4D-F92AD9AD46B6}"/>
                </a:ext>
              </a:extLst>
            </p:cNvPr>
            <p:cNvSpPr/>
            <p:nvPr/>
          </p:nvSpPr>
          <p:spPr>
            <a:xfrm>
              <a:off x="9640067" y="3899645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25023E7D-ED5C-4973-408F-C891731B218D}"/>
                </a:ext>
              </a:extLst>
            </p:cNvPr>
            <p:cNvSpPr/>
            <p:nvPr/>
          </p:nvSpPr>
          <p:spPr>
            <a:xfrm>
              <a:off x="9178811" y="4028616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40705A52-E7EA-E0F4-4032-A93302B1AB3B}"/>
                </a:ext>
              </a:extLst>
            </p:cNvPr>
            <p:cNvSpPr/>
            <p:nvPr/>
          </p:nvSpPr>
          <p:spPr>
            <a:xfrm>
              <a:off x="9287168" y="4113829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1CEA1AD-9AB2-C491-50DE-AAB42469319D}"/>
              </a:ext>
            </a:extLst>
          </p:cNvPr>
          <p:cNvSpPr/>
          <p:nvPr/>
        </p:nvSpPr>
        <p:spPr>
          <a:xfrm>
            <a:off x="8532675" y="3506123"/>
            <a:ext cx="918659" cy="181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73D3743-A064-F895-4A38-8BEA74E94A3A}"/>
                  </a:ext>
                </a:extLst>
              </p:cNvPr>
              <p:cNvSpPr txBox="1"/>
              <p:nvPr/>
            </p:nvSpPr>
            <p:spPr>
              <a:xfrm>
                <a:off x="8572430" y="3519114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73D3743-A064-F895-4A38-8BEA74E94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430" y="3519114"/>
                <a:ext cx="375487" cy="276999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TextBox 216">
            <a:extLst>
              <a:ext uri="{FF2B5EF4-FFF2-40B4-BE49-F238E27FC236}">
                <a16:creationId xmlns:a16="http://schemas.microsoft.com/office/drawing/2014/main" id="{8696727C-611B-AA1C-AB97-8192836F2DB0}"/>
              </a:ext>
            </a:extLst>
          </p:cNvPr>
          <p:cNvSpPr txBox="1"/>
          <p:nvPr/>
        </p:nvSpPr>
        <p:spPr>
          <a:xfrm>
            <a:off x="8664933" y="423646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</a:t>
            </a:r>
            <a:endParaRPr lang="en-US" sz="105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5BB8561-9C79-90F0-F3D5-93D6C8E7B993}"/>
              </a:ext>
            </a:extLst>
          </p:cNvPr>
          <p:cNvSpPr txBox="1"/>
          <p:nvPr/>
        </p:nvSpPr>
        <p:spPr>
          <a:xfrm>
            <a:off x="8664933" y="3759189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1</a:t>
            </a:r>
            <a:endParaRPr lang="en-US" sz="1050" dirty="0"/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7183254-A8D3-628E-C831-34DC24E716C3}"/>
              </a:ext>
            </a:extLst>
          </p:cNvPr>
          <p:cNvCxnSpPr>
            <a:cxnSpLocks/>
          </p:cNvCxnSpPr>
          <p:nvPr/>
        </p:nvCxnSpPr>
        <p:spPr>
          <a:xfrm>
            <a:off x="8879826" y="3892232"/>
            <a:ext cx="457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9565CF59-0A6F-A7E0-85E8-B7795C3C9A72}"/>
              </a:ext>
            </a:extLst>
          </p:cNvPr>
          <p:cNvSpPr txBox="1"/>
          <p:nvPr/>
        </p:nvSpPr>
        <p:spPr>
          <a:xfrm>
            <a:off x="8793334" y="4366445"/>
            <a:ext cx="381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low</a:t>
            </a:r>
            <a:endParaRPr lang="en-US" sz="1050" i="1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907F2E97-4DBC-BEEF-D8A4-B75975D90A30}"/>
              </a:ext>
            </a:extLst>
          </p:cNvPr>
          <p:cNvSpPr txBox="1"/>
          <p:nvPr/>
        </p:nvSpPr>
        <p:spPr>
          <a:xfrm>
            <a:off x="9448163" y="4372388"/>
            <a:ext cx="4219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high</a:t>
            </a:r>
            <a:endParaRPr lang="en-US" sz="1050" i="1" dirty="0"/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CBDF7ACF-B2DA-2A29-61B3-072D32C67FCA}"/>
              </a:ext>
            </a:extLst>
          </p:cNvPr>
          <p:cNvCxnSpPr>
            <a:cxnSpLocks/>
          </p:cNvCxnSpPr>
          <p:nvPr/>
        </p:nvCxnSpPr>
        <p:spPr>
          <a:xfrm flipV="1">
            <a:off x="10547178" y="3659584"/>
            <a:ext cx="0" cy="729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ECDF5631-C526-D953-E218-24FCC9C1714B}"/>
              </a:ext>
            </a:extLst>
          </p:cNvPr>
          <p:cNvCxnSpPr>
            <a:cxnSpLocks/>
          </p:cNvCxnSpPr>
          <p:nvPr/>
        </p:nvCxnSpPr>
        <p:spPr>
          <a:xfrm>
            <a:off x="10547178" y="4396189"/>
            <a:ext cx="91802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Freeform 226">
            <a:extLst>
              <a:ext uri="{FF2B5EF4-FFF2-40B4-BE49-F238E27FC236}">
                <a16:creationId xmlns:a16="http://schemas.microsoft.com/office/drawing/2014/main" id="{87CE6C4E-FEC8-B2C1-2CC4-E881366C397F}"/>
              </a:ext>
            </a:extLst>
          </p:cNvPr>
          <p:cNvSpPr/>
          <p:nvPr/>
        </p:nvSpPr>
        <p:spPr>
          <a:xfrm rot="21113160" flipV="1">
            <a:off x="10645440" y="3816763"/>
            <a:ext cx="700567" cy="557563"/>
          </a:xfrm>
          <a:custGeom>
            <a:avLst/>
            <a:gdLst>
              <a:gd name="connsiteX0" fmla="*/ 0 w 700756"/>
              <a:gd name="connsiteY0" fmla="*/ 871671 h 871671"/>
              <a:gd name="connsiteX1" fmla="*/ 213645 w 700756"/>
              <a:gd name="connsiteY1" fmla="*/ 700755 h 871671"/>
              <a:gd name="connsiteX2" fmla="*/ 350378 w 700756"/>
              <a:gd name="connsiteY2" fmla="*/ 299103 h 871671"/>
              <a:gd name="connsiteX3" fmla="*/ 495657 w 700756"/>
              <a:gd name="connsiteY3" fmla="*/ 68366 h 871671"/>
              <a:gd name="connsiteX4" fmla="*/ 700756 w 700756"/>
              <a:gd name="connsiteY4" fmla="*/ 0 h 87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756" h="871671">
                <a:moveTo>
                  <a:pt x="0" y="871671"/>
                </a:moveTo>
                <a:cubicBezTo>
                  <a:pt x="77624" y="833927"/>
                  <a:pt x="155249" y="796183"/>
                  <a:pt x="213645" y="700755"/>
                </a:cubicBezTo>
                <a:cubicBezTo>
                  <a:pt x="272041" y="605327"/>
                  <a:pt x="303376" y="404501"/>
                  <a:pt x="350378" y="299103"/>
                </a:cubicBezTo>
                <a:cubicBezTo>
                  <a:pt x="397380" y="193705"/>
                  <a:pt x="437261" y="118216"/>
                  <a:pt x="495657" y="68366"/>
                </a:cubicBezTo>
                <a:cubicBezTo>
                  <a:pt x="554053" y="18515"/>
                  <a:pt x="627404" y="9257"/>
                  <a:pt x="700756" y="0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31A6DF87-5E4C-F664-936B-C021E188CC73}"/>
              </a:ext>
            </a:extLst>
          </p:cNvPr>
          <p:cNvSpPr/>
          <p:nvPr/>
        </p:nvSpPr>
        <p:spPr>
          <a:xfrm rot="14848825">
            <a:off x="11248098" y="4291045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BEFDABDC-7DFB-81B0-C73E-1C301E85EB99}"/>
              </a:ext>
            </a:extLst>
          </p:cNvPr>
          <p:cNvSpPr/>
          <p:nvPr/>
        </p:nvSpPr>
        <p:spPr>
          <a:xfrm rot="14848825">
            <a:off x="11292638" y="4166309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75A4E727-A10B-7A63-48D7-228B33BD6CA0}"/>
              </a:ext>
            </a:extLst>
          </p:cNvPr>
          <p:cNvSpPr/>
          <p:nvPr/>
        </p:nvSpPr>
        <p:spPr>
          <a:xfrm rot="14848825">
            <a:off x="11129501" y="4161951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9836AFEA-2C5F-7FD5-B68F-A6C8C0D72BFD}"/>
              </a:ext>
            </a:extLst>
          </p:cNvPr>
          <p:cNvSpPr/>
          <p:nvPr/>
        </p:nvSpPr>
        <p:spPr>
          <a:xfrm rot="14848825">
            <a:off x="11049124" y="4251677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6C7ADC35-393B-5A14-1331-26CBC75D54B6}"/>
              </a:ext>
            </a:extLst>
          </p:cNvPr>
          <p:cNvSpPr/>
          <p:nvPr/>
        </p:nvSpPr>
        <p:spPr>
          <a:xfrm rot="14848825">
            <a:off x="10617354" y="3946761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2A8FA2FE-613E-096E-B8EF-4F39ADAC6B38}"/>
              </a:ext>
            </a:extLst>
          </p:cNvPr>
          <p:cNvSpPr/>
          <p:nvPr/>
        </p:nvSpPr>
        <p:spPr>
          <a:xfrm rot="14848825">
            <a:off x="10782810" y="4039044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2663B5EA-9F43-1AF5-4A37-3D636BF0A8B4}"/>
              </a:ext>
            </a:extLst>
          </p:cNvPr>
          <p:cNvSpPr/>
          <p:nvPr/>
        </p:nvSpPr>
        <p:spPr>
          <a:xfrm rot="14848825">
            <a:off x="10830941" y="389224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C6847865-3BE6-F165-10B9-FC538CF2BD5D}"/>
              </a:ext>
            </a:extLst>
          </p:cNvPr>
          <p:cNvSpPr/>
          <p:nvPr/>
        </p:nvSpPr>
        <p:spPr>
          <a:xfrm rot="14848825">
            <a:off x="10684994" y="3822518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C1FD68B6-89A9-C3BA-E03A-7D9BD2E602A0}"/>
              </a:ext>
            </a:extLst>
          </p:cNvPr>
          <p:cNvSpPr/>
          <p:nvPr/>
        </p:nvSpPr>
        <p:spPr>
          <a:xfrm rot="14848825">
            <a:off x="10932329" y="417700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0FA68311-74F3-6172-2E9D-9101E9456EC5}"/>
              </a:ext>
            </a:extLst>
          </p:cNvPr>
          <p:cNvSpPr/>
          <p:nvPr/>
        </p:nvSpPr>
        <p:spPr>
          <a:xfrm rot="14848825">
            <a:off x="10963447" y="403215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AFE2E74-3A47-615D-CE37-C64D29EBD3AB}"/>
              </a:ext>
            </a:extLst>
          </p:cNvPr>
          <p:cNvSpPr/>
          <p:nvPr/>
        </p:nvSpPr>
        <p:spPr>
          <a:xfrm>
            <a:off x="10169581" y="3515993"/>
            <a:ext cx="918659" cy="181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8D83DD5D-1C78-6E86-F2B9-9FB7701910FB}"/>
                  </a:ext>
                </a:extLst>
              </p:cNvPr>
              <p:cNvSpPr txBox="1"/>
              <p:nvPr/>
            </p:nvSpPr>
            <p:spPr>
              <a:xfrm>
                <a:off x="10209336" y="3528984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8D83DD5D-1C78-6E86-F2B9-9FB770191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336" y="3528984"/>
                <a:ext cx="375487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TextBox 239">
            <a:extLst>
              <a:ext uri="{FF2B5EF4-FFF2-40B4-BE49-F238E27FC236}">
                <a16:creationId xmlns:a16="http://schemas.microsoft.com/office/drawing/2014/main" id="{9FD358E2-7BAB-A6B8-7F53-2F9879AF62C2}"/>
              </a:ext>
            </a:extLst>
          </p:cNvPr>
          <p:cNvSpPr txBox="1"/>
          <p:nvPr/>
        </p:nvSpPr>
        <p:spPr>
          <a:xfrm>
            <a:off x="10301839" y="424633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</a:t>
            </a:r>
            <a:endParaRPr lang="en-US" sz="105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1032AE4B-A356-EB67-F6A8-8B89D5B1BD81}"/>
              </a:ext>
            </a:extLst>
          </p:cNvPr>
          <p:cNvSpPr txBox="1"/>
          <p:nvPr/>
        </p:nvSpPr>
        <p:spPr>
          <a:xfrm>
            <a:off x="10301839" y="3769059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1</a:t>
            </a:r>
            <a:endParaRPr lang="en-US" sz="1050" dirty="0"/>
          </a:p>
        </p:txBody>
      </p: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2F8C3A09-46B4-06C3-595D-546EA3F1E219}"/>
              </a:ext>
            </a:extLst>
          </p:cNvPr>
          <p:cNvCxnSpPr>
            <a:cxnSpLocks/>
          </p:cNvCxnSpPr>
          <p:nvPr/>
        </p:nvCxnSpPr>
        <p:spPr>
          <a:xfrm>
            <a:off x="10516732" y="3902102"/>
            <a:ext cx="457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7EB885C-4EE8-E90A-FC90-826A4BEC5C35}"/>
              </a:ext>
            </a:extLst>
          </p:cNvPr>
          <p:cNvSpPr txBox="1"/>
          <p:nvPr/>
        </p:nvSpPr>
        <p:spPr>
          <a:xfrm>
            <a:off x="10430240" y="4376315"/>
            <a:ext cx="381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low</a:t>
            </a:r>
            <a:endParaRPr lang="en-US" sz="1050" i="1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DFF1D73-2592-0A9F-283C-CCAA44B41481}"/>
              </a:ext>
            </a:extLst>
          </p:cNvPr>
          <p:cNvSpPr txBox="1"/>
          <p:nvPr/>
        </p:nvSpPr>
        <p:spPr>
          <a:xfrm>
            <a:off x="11085069" y="4382258"/>
            <a:ext cx="4219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high</a:t>
            </a:r>
            <a:endParaRPr lang="en-US" sz="1050" i="1" dirty="0"/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D015853A-8188-5CE0-EDA8-B6EDD374D8BC}"/>
              </a:ext>
            </a:extLst>
          </p:cNvPr>
          <p:cNvCxnSpPr/>
          <p:nvPr/>
        </p:nvCxnSpPr>
        <p:spPr>
          <a:xfrm>
            <a:off x="10181022" y="3246320"/>
            <a:ext cx="10900" cy="1220152"/>
          </a:xfrm>
          <a:prstGeom prst="line">
            <a:avLst/>
          </a:prstGeom>
          <a:ln w="12700">
            <a:solidFill>
              <a:srgbClr val="F4B2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ight Arrow 31">
            <a:extLst>
              <a:ext uri="{FF2B5EF4-FFF2-40B4-BE49-F238E27FC236}">
                <a16:creationId xmlns:a16="http://schemas.microsoft.com/office/drawing/2014/main" id="{54A43C53-044E-A182-4A02-FC5099F83F8E}"/>
              </a:ext>
            </a:extLst>
          </p:cNvPr>
          <p:cNvSpPr/>
          <p:nvPr/>
        </p:nvSpPr>
        <p:spPr>
          <a:xfrm rot="5400000">
            <a:off x="1804155" y="3612113"/>
            <a:ext cx="272587" cy="196954"/>
          </a:xfrm>
          <a:prstGeom prst="rightArrow">
            <a:avLst/>
          </a:prstGeom>
          <a:solidFill>
            <a:srgbClr val="DCE9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45314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3C14A46-208B-7C26-E070-A265444E7C0D}"/>
              </a:ext>
            </a:extLst>
          </p:cNvPr>
          <p:cNvSpPr/>
          <p:nvPr/>
        </p:nvSpPr>
        <p:spPr>
          <a:xfrm>
            <a:off x="8364457" y="412939"/>
            <a:ext cx="3628189" cy="5458472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1A08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1B003D-0250-2E6F-EF05-AE7704782E2D}"/>
              </a:ext>
            </a:extLst>
          </p:cNvPr>
          <p:cNvSpPr/>
          <p:nvPr/>
        </p:nvSpPr>
        <p:spPr>
          <a:xfrm>
            <a:off x="4321136" y="412939"/>
            <a:ext cx="3764083" cy="5458472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FFDB858-A347-1168-B524-8EB7740136E0}"/>
              </a:ext>
            </a:extLst>
          </p:cNvPr>
          <p:cNvSpPr/>
          <p:nvPr/>
        </p:nvSpPr>
        <p:spPr>
          <a:xfrm>
            <a:off x="-237506" y="395859"/>
            <a:ext cx="4265383" cy="5475552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D0A6BE-21EB-0F5A-CFA9-8D7E80AFACE3}"/>
              </a:ext>
            </a:extLst>
          </p:cNvPr>
          <p:cNvGrpSpPr/>
          <p:nvPr/>
        </p:nvGrpSpPr>
        <p:grpSpPr>
          <a:xfrm>
            <a:off x="1323584" y="1745132"/>
            <a:ext cx="1690679" cy="553998"/>
            <a:chOff x="4350760" y="1738004"/>
            <a:chExt cx="1690679" cy="553998"/>
          </a:xfrm>
          <a:effectLst/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1A03DAC4-E50A-DEFB-FDC3-E299BD4C110F}"/>
                </a:ext>
              </a:extLst>
            </p:cNvPr>
            <p:cNvSpPr/>
            <p:nvPr/>
          </p:nvSpPr>
          <p:spPr>
            <a:xfrm>
              <a:off x="4350760" y="1760010"/>
              <a:ext cx="1690679" cy="496080"/>
            </a:xfrm>
            <a:prstGeom prst="roundRect">
              <a:avLst/>
            </a:prstGeom>
            <a:solidFill>
              <a:srgbClr val="BCCFE8"/>
            </a:solidFill>
            <a:ln w="19050">
              <a:solidFill>
                <a:srgbClr val="8AB0D7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B44A2B7-4811-A7E3-4C4D-FD003A2A0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2418" y="1813044"/>
              <a:ext cx="405960" cy="40596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09BE942-CBFB-087E-710C-2ED022EDF9D0}"/>
                    </a:ext>
                  </a:extLst>
                </p:cNvPr>
                <p:cNvSpPr txBox="1"/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400" dirty="0">
                      <a:latin typeface="Comic Sans MS" panose="030F0902030302020204" pitchFamily="66" charset="0"/>
                    </a:rPr>
                    <a:t>Test-</a:t>
                  </a:r>
                  <a:r>
                    <a:rPr lang="en-US" altLang="zh-CN" sz="1400" dirty="0">
                      <a:latin typeface="Comic Sans MS" panose="030F0902030302020204" pitchFamily="66" charset="0"/>
                    </a:rPr>
                    <a:t>Time</a:t>
                  </a:r>
                </a:p>
                <a:p>
                  <a:pPr algn="ctr"/>
                  <a:r>
                    <a:rPr lang="en-CN" sz="1400">
                      <a:latin typeface="Comic Sans MS" panose="030F0902030302020204" pitchFamily="66" charset="0"/>
                    </a:rPr>
                    <a:t>Optimizer</a:t>
                  </a:r>
                  <a:r>
                    <a:rPr lang="en-CN" sz="160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CN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09BE942-CBFB-087E-710C-2ED022EDF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8963" y="1738004"/>
                  <a:ext cx="1200650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1042" t="-2273" b="-11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4AFE61C-4D70-EAA8-74E3-1EC9C34F77F4}"/>
              </a:ext>
            </a:extLst>
          </p:cNvPr>
          <p:cNvGrpSpPr/>
          <p:nvPr/>
        </p:nvGrpSpPr>
        <p:grpSpPr>
          <a:xfrm>
            <a:off x="1323486" y="3007655"/>
            <a:ext cx="1741350" cy="485206"/>
            <a:chOff x="9350664" y="2343215"/>
            <a:chExt cx="1741350" cy="48520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73AC35D-A8CA-C70E-5BC1-8331C3D255EE}"/>
                </a:ext>
              </a:extLst>
            </p:cNvPr>
            <p:cNvGrpSpPr/>
            <p:nvPr/>
          </p:nvGrpSpPr>
          <p:grpSpPr>
            <a:xfrm>
              <a:off x="9350664" y="2343215"/>
              <a:ext cx="1741350" cy="485206"/>
              <a:chOff x="4350760" y="1770884"/>
              <a:chExt cx="1741350" cy="485206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3A0D8F2-9F1E-6518-148C-3CD00F5565DC}"/>
                  </a:ext>
                </a:extLst>
              </p:cNvPr>
              <p:cNvSpPr/>
              <p:nvPr/>
            </p:nvSpPr>
            <p:spPr>
              <a:xfrm>
                <a:off x="4350760" y="1770884"/>
                <a:ext cx="1690679" cy="485206"/>
              </a:xfrm>
              <a:prstGeom prst="roundRect">
                <a:avLst/>
              </a:prstGeom>
              <a:solidFill>
                <a:srgbClr val="BCCFE8"/>
              </a:solidFill>
              <a:ln w="19050">
                <a:solidFill>
                  <a:srgbClr val="8AB0D7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2BBAE3-3462-7CBC-76E6-F7350F74EE21}"/>
                      </a:ext>
                    </a:extLst>
                  </p:cNvPr>
                  <p:cNvSpPr txBox="1"/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>
                        <a:latin typeface="Comic Sans MS" panose="030F0902030302020204" pitchFamily="66" charset="0"/>
                      </a:rPr>
                      <a:t>Base Policy </a:t>
                    </a:r>
                    <a14:m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oMath>
                    </a14:m>
                    <a:endParaRPr lang="en-CN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082BBAE3-3462-7CBC-76E6-F7350F74EE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96434" y="1824883"/>
                    <a:ext cx="129567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97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D4BAED0-9B78-9056-D99D-15449D96F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16461" y="2352640"/>
              <a:ext cx="452689" cy="452689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EB69D0-EFD4-C68B-D3ED-C0F0CAAC81F5}"/>
                  </a:ext>
                </a:extLst>
              </p:cNvPr>
              <p:cNvSpPr txBox="1"/>
              <p:nvPr/>
            </p:nvSpPr>
            <p:spPr>
              <a:xfrm>
                <a:off x="2981428" y="1686265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1B4772"/>
                            </a:solidFill>
                          </a:ln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ln>
                    <a:solidFill>
                      <a:srgbClr val="1B4772"/>
                    </a:solidFill>
                  </a:ln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EB69D0-EFD4-C68B-D3ED-C0F0CAAC8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428" y="1686265"/>
                <a:ext cx="927690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6DE6E-3462-F28A-85EF-0238C4193125}"/>
                  </a:ext>
                </a:extLst>
              </p:cNvPr>
              <p:cNvSpPr txBox="1"/>
              <p:nvPr/>
            </p:nvSpPr>
            <p:spPr>
              <a:xfrm>
                <a:off x="3027033" y="3211357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n>
                            <a:solidFill>
                              <a:srgbClr val="1B4772"/>
                            </a:solidFill>
                          </a:ln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ln>
                                <a:solidFill>
                                  <a:srgbClr val="1B4772"/>
                                </a:solidFill>
                              </a:ln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ln>
                    <a:solidFill>
                      <a:srgbClr val="1B4772"/>
                    </a:solidFill>
                  </a:ln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C6DE6E-3462-F28A-85EF-0238C4193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7033" y="3211357"/>
                <a:ext cx="929485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ight Arrow 30">
            <a:extLst>
              <a:ext uri="{FF2B5EF4-FFF2-40B4-BE49-F238E27FC236}">
                <a16:creationId xmlns:a16="http://schemas.microsoft.com/office/drawing/2014/main" id="{210C67EE-34AE-AD55-052E-AFC6A141C4A0}"/>
              </a:ext>
            </a:extLst>
          </p:cNvPr>
          <p:cNvSpPr/>
          <p:nvPr/>
        </p:nvSpPr>
        <p:spPr>
          <a:xfrm>
            <a:off x="10012336" y="1649592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F014F7-74CE-BE8A-9240-74385F477065}"/>
              </a:ext>
            </a:extLst>
          </p:cNvPr>
          <p:cNvSpPr txBox="1"/>
          <p:nvPr/>
        </p:nvSpPr>
        <p:spPr>
          <a:xfrm>
            <a:off x="632157" y="454171"/>
            <a:ext cx="28688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1B4773"/>
                </a:solidFill>
                <a:latin typeface="Comic Sans MS" panose="030F0902030302020204" pitchFamily="66" charset="0"/>
              </a:rPr>
              <a:t>Explore: Signal-Agnostic Data Collection</a:t>
            </a:r>
            <a:endParaRPr lang="en-CN" sz="1600" dirty="0">
              <a:solidFill>
                <a:srgbClr val="1B4773"/>
              </a:solidFill>
              <a:latin typeface="Comic Sans MS" panose="030F0902030302020204" pitchFamily="66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499845-4612-2F5C-C53C-EFC24A9358FA}"/>
              </a:ext>
            </a:extLst>
          </p:cNvPr>
          <p:cNvSpPr txBox="1"/>
          <p:nvPr/>
        </p:nvSpPr>
        <p:spPr>
          <a:xfrm>
            <a:off x="4879278" y="472355"/>
            <a:ext cx="2557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225532"/>
                </a:solidFill>
                <a:latin typeface="Comic Sans MS" panose="030F0902030302020204" pitchFamily="66" charset="0"/>
              </a:rPr>
              <a:t>Reason: Feature Extraction &amp; Merging</a:t>
            </a:r>
            <a:endParaRPr lang="en-CN" sz="1600" dirty="0">
              <a:solidFill>
                <a:srgbClr val="225532"/>
              </a:solidFill>
              <a:latin typeface="Comic Sans MS" panose="030F0902030302020204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A13FD0-0C55-117F-7852-754A3784B785}"/>
              </a:ext>
            </a:extLst>
          </p:cNvPr>
          <p:cNvSpPr txBox="1"/>
          <p:nvPr/>
        </p:nvSpPr>
        <p:spPr>
          <a:xfrm>
            <a:off x="8993534" y="468214"/>
            <a:ext cx="25377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A93B31"/>
                </a:solidFill>
                <a:latin typeface="Comic Sans MS" panose="030F0902030302020204" pitchFamily="66" charset="0"/>
              </a:rPr>
              <a:t>Learn: Feature Selection &amp; Direction Discovery</a:t>
            </a:r>
            <a:endParaRPr lang="en-CN" sz="1600" dirty="0">
              <a:solidFill>
                <a:srgbClr val="A93B31"/>
              </a:solidFill>
              <a:latin typeface="Comic Sans MS" panose="030F0902030302020204" pitchFamily="66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3AC8531-0E93-A73D-C590-F5E05CF35E2B}"/>
              </a:ext>
            </a:extLst>
          </p:cNvPr>
          <p:cNvSpPr/>
          <p:nvPr/>
        </p:nvSpPr>
        <p:spPr>
          <a:xfrm>
            <a:off x="281035" y="489258"/>
            <a:ext cx="337842" cy="337842"/>
          </a:xfrm>
          <a:prstGeom prst="ellipse">
            <a:avLst/>
          </a:prstGeom>
          <a:solidFill>
            <a:srgbClr val="8AB0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B063F1C-71B8-9E51-2AD0-2B8CC68195D6}"/>
              </a:ext>
            </a:extLst>
          </p:cNvPr>
          <p:cNvSpPr/>
          <p:nvPr/>
        </p:nvSpPr>
        <p:spPr>
          <a:xfrm>
            <a:off x="-154377" y="1850506"/>
            <a:ext cx="977333" cy="1542679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B66C608-3CB0-7C66-C1CA-01C06B875A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49" y="1888182"/>
            <a:ext cx="461363" cy="46136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DADD5F92-B6AE-9915-0F88-9B706E772323}"/>
              </a:ext>
            </a:extLst>
          </p:cNvPr>
          <p:cNvSpPr txBox="1"/>
          <p:nvPr/>
        </p:nvSpPr>
        <p:spPr>
          <a:xfrm>
            <a:off x="65260" y="2307587"/>
            <a:ext cx="5822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agent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5263B22-FE37-CB2F-8630-446BFD5EAF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715" y="2698342"/>
            <a:ext cx="431734" cy="43173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E64235-C3C4-EBA9-1A69-4FEE0439A9D1}"/>
              </a:ext>
            </a:extLst>
          </p:cNvPr>
          <p:cNvSpPr txBox="1"/>
          <p:nvPr/>
        </p:nvSpPr>
        <p:spPr>
          <a:xfrm>
            <a:off x="-165636" y="3090375"/>
            <a:ext cx="1059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>
                <a:latin typeface="Comic Sans MS" panose="030F0902030302020204" pitchFamily="66" charset="0"/>
              </a:rPr>
              <a:t>environment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7C09190-7FF1-6294-8DB3-3E09B3AB24A0}"/>
              </a:ext>
            </a:extLst>
          </p:cNvPr>
          <p:cNvCxnSpPr>
            <a:cxnSpLocks/>
          </p:cNvCxnSpPr>
          <p:nvPr/>
        </p:nvCxnSpPr>
        <p:spPr>
          <a:xfrm>
            <a:off x="-36158" y="2621845"/>
            <a:ext cx="761173" cy="0"/>
          </a:xfrm>
          <a:prstGeom prst="line">
            <a:avLst/>
          </a:prstGeom>
          <a:ln w="19050">
            <a:solidFill>
              <a:srgbClr val="8AB0D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C836101D-1EAB-AD60-6EA0-B780ADD97B71}"/>
              </a:ext>
            </a:extLst>
          </p:cNvPr>
          <p:cNvCxnSpPr>
            <a:cxnSpLocks/>
            <a:stCxn id="42" idx="3"/>
            <a:endCxn id="12" idx="1"/>
          </p:cNvCxnSpPr>
          <p:nvPr/>
        </p:nvCxnSpPr>
        <p:spPr>
          <a:xfrm>
            <a:off x="822956" y="2621846"/>
            <a:ext cx="500530" cy="628412"/>
          </a:xfrm>
          <a:prstGeom prst="bentConnector3">
            <a:avLst>
              <a:gd name="adj1" fmla="val 65771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E9D0F640-2CF6-B718-C2E8-676D3C16E736}"/>
              </a:ext>
            </a:extLst>
          </p:cNvPr>
          <p:cNvCxnSpPr>
            <a:cxnSpLocks/>
            <a:stCxn id="42" idx="3"/>
            <a:endCxn id="6" idx="1"/>
          </p:cNvCxnSpPr>
          <p:nvPr/>
        </p:nvCxnSpPr>
        <p:spPr>
          <a:xfrm flipV="1">
            <a:off x="822956" y="2015178"/>
            <a:ext cx="500628" cy="606668"/>
          </a:xfrm>
          <a:prstGeom prst="bentConnector3">
            <a:avLst>
              <a:gd name="adj1" fmla="val 64454"/>
            </a:avLst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4EE62747-54DD-B2CE-FBEB-98EB01BB8FE1}"/>
              </a:ext>
            </a:extLst>
          </p:cNvPr>
          <p:cNvCxnSpPr>
            <a:cxnSpLocks/>
            <a:stCxn id="6" idx="3"/>
            <a:endCxn id="143" idx="0"/>
          </p:cNvCxnSpPr>
          <p:nvPr/>
        </p:nvCxnSpPr>
        <p:spPr>
          <a:xfrm>
            <a:off x="3014263" y="2015178"/>
            <a:ext cx="414917" cy="292408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A3B0DEC-CD0E-E1C7-5BC3-2F1F1ECE129E}"/>
              </a:ext>
            </a:extLst>
          </p:cNvPr>
          <p:cNvSpPr/>
          <p:nvPr/>
        </p:nvSpPr>
        <p:spPr>
          <a:xfrm>
            <a:off x="-101278" y="4336711"/>
            <a:ext cx="3972909" cy="1439039"/>
          </a:xfrm>
          <a:prstGeom prst="roundRect">
            <a:avLst>
              <a:gd name="adj" fmla="val 8677"/>
            </a:avLst>
          </a:prstGeom>
          <a:solidFill>
            <a:srgbClr val="F2FBFF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3A0369-21F7-C907-5171-3819EE87777D}"/>
              </a:ext>
            </a:extLst>
          </p:cNvPr>
          <p:cNvSpPr txBox="1"/>
          <p:nvPr/>
        </p:nvSpPr>
        <p:spPr>
          <a:xfrm>
            <a:off x="141" y="4184960"/>
            <a:ext cx="1691489" cy="307777"/>
          </a:xfrm>
          <a:prstGeom prst="rect">
            <a:avLst/>
          </a:prstGeom>
          <a:solidFill>
            <a:srgbClr val="F3FCFF"/>
          </a:solidFill>
        </p:spPr>
        <p:txBody>
          <a:bodyPr wrap="none" rtlCol="0">
            <a:spAutoFit/>
          </a:bodyPr>
          <a:lstStyle/>
          <a:p>
            <a:r>
              <a:rPr lang="en-CN" sz="1400" b="1" dirty="0">
                <a:solidFill>
                  <a:srgbClr val="1B4773"/>
                </a:solidFill>
                <a:latin typeface="Comic Sans MS" panose="030F0902030302020204" pitchFamily="66" charset="0"/>
              </a:rPr>
              <a:t>Webshop example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CC8FEBA-F3C9-3BAE-8B04-50BB3F9E3E21}"/>
              </a:ext>
            </a:extLst>
          </p:cNvPr>
          <p:cNvSpPr/>
          <p:nvPr/>
        </p:nvSpPr>
        <p:spPr>
          <a:xfrm>
            <a:off x="-101278" y="3766951"/>
            <a:ext cx="3972908" cy="39269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302802-45F8-3A4D-E5D5-4B2220533C0B}"/>
                  </a:ext>
                </a:extLst>
              </p:cNvPr>
              <p:cNvSpPr txBox="1"/>
              <p:nvPr/>
            </p:nvSpPr>
            <p:spPr>
              <a:xfrm>
                <a:off x="348155" y="3792512"/>
                <a:ext cx="3570273" cy="3702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𝑟𝑎𝑤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𝑠𝑡𝑎𝑡𝑒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𝑡𝑒𝑥𝑡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CN" sz="16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302802-45F8-3A4D-E5D5-4B2220533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55" y="3792512"/>
                <a:ext cx="3570273" cy="370294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8A22F383-BED0-5D95-51D8-0DD577C50159}"/>
              </a:ext>
            </a:extLst>
          </p:cNvPr>
          <p:cNvSpPr txBox="1"/>
          <p:nvPr/>
        </p:nvSpPr>
        <p:spPr>
          <a:xfrm>
            <a:off x="292946" y="45348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a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CFBA5B2-028C-3BD8-E51C-1B928754CEA4}"/>
              </a:ext>
            </a:extLst>
          </p:cNvPr>
          <p:cNvSpPr/>
          <p:nvPr/>
        </p:nvSpPr>
        <p:spPr>
          <a:xfrm>
            <a:off x="4633297" y="493190"/>
            <a:ext cx="337842" cy="337842"/>
          </a:xfrm>
          <a:prstGeom prst="ellipse">
            <a:avLst/>
          </a:prstGeom>
          <a:solidFill>
            <a:srgbClr val="94B68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E28887-D001-5F89-E409-C232BB02D688}"/>
              </a:ext>
            </a:extLst>
          </p:cNvPr>
          <p:cNvSpPr txBox="1"/>
          <p:nvPr/>
        </p:nvSpPr>
        <p:spPr>
          <a:xfrm>
            <a:off x="4647927" y="472717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7EF0552-A3E7-4BAE-AE42-05DBCBA93B08}"/>
                  </a:ext>
                </a:extLst>
              </p:cNvPr>
              <p:cNvSpPr txBox="1"/>
              <p:nvPr/>
            </p:nvSpPr>
            <p:spPr>
              <a:xfrm>
                <a:off x="11319922" y="6539735"/>
                <a:ext cx="2532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7EF0552-A3E7-4BAE-AE42-05DBCBA93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9922" y="6539735"/>
                <a:ext cx="253274" cy="276999"/>
              </a:xfrm>
              <a:prstGeom prst="rect">
                <a:avLst/>
              </a:prstGeom>
              <a:blipFill>
                <a:blip r:embed="rId15"/>
                <a:stretch>
                  <a:fillRect l="-23810" r="-23810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5898FF80-0B40-19FD-63A8-9439C5E255F6}"/>
              </a:ext>
            </a:extLst>
          </p:cNvPr>
          <p:cNvSpPr/>
          <p:nvPr/>
        </p:nvSpPr>
        <p:spPr>
          <a:xfrm>
            <a:off x="4504574" y="4668524"/>
            <a:ext cx="3378005" cy="1096915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EE6CBF3-714F-69F3-0E5E-AE55781AE033}"/>
              </a:ext>
            </a:extLst>
          </p:cNvPr>
          <p:cNvSpPr/>
          <p:nvPr/>
        </p:nvSpPr>
        <p:spPr>
          <a:xfrm>
            <a:off x="8572430" y="490677"/>
            <a:ext cx="337842" cy="337842"/>
          </a:xfrm>
          <a:prstGeom prst="ellipse">
            <a:avLst/>
          </a:prstGeom>
          <a:solidFill>
            <a:srgbClr val="F1A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8FA07F3-E95D-4655-33EF-C3361E94F23F}"/>
              </a:ext>
            </a:extLst>
          </p:cNvPr>
          <p:cNvSpPr txBox="1"/>
          <p:nvPr/>
        </p:nvSpPr>
        <p:spPr>
          <a:xfrm>
            <a:off x="8587764" y="4506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mic Sans MS" panose="030F0902030302020204" pitchFamily="66" charset="0"/>
              </a:rPr>
              <a:t>c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6D1BBCF1-690A-89B9-2E5E-2ECD93788E77}"/>
              </a:ext>
            </a:extLst>
          </p:cNvPr>
          <p:cNvSpPr/>
          <p:nvPr/>
        </p:nvSpPr>
        <p:spPr>
          <a:xfrm>
            <a:off x="8572430" y="1135177"/>
            <a:ext cx="1389375" cy="162103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4C1D883-B629-436C-4704-D381BABE5752}"/>
              </a:ext>
            </a:extLst>
          </p:cNvPr>
          <p:cNvGrpSpPr/>
          <p:nvPr/>
        </p:nvGrpSpPr>
        <p:grpSpPr>
          <a:xfrm>
            <a:off x="8572430" y="1188011"/>
            <a:ext cx="1137119" cy="1083887"/>
            <a:chOff x="173590" y="5030995"/>
            <a:chExt cx="1156550" cy="1102409"/>
          </a:xfrm>
        </p:grpSpPr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13EFE5ED-454F-C6BB-E459-11B8DFF4B3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783" y="5030995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E2D5F9DF-20F0-8EB9-92E2-1602BE3A4ECE}"/>
                </a:ext>
              </a:extLst>
            </p:cNvPr>
            <p:cNvCxnSpPr>
              <a:cxnSpLocks/>
            </p:cNvCxnSpPr>
            <p:nvPr/>
          </p:nvCxnSpPr>
          <p:spPr>
            <a:xfrm>
              <a:off x="395783" y="6133404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33394609-DB56-0549-9F9F-8CCBF2100D50}"/>
                </a:ext>
              </a:extLst>
            </p:cNvPr>
            <p:cNvSpPr/>
            <p:nvPr/>
          </p:nvSpPr>
          <p:spPr>
            <a:xfrm>
              <a:off x="476018" y="5253186"/>
              <a:ext cx="700756" cy="871671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24C3836-7FAE-BE5B-64A7-1768A6A04CA4}"/>
                </a:ext>
              </a:extLst>
            </p:cNvPr>
            <p:cNvSpPr/>
            <p:nvPr/>
          </p:nvSpPr>
          <p:spPr>
            <a:xfrm>
              <a:off x="524890" y="5928304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9BA020F-9F91-71E5-54C4-CC998942209A}"/>
                </a:ext>
              </a:extLst>
            </p:cNvPr>
            <p:cNvSpPr/>
            <p:nvPr/>
          </p:nvSpPr>
          <p:spPr>
            <a:xfrm>
              <a:off x="694410" y="600521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30B8D7C-5AD9-A485-346F-65D99563D697}"/>
                </a:ext>
              </a:extLst>
            </p:cNvPr>
            <p:cNvSpPr/>
            <p:nvPr/>
          </p:nvSpPr>
          <p:spPr>
            <a:xfrm>
              <a:off x="781587" y="5842846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E18E9489-13F0-607E-2246-A7F41C703C6E}"/>
                </a:ext>
              </a:extLst>
            </p:cNvPr>
            <p:cNvSpPr/>
            <p:nvPr/>
          </p:nvSpPr>
          <p:spPr>
            <a:xfrm>
              <a:off x="635826" y="5713233"/>
              <a:ext cx="85458" cy="8545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91D3C06F-930F-C67B-DFDD-A4239655E58D}"/>
                </a:ext>
              </a:extLst>
            </p:cNvPr>
            <p:cNvSpPr/>
            <p:nvPr/>
          </p:nvSpPr>
          <p:spPr>
            <a:xfrm>
              <a:off x="1035768" y="5146364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5EBD167-A67A-87BA-6DED-1D706357E93D}"/>
                </a:ext>
              </a:extLst>
            </p:cNvPr>
            <p:cNvSpPr/>
            <p:nvPr/>
          </p:nvSpPr>
          <p:spPr>
            <a:xfrm>
              <a:off x="1035768" y="5310069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8F9D138-D96C-679E-BF65-614A3F0B83F9}"/>
                </a:ext>
              </a:extLst>
            </p:cNvPr>
            <p:cNvSpPr/>
            <p:nvPr/>
          </p:nvSpPr>
          <p:spPr>
            <a:xfrm>
              <a:off x="940012" y="5398376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BF795FBE-B55C-F7E0-79AD-AF621C21E860}"/>
                </a:ext>
              </a:extLst>
            </p:cNvPr>
            <p:cNvSpPr/>
            <p:nvPr/>
          </p:nvSpPr>
          <p:spPr>
            <a:xfrm>
              <a:off x="844256" y="5246020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C76A336B-5B00-54F2-80C5-6984E788A7E6}"/>
                </a:ext>
              </a:extLst>
            </p:cNvPr>
            <p:cNvSpPr/>
            <p:nvPr/>
          </p:nvSpPr>
          <p:spPr>
            <a:xfrm>
              <a:off x="737139" y="539975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E9A7D91B-5B65-53D1-FF39-6F36F3147C1E}"/>
                </a:ext>
              </a:extLst>
            </p:cNvPr>
            <p:cNvSpPr/>
            <p:nvPr/>
          </p:nvSpPr>
          <p:spPr>
            <a:xfrm>
              <a:off x="897283" y="5586295"/>
              <a:ext cx="85458" cy="85458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077E6C8-0B3B-1E11-0E17-7636AC99FF41}"/>
                </a:ext>
              </a:extLst>
            </p:cNvPr>
            <p:cNvSpPr/>
            <p:nvPr/>
          </p:nvSpPr>
          <p:spPr>
            <a:xfrm>
              <a:off x="173590" y="5093041"/>
              <a:ext cx="934357" cy="1846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464B068-4EE1-E464-4A2A-F9B289BA5148}"/>
              </a:ext>
            </a:extLst>
          </p:cNvPr>
          <p:cNvSpPr txBox="1"/>
          <p:nvPr/>
        </p:nvSpPr>
        <p:spPr>
          <a:xfrm>
            <a:off x="8715394" y="2256115"/>
            <a:ext cx="1133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regularized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516866C2-7CC6-6D98-52DE-F8A444ECA625}"/>
              </a:ext>
            </a:extLst>
          </p:cNvPr>
          <p:cNvSpPr/>
          <p:nvPr/>
        </p:nvSpPr>
        <p:spPr>
          <a:xfrm>
            <a:off x="10317878" y="1134596"/>
            <a:ext cx="1533291" cy="1644769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AF032AB-2E2B-AF4B-ABD0-60ACF86FAECA}"/>
              </a:ext>
            </a:extLst>
          </p:cNvPr>
          <p:cNvGrpSpPr/>
          <p:nvPr/>
        </p:nvGrpSpPr>
        <p:grpSpPr>
          <a:xfrm>
            <a:off x="10407694" y="1112888"/>
            <a:ext cx="1201653" cy="1284410"/>
            <a:chOff x="45787" y="4868818"/>
            <a:chExt cx="1232148" cy="1317004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E7BD2F7A-5ED2-2734-6CEA-0997382081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578" y="5038120"/>
              <a:ext cx="0" cy="10938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D84FF544-A32D-374E-7CE2-C427E0A9F412}"/>
                </a:ext>
              </a:extLst>
            </p:cNvPr>
            <p:cNvCxnSpPr>
              <a:cxnSpLocks/>
            </p:cNvCxnSpPr>
            <p:nvPr/>
          </p:nvCxnSpPr>
          <p:spPr>
            <a:xfrm>
              <a:off x="343578" y="5653415"/>
              <a:ext cx="93435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6DFAB56-1521-7968-2360-5D03364849A9}"/>
                </a:ext>
              </a:extLst>
            </p:cNvPr>
            <p:cNvSpPr/>
            <p:nvPr/>
          </p:nvSpPr>
          <p:spPr>
            <a:xfrm>
              <a:off x="433286" y="5312918"/>
              <a:ext cx="72015" cy="34200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E27CE35E-56C3-BA31-B392-BA32EC5989BE}"/>
                </a:ext>
              </a:extLst>
            </p:cNvPr>
            <p:cNvSpPr/>
            <p:nvPr/>
          </p:nvSpPr>
          <p:spPr>
            <a:xfrm>
              <a:off x="585088" y="5486213"/>
              <a:ext cx="68356" cy="16720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7B8B06C-8369-25AE-20F1-111A997C5F7E}"/>
                </a:ext>
              </a:extLst>
            </p:cNvPr>
            <p:cNvSpPr/>
            <p:nvPr/>
          </p:nvSpPr>
          <p:spPr>
            <a:xfrm>
              <a:off x="771535" y="5449739"/>
              <a:ext cx="63084" cy="20367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F93B029-DE54-FBF6-E442-42DEEF066C9B}"/>
                </a:ext>
              </a:extLst>
            </p:cNvPr>
            <p:cNvSpPr/>
            <p:nvPr/>
          </p:nvSpPr>
          <p:spPr>
            <a:xfrm>
              <a:off x="936292" y="5666506"/>
              <a:ext cx="63084" cy="13845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1F78783-6597-6EFC-73B4-A48EC52BE424}"/>
                </a:ext>
              </a:extLst>
            </p:cNvPr>
            <p:cNvSpPr/>
            <p:nvPr/>
          </p:nvSpPr>
          <p:spPr>
            <a:xfrm>
              <a:off x="1096219" y="5658963"/>
              <a:ext cx="62445" cy="366348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B963F5F6-619C-EACF-897E-A78AE8A6E8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16870" y="5143122"/>
              <a:ext cx="121931" cy="12193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FB7D75A-87EE-CB47-BBDE-B29CCEEC91B0}"/>
                    </a:ext>
                  </a:extLst>
                </p:cNvPr>
                <p:cNvSpPr txBox="1"/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CN" sz="12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25A3E56-27B3-31BB-D3EF-40A41B95CE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11" y="4868818"/>
                  <a:ext cx="338233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703A0D82-96D7-6B50-4AD2-AF97AFF934F6}"/>
                </a:ext>
              </a:extLst>
            </p:cNvPr>
            <p:cNvCxnSpPr/>
            <p:nvPr/>
          </p:nvCxnSpPr>
          <p:spPr>
            <a:xfrm>
              <a:off x="343578" y="544973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66C3FB1-B385-5D3B-D83E-DCB732114022}"/>
                </a:ext>
              </a:extLst>
            </p:cNvPr>
            <p:cNvCxnSpPr/>
            <p:nvPr/>
          </p:nvCxnSpPr>
          <p:spPr>
            <a:xfrm>
              <a:off x="361567" y="5813389"/>
              <a:ext cx="838203" cy="0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F4F1C8BC-C558-5B74-EE33-8CC77B2FE306}"/>
                    </a:ext>
                  </a:extLst>
                </p:cNvPr>
                <p:cNvSpPr txBox="1"/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68E330E-C295-7F57-BC54-1466388C4C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725" y="5330346"/>
                  <a:ext cx="146322" cy="215444"/>
                </a:xfrm>
                <a:prstGeom prst="rect">
                  <a:avLst/>
                </a:prstGeom>
                <a:blipFill>
                  <a:blip r:embed="rId22"/>
                  <a:stretch>
                    <a:fillRect l="-50000" r="-4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9AC27EF-EFF5-4D12-377E-D1272E4603D4}"/>
                    </a:ext>
                  </a:extLst>
                </p:cNvPr>
                <p:cNvSpPr txBox="1"/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CN" sz="14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7F5F75C4-CD8A-EE74-B480-EFE63B9E6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87" y="5688401"/>
                  <a:ext cx="280974" cy="215444"/>
                </a:xfrm>
                <a:prstGeom prst="rect">
                  <a:avLst/>
                </a:prstGeom>
                <a:blipFill>
                  <a:blip r:embed="rId23"/>
                  <a:stretch>
                    <a:fillRect l="-10526" r="-31579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0B9EFD36-7F16-3B33-0551-6A79201CFC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75731" y="6063891"/>
              <a:ext cx="121931" cy="121931"/>
            </a:xfrm>
            <a:prstGeom prst="rect">
              <a:avLst/>
            </a:prstGeom>
          </p:spPr>
        </p:pic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B43317E7-65D6-9C83-F4D9-F1948F2FBF7F}"/>
              </a:ext>
            </a:extLst>
          </p:cNvPr>
          <p:cNvSpPr txBox="1"/>
          <p:nvPr/>
        </p:nvSpPr>
        <p:spPr>
          <a:xfrm>
            <a:off x="10646723" y="2259141"/>
            <a:ext cx="934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400">
                <a:latin typeface="Comic Sans MS" panose="030F0902030302020204" pitchFamily="66" charset="0"/>
              </a:rPr>
              <a:t>feature </a:t>
            </a:r>
            <a:endParaRPr lang="en-US" sz="1400" dirty="0">
              <a:latin typeface="Comic Sans MS" panose="030F0902030302020204" pitchFamily="66" charset="0"/>
            </a:endParaRPr>
          </a:p>
          <a:p>
            <a:pPr algn="ctr"/>
            <a:r>
              <a:rPr lang="en-CN" sz="1400">
                <a:latin typeface="Comic Sans MS" panose="030F0902030302020204" pitchFamily="66" charset="0"/>
              </a:rPr>
              <a:t>selection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AFE2C63-528A-9E86-824F-6A0DAF790863}"/>
              </a:ext>
            </a:extLst>
          </p:cNvPr>
          <p:cNvSpPr txBox="1"/>
          <p:nvPr/>
        </p:nvSpPr>
        <p:spPr>
          <a:xfrm>
            <a:off x="10895468" y="1250850"/>
            <a:ext cx="635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200" dirty="0"/>
              <a:t>feature</a:t>
            </a:r>
          </a:p>
        </p:txBody>
      </p:sp>
      <p:sp>
        <p:nvSpPr>
          <p:cNvPr id="102" name="Right Arrow 101">
            <a:extLst>
              <a:ext uri="{FF2B5EF4-FFF2-40B4-BE49-F238E27FC236}">
                <a16:creationId xmlns:a16="http://schemas.microsoft.com/office/drawing/2014/main" id="{8514F420-CE08-8F64-E9D1-CDA135148B24}"/>
              </a:ext>
            </a:extLst>
          </p:cNvPr>
          <p:cNvSpPr/>
          <p:nvPr/>
        </p:nvSpPr>
        <p:spPr>
          <a:xfrm rot="5400000">
            <a:off x="10012336" y="2822005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2B60AEBA-7104-6B54-8E84-D0138FFF3B7A}"/>
              </a:ext>
            </a:extLst>
          </p:cNvPr>
          <p:cNvSpPr/>
          <p:nvPr/>
        </p:nvSpPr>
        <p:spPr>
          <a:xfrm>
            <a:off x="8532675" y="3062868"/>
            <a:ext cx="3318494" cy="1545793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D0E74C8-05E8-5E02-BE8F-B8510854152A}"/>
              </a:ext>
            </a:extLst>
          </p:cNvPr>
          <p:cNvSpPr/>
          <p:nvPr/>
        </p:nvSpPr>
        <p:spPr>
          <a:xfrm>
            <a:off x="8653324" y="3129376"/>
            <a:ext cx="180000" cy="18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24C417-DCB4-72FF-FB7B-E6594C418839}"/>
                  </a:ext>
                </a:extLst>
              </p:cNvPr>
              <p:cNvSpPr txBox="1"/>
              <p:nvPr/>
            </p:nvSpPr>
            <p:spPr>
              <a:xfrm>
                <a:off x="8793334" y="3038620"/>
                <a:ext cx="13876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600" dirty="0">
                    <a:solidFill>
                      <a:srgbClr val="4472C5"/>
                    </a:solidFill>
                  </a:rPr>
                  <a:t>Type 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4472C5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>
                    <a:solidFill>
                      <a:srgbClr val="4472C5"/>
                    </a:solidFill>
                  </a:rPr>
                  <a:t> </a:t>
                </a:r>
                <a:r>
                  <a:rPr lang="en-CN" sz="1600">
                    <a:solidFill>
                      <a:srgbClr val="4472C5"/>
                    </a:solidFill>
                  </a:rPr>
                  <a:t>&gt; 0)</a:t>
                </a:r>
                <a:endParaRPr lang="en-CN" sz="1600" dirty="0">
                  <a:solidFill>
                    <a:srgbClr val="4472C5"/>
                  </a:solidFill>
                </a:endParaRPr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224C417-DCB4-72FF-FB7B-E6594C418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3334" y="3038620"/>
                <a:ext cx="1387688" cy="338554"/>
              </a:xfrm>
              <a:prstGeom prst="rect">
                <a:avLst/>
              </a:prstGeom>
              <a:blipFill>
                <a:blip r:embed="rId24"/>
                <a:stretch>
                  <a:fillRect l="-2727" t="-3704" r="-181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Rectangle 106">
            <a:extLst>
              <a:ext uri="{FF2B5EF4-FFF2-40B4-BE49-F238E27FC236}">
                <a16:creationId xmlns:a16="http://schemas.microsoft.com/office/drawing/2014/main" id="{C5215657-10D9-62C4-D110-8976C41E4079}"/>
              </a:ext>
            </a:extLst>
          </p:cNvPr>
          <p:cNvSpPr/>
          <p:nvPr/>
        </p:nvSpPr>
        <p:spPr>
          <a:xfrm>
            <a:off x="10317694" y="3129376"/>
            <a:ext cx="180000" cy="18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2059EEA-C30F-6C4F-4AE1-FD5626CB2179}"/>
                  </a:ext>
                </a:extLst>
              </p:cNvPr>
              <p:cNvSpPr txBox="1"/>
              <p:nvPr/>
            </p:nvSpPr>
            <p:spPr>
              <a:xfrm>
                <a:off x="10457704" y="3038620"/>
                <a:ext cx="13123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600" dirty="0">
                    <a:solidFill>
                      <a:srgbClr val="EBAB80"/>
                    </a:solidFill>
                  </a:rPr>
                  <a:t>Type I(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EBAB8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N" sz="1600" dirty="0">
                    <a:solidFill>
                      <a:srgbClr val="EBAB80"/>
                    </a:solidFill>
                  </a:rPr>
                  <a:t> &lt; 0)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02059EEA-C30F-6C4F-4AE1-FD5626CB2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7704" y="3038620"/>
                <a:ext cx="1312347" cy="338554"/>
              </a:xfrm>
              <a:prstGeom prst="rect">
                <a:avLst/>
              </a:prstGeom>
              <a:blipFill>
                <a:blip r:embed="rId25"/>
                <a:stretch>
                  <a:fillRect l="-2885" t="-3704" r="-1923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Right Arrow 110">
            <a:extLst>
              <a:ext uri="{FF2B5EF4-FFF2-40B4-BE49-F238E27FC236}">
                <a16:creationId xmlns:a16="http://schemas.microsoft.com/office/drawing/2014/main" id="{480818ED-9021-22DC-FDCF-3B98F4DD0038}"/>
              </a:ext>
            </a:extLst>
          </p:cNvPr>
          <p:cNvSpPr/>
          <p:nvPr/>
        </p:nvSpPr>
        <p:spPr>
          <a:xfrm rot="5400000">
            <a:off x="10027637" y="4796055"/>
            <a:ext cx="272587" cy="196954"/>
          </a:xfrm>
          <a:prstGeom prst="rightArrow">
            <a:avLst/>
          </a:prstGeom>
          <a:solidFill>
            <a:srgbClr val="F9C9B2"/>
          </a:solidFill>
          <a:ln>
            <a:solidFill>
              <a:srgbClr val="A93B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78325802-C0C5-8EC4-4D61-7CE1F606C766}"/>
              </a:ext>
            </a:extLst>
          </p:cNvPr>
          <p:cNvSpPr/>
          <p:nvPr/>
        </p:nvSpPr>
        <p:spPr>
          <a:xfrm>
            <a:off x="8532675" y="5083521"/>
            <a:ext cx="3318494" cy="665696"/>
          </a:xfrm>
          <a:prstGeom prst="roundRect">
            <a:avLst>
              <a:gd name="adj" fmla="val 8677"/>
            </a:avLst>
          </a:prstGeom>
          <a:solidFill>
            <a:srgbClr val="FEF3EF"/>
          </a:solidFill>
          <a:ln w="19050">
            <a:solidFill>
              <a:srgbClr val="F9C9B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47270B-DD4D-0C6B-E09A-C99FBBFC1732}"/>
              </a:ext>
            </a:extLst>
          </p:cNvPr>
          <p:cNvGrpSpPr/>
          <p:nvPr/>
        </p:nvGrpSpPr>
        <p:grpSpPr>
          <a:xfrm>
            <a:off x="8669828" y="5174919"/>
            <a:ext cx="466687" cy="466687"/>
            <a:chOff x="10896027" y="7645017"/>
            <a:chExt cx="466687" cy="466687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79634C27-8390-7FAC-0672-DD9AEAB40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896027" y="7645017"/>
              <a:ext cx="466687" cy="466687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550F8C3A-293B-FBE0-93F7-9FF6B46FA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993156" y="7761575"/>
              <a:ext cx="282701" cy="282701"/>
            </a:xfrm>
            <a:prstGeom prst="rect">
              <a:avLst/>
            </a:prstGeom>
          </p:spPr>
        </p:pic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3357EC4D-CD1C-E4AA-8772-3BCD710F6B00}"/>
              </a:ext>
            </a:extLst>
          </p:cNvPr>
          <p:cNvSpPr txBox="1"/>
          <p:nvPr/>
        </p:nvSpPr>
        <p:spPr>
          <a:xfrm>
            <a:off x="9211458" y="5100326"/>
            <a:ext cx="1398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 dirty="0">
                <a:solidFill>
                  <a:schemeClr val="tx1"/>
                </a:solidFill>
                <a:latin typeface="Comic Sans MS" panose="030F0902030302020204" pitchFamily="66" charset="0"/>
              </a:rPr>
              <a:t>Deployed Gate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78BDB88-874D-018E-6B45-4CC315DEC1DE}"/>
                  </a:ext>
                </a:extLst>
              </p:cNvPr>
              <p:cNvSpPr txBox="1"/>
              <p:nvPr/>
            </p:nvSpPr>
            <p:spPr>
              <a:xfrm>
                <a:off x="9190640" y="5395190"/>
                <a:ext cx="25214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=1[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)&gt;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878BDB88-874D-018E-6B45-4CC315DEC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640" y="5395190"/>
                <a:ext cx="2521459" cy="307777"/>
              </a:xfrm>
              <a:prstGeom prst="rect">
                <a:avLst/>
              </a:prstGeom>
              <a:blipFill>
                <a:blip r:embed="rId28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Elbow Connector 124">
            <a:extLst>
              <a:ext uri="{FF2B5EF4-FFF2-40B4-BE49-F238E27FC236}">
                <a16:creationId xmlns:a16="http://schemas.microsoft.com/office/drawing/2014/main" id="{47DEEBC5-BCF0-6408-F9FD-236983339815}"/>
              </a:ext>
            </a:extLst>
          </p:cNvPr>
          <p:cNvCxnSpPr>
            <a:cxnSpLocks/>
            <a:stCxn id="13" idx="3"/>
            <a:endCxn id="143" idx="2"/>
          </p:cNvCxnSpPr>
          <p:nvPr/>
        </p:nvCxnSpPr>
        <p:spPr>
          <a:xfrm flipV="1">
            <a:off x="3064836" y="2914253"/>
            <a:ext cx="364344" cy="332067"/>
          </a:xfrm>
          <a:prstGeom prst="bentConnector2">
            <a:avLst/>
          </a:prstGeom>
          <a:ln w="12700">
            <a:solidFill>
              <a:srgbClr val="1B477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3FD687DD-3F39-2162-C2A9-9F729AC9B596}"/>
                  </a:ext>
                </a:extLst>
              </p:cNvPr>
              <p:cNvSpPr/>
              <p:nvPr/>
            </p:nvSpPr>
            <p:spPr>
              <a:xfrm>
                <a:off x="141" y="4556269"/>
                <a:ext cx="1304547" cy="307778"/>
              </a:xfrm>
              <a:prstGeom prst="roundRect">
                <a:avLst>
                  <a:gd name="adj" fmla="val 8677"/>
                </a:avLst>
              </a:prstGeom>
              <a:solidFill>
                <a:srgbClr val="DBE8F3"/>
              </a:solidFill>
              <a:ln w="19050">
                <a:solidFill>
                  <a:srgbClr val="8AB0D7"/>
                </a:solidFill>
                <a:miter lim="800000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𝑡𝑒𝑥𝑡</m:t>
                      </m:r>
                    </m:oMath>
                  </m:oMathPara>
                </a14:m>
                <a:endParaRPr lang="en-CN" sz="1600">
                  <a:solidFill>
                    <a:srgbClr val="1B4774"/>
                  </a:solidFill>
                </a:endParaRPr>
              </a:p>
            </p:txBody>
          </p:sp>
        </mc:Choice>
        <mc:Fallback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3FD687DD-3F39-2162-C2A9-9F729AC9B5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" y="4556269"/>
                <a:ext cx="1304547" cy="307778"/>
              </a:xfrm>
              <a:prstGeom prst="roundRect">
                <a:avLst>
                  <a:gd name="adj" fmla="val 8677"/>
                </a:avLst>
              </a:prstGeom>
              <a:blipFill>
                <a:blip r:embed="rId29"/>
                <a:stretch>
                  <a:fillRect/>
                </a:stretch>
              </a:blipFill>
              <a:ln w="19050">
                <a:solidFill>
                  <a:srgbClr val="8AB0D7"/>
                </a:solidFill>
                <a:miter lim="800000"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956FC539-16FB-AB60-D149-523208946D53}"/>
              </a:ext>
            </a:extLst>
          </p:cNvPr>
          <p:cNvSpPr/>
          <p:nvPr/>
        </p:nvSpPr>
        <p:spPr>
          <a:xfrm>
            <a:off x="140" y="4947578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85AFB761-EC41-604D-D5AF-9FD43D7AB863}"/>
              </a:ext>
            </a:extLst>
          </p:cNvPr>
          <p:cNvSpPr/>
          <p:nvPr/>
        </p:nvSpPr>
        <p:spPr>
          <a:xfrm>
            <a:off x="139" y="5349910"/>
            <a:ext cx="1304547" cy="307778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22B99C5-B062-F418-B1DE-4352072EC1C1}"/>
              </a:ext>
            </a:extLst>
          </p:cNvPr>
          <p:cNvSpPr txBox="1"/>
          <p:nvPr/>
        </p:nvSpPr>
        <p:spPr>
          <a:xfrm>
            <a:off x="1769904" y="4543304"/>
            <a:ext cx="2009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Results Page (Page 1/5)</a:t>
            </a:r>
            <a:r>
              <a:rPr lang="en-US" altLang="zh-CN" sz="1400" dirty="0"/>
              <a:t>…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F255697-8E91-97DC-7068-C6004F75109F}"/>
                  </a:ext>
                </a:extLst>
              </p:cNvPr>
              <p:cNvSpPr txBox="1"/>
              <p:nvPr/>
            </p:nvSpPr>
            <p:spPr>
              <a:xfrm>
                <a:off x="52771" y="4926679"/>
                <a:ext cx="92769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F255697-8E91-97DC-7068-C6004F751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1" y="4926679"/>
                <a:ext cx="927690" cy="33855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88B58CB-BEDD-04CB-830A-C58BBE5D8B2B}"/>
                  </a:ext>
                </a:extLst>
              </p:cNvPr>
              <p:cNvSpPr txBox="1"/>
              <p:nvPr/>
            </p:nvSpPr>
            <p:spPr>
              <a:xfrm>
                <a:off x="53627" y="5338887"/>
                <a:ext cx="92948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1B4774"/>
                          </a:solidFill>
                          <a:latin typeface="Cambria Math" panose="02040503050406030204" pitchFamily="18" charset="0"/>
                        </a:rPr>
                        <m:t>𝑎𝑐𝑡𝑖𝑜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1B4774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en-CN" sz="1600" dirty="0">
                  <a:solidFill>
                    <a:srgbClr val="1B4774"/>
                  </a:solidFill>
                </a:endParaRPr>
              </a:p>
            </p:txBody>
          </p:sp>
        </mc:Choice>
        <mc:Fallback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88B58CB-BEDD-04CB-830A-C58BBE5D8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7" y="5338887"/>
                <a:ext cx="929485" cy="33855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>
            <a:extLst>
              <a:ext uri="{FF2B5EF4-FFF2-40B4-BE49-F238E27FC236}">
                <a16:creationId xmlns:a16="http://schemas.microsoft.com/office/drawing/2014/main" id="{E1D801DA-171B-15F3-E46A-917F94D5C78B}"/>
              </a:ext>
            </a:extLst>
          </p:cNvPr>
          <p:cNvSpPr txBox="1"/>
          <p:nvPr/>
        </p:nvSpPr>
        <p:spPr>
          <a:xfrm>
            <a:off x="1764203" y="4958727"/>
            <a:ext cx="6361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[Next]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4F167AC-BB2F-0F44-1DEF-A39A7A44F3AE}"/>
              </a:ext>
            </a:extLst>
          </p:cNvPr>
          <p:cNvSpPr txBox="1"/>
          <p:nvPr/>
        </p:nvSpPr>
        <p:spPr>
          <a:xfrm>
            <a:off x="1764203" y="5338887"/>
            <a:ext cx="1356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[Back to Search]</a:t>
            </a:r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F361C5E0-0BCF-66A7-A3F3-7A4B96D0B50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5029" y="3788906"/>
            <a:ext cx="342160" cy="342160"/>
          </a:xfrm>
          <a:prstGeom prst="rect">
            <a:avLst/>
          </a:prstGeom>
        </p:spPr>
      </p:pic>
      <p:sp>
        <p:nvSpPr>
          <p:cNvPr id="163" name="TextBox 162">
            <a:extLst>
              <a:ext uri="{FF2B5EF4-FFF2-40B4-BE49-F238E27FC236}">
                <a16:creationId xmlns:a16="http://schemas.microsoft.com/office/drawing/2014/main" id="{16C38F9D-5FBC-947B-D0E5-8B1B1EB3AFB1}"/>
              </a:ext>
            </a:extLst>
          </p:cNvPr>
          <p:cNvSpPr txBox="1"/>
          <p:nvPr/>
        </p:nvSpPr>
        <p:spPr>
          <a:xfrm>
            <a:off x="4637637" y="4543303"/>
            <a:ext cx="1577676" cy="307777"/>
          </a:xfrm>
          <a:prstGeom prst="rect">
            <a:avLst/>
          </a:prstGeom>
          <a:solidFill>
            <a:srgbClr val="FAFFF1"/>
          </a:solidFill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Feature</a:t>
            </a:r>
            <a:r>
              <a:rPr lang="zh-CN" altLang="en-US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 </a:t>
            </a:r>
            <a:r>
              <a:rPr lang="en-US" altLang="zh-CN" sz="1400" b="1" dirty="0">
                <a:solidFill>
                  <a:srgbClr val="457543"/>
                </a:solidFill>
                <a:latin typeface="Comic Sans MS" panose="030F0902030302020204" pitchFamily="66" charset="0"/>
              </a:rPr>
              <a:t>example</a:t>
            </a:r>
            <a:endParaRPr lang="en-CN" sz="1400" b="1" dirty="0">
              <a:solidFill>
                <a:srgbClr val="457543"/>
              </a:solidFill>
              <a:latin typeface="Comic Sans MS" panose="030F0902030302020204" pitchFamily="66" charset="0"/>
            </a:endParaRPr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614543D8-E43A-6C44-CCBD-81A0793EF062}"/>
              </a:ext>
            </a:extLst>
          </p:cNvPr>
          <p:cNvSpPr/>
          <p:nvPr/>
        </p:nvSpPr>
        <p:spPr>
          <a:xfrm>
            <a:off x="4647420" y="4907395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B3324011-D541-4881-8F67-B35A3A17C572}"/>
              </a:ext>
            </a:extLst>
          </p:cNvPr>
          <p:cNvSpPr/>
          <p:nvPr/>
        </p:nvSpPr>
        <p:spPr>
          <a:xfrm>
            <a:off x="4647420" y="5377076"/>
            <a:ext cx="1464546" cy="3077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D2D77F05-343F-4B79-6F08-BF5C01D7C7EE}"/>
              </a:ext>
            </a:extLst>
          </p:cNvPr>
          <p:cNvSpPr/>
          <p:nvPr/>
        </p:nvSpPr>
        <p:spPr>
          <a:xfrm>
            <a:off x="6295404" y="4907395"/>
            <a:ext cx="1464546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20B14725-4C44-4C60-6C45-7D1ACE11C863}"/>
              </a:ext>
            </a:extLst>
          </p:cNvPr>
          <p:cNvSpPr/>
          <p:nvPr/>
        </p:nvSpPr>
        <p:spPr>
          <a:xfrm>
            <a:off x="6305136" y="5388099"/>
            <a:ext cx="1454813" cy="3077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DAB36D0D-1324-26B6-0965-54EC80EFFE4F}"/>
              </a:ext>
            </a:extLst>
          </p:cNvPr>
          <p:cNvSpPr/>
          <p:nvPr/>
        </p:nvSpPr>
        <p:spPr>
          <a:xfrm>
            <a:off x="4357779" y="7043260"/>
            <a:ext cx="3371498" cy="6839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8BAD3D-EF69-29BE-04F2-C0FD17FFC573}"/>
                  </a:ext>
                </a:extLst>
              </p:cNvPr>
              <p:cNvSpPr txBox="1"/>
              <p:nvPr/>
            </p:nvSpPr>
            <p:spPr>
              <a:xfrm>
                <a:off x="5133653" y="7042956"/>
                <a:ext cx="262629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A8BAD3D-EF69-29BE-04F2-C0FD17FFC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653" y="7042956"/>
                <a:ext cx="2626296" cy="307777"/>
              </a:xfrm>
              <a:prstGeom prst="rect">
                <a:avLst/>
              </a:prstGeom>
              <a:blipFill>
                <a:blip r:embed="rId3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1" name="Picture 170">
            <a:extLst>
              <a:ext uri="{FF2B5EF4-FFF2-40B4-BE49-F238E27FC236}">
                <a16:creationId xmlns:a16="http://schemas.microsoft.com/office/drawing/2014/main" id="{DF90CBF3-895E-1BB1-087B-12B1D90623F3}"/>
              </a:ext>
            </a:extLst>
          </p:cNvPr>
          <p:cNvPicPr>
            <a:picLocks noChangeAspect="1"/>
          </p:cNvPicPr>
          <p:nvPr/>
        </p:nvPicPr>
        <p:blipFill>
          <a:blip r:embed="rId3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08431" y="7202139"/>
            <a:ext cx="356732" cy="3567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34F13FA-4187-2D69-E5C4-5B2F69BCB215}"/>
                  </a:ext>
                </a:extLst>
              </p:cNvPr>
              <p:cNvSpPr txBox="1"/>
              <p:nvPr/>
            </p:nvSpPr>
            <p:spPr>
              <a:xfrm>
                <a:off x="4640744" y="4889701"/>
                <a:ext cx="14962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𝑒𝑛𝑡𝑟𝑜𝑝𝑦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=0.043</a:t>
                </a:r>
              </a:p>
            </p:txBody>
          </p:sp>
        </mc:Choice>
        <mc:Fallback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634F13FA-4187-2D69-E5C4-5B2F69BCB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4889701"/>
                <a:ext cx="1496243" cy="338554"/>
              </a:xfrm>
              <a:prstGeom prst="rect">
                <a:avLst/>
              </a:prstGeom>
              <a:blipFill>
                <a:blip r:embed="rId34"/>
                <a:stretch>
                  <a:fillRect t="-3571" r="-840" b="-214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3" name="TextBox 172">
            <a:extLst>
              <a:ext uri="{FF2B5EF4-FFF2-40B4-BE49-F238E27FC236}">
                <a16:creationId xmlns:a16="http://schemas.microsoft.com/office/drawing/2014/main" id="{FABFCD26-A883-C016-606B-BE32AF40B76B}"/>
              </a:ext>
            </a:extLst>
          </p:cNvPr>
          <p:cNvSpPr txBox="1"/>
          <p:nvPr/>
        </p:nvSpPr>
        <p:spPr>
          <a:xfrm>
            <a:off x="6296094" y="5353334"/>
            <a:ext cx="15025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457543"/>
                </a:solidFill>
              </a:rPr>
              <a:t>evidence_cnt</a:t>
            </a:r>
            <a:r>
              <a:rPr lang="en-US" sz="1600" dirty="0">
                <a:solidFill>
                  <a:srgbClr val="457543"/>
                </a:solidFill>
              </a:rPr>
              <a:t>=2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80922BB-E58F-9A81-6995-BAA1A71CEE55}"/>
                  </a:ext>
                </a:extLst>
              </p:cNvPr>
              <p:cNvSpPr txBox="1"/>
              <p:nvPr/>
            </p:nvSpPr>
            <p:spPr>
              <a:xfrm>
                <a:off x="4640744" y="5352213"/>
                <a:ext cx="143821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𝑙𝑒𝑛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=412</a:t>
                </a:r>
              </a:p>
            </p:txBody>
          </p:sp>
        </mc:Choice>
        <mc:Fallback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80922BB-E58F-9A81-6995-BAA1A71CE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5352213"/>
                <a:ext cx="1438214" cy="338554"/>
              </a:xfrm>
              <a:prstGeom prst="rect">
                <a:avLst/>
              </a:prstGeom>
              <a:blipFill>
                <a:blip r:embed="rId35"/>
                <a:stretch>
                  <a:fillRect t="-3571" r="-1754" b="-1785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42105D3-248B-BC38-28DA-276387D5458D}"/>
                  </a:ext>
                </a:extLst>
              </p:cNvPr>
              <p:cNvSpPr txBox="1"/>
              <p:nvPr/>
            </p:nvSpPr>
            <p:spPr>
              <a:xfrm>
                <a:off x="6296094" y="4889572"/>
                <a:ext cx="78508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457543"/>
                        </a:solidFill>
                        <a:latin typeface="Cambria Math" panose="02040503050406030204" pitchFamily="18" charset="0"/>
                      </a:rPr>
                      <m:t>𝑠𝑡𝑒𝑝</m:t>
                    </m:r>
                  </m:oMath>
                </a14:m>
                <a:r>
                  <a:rPr lang="en-US" sz="1600" dirty="0">
                    <a:solidFill>
                      <a:srgbClr val="457543"/>
                    </a:solidFill>
                  </a:rPr>
                  <a:t>=3</a:t>
                </a:r>
              </a:p>
            </p:txBody>
          </p:sp>
        </mc:Choice>
        <mc:Fallback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942105D3-248B-BC38-28DA-276387D54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6094" y="4889572"/>
                <a:ext cx="785087" cy="338554"/>
              </a:xfrm>
              <a:prstGeom prst="rect">
                <a:avLst/>
              </a:prstGeom>
              <a:blipFill>
                <a:blip r:embed="rId36"/>
                <a:stretch>
                  <a:fillRect t="-3571" r="-3175" b="-2142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Right Arrow 177">
            <a:extLst>
              <a:ext uri="{FF2B5EF4-FFF2-40B4-BE49-F238E27FC236}">
                <a16:creationId xmlns:a16="http://schemas.microsoft.com/office/drawing/2014/main" id="{4F69B52A-5A5E-1625-2EAB-E30A580F82E7}"/>
              </a:ext>
            </a:extLst>
          </p:cNvPr>
          <p:cNvSpPr/>
          <p:nvPr/>
        </p:nvSpPr>
        <p:spPr>
          <a:xfrm>
            <a:off x="4018414" y="3079331"/>
            <a:ext cx="411199" cy="401053"/>
          </a:xfrm>
          <a:prstGeom prst="rightArrow">
            <a:avLst/>
          </a:prstGeom>
          <a:solidFill>
            <a:srgbClr val="8AB0D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179" name="Right Arrow 178">
            <a:extLst>
              <a:ext uri="{FF2B5EF4-FFF2-40B4-BE49-F238E27FC236}">
                <a16:creationId xmlns:a16="http://schemas.microsoft.com/office/drawing/2014/main" id="{7D2B6F00-3C84-2F39-A33C-E1546A65408E}"/>
              </a:ext>
            </a:extLst>
          </p:cNvPr>
          <p:cNvSpPr/>
          <p:nvPr/>
        </p:nvSpPr>
        <p:spPr>
          <a:xfrm>
            <a:off x="8021594" y="3091532"/>
            <a:ext cx="411199" cy="401053"/>
          </a:xfrm>
          <a:prstGeom prst="rightArrow">
            <a:avLst/>
          </a:prstGeom>
          <a:solidFill>
            <a:srgbClr val="94B78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472C4"/>
              </a:solidFill>
            </a:endParaRP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BF8C9307-2977-FB01-92C6-8B9E0A53E484}"/>
              </a:ext>
            </a:extLst>
          </p:cNvPr>
          <p:cNvSpPr/>
          <p:nvPr/>
        </p:nvSpPr>
        <p:spPr>
          <a:xfrm>
            <a:off x="993090" y="2463344"/>
            <a:ext cx="691794" cy="292866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B3C33F-EA74-B811-8D1E-03D5CBC5BB02}"/>
                  </a:ext>
                </a:extLst>
              </p:cNvPr>
              <p:cNvSpPr txBox="1"/>
              <p:nvPr/>
            </p:nvSpPr>
            <p:spPr>
              <a:xfrm>
                <a:off x="986371" y="2460605"/>
                <a:ext cx="74013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s</a:t>
                </a:r>
                <a:r>
                  <a:rPr lang="en-US" sz="1200" dirty="0">
                    <a:latin typeface="Comic Sans MS" panose="030F0902030302020204" pitchFamily="66" charset="0"/>
                  </a:rPr>
                  <a:t>tate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9B3C33F-EA74-B811-8D1E-03D5CBC5B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371" y="2460605"/>
                <a:ext cx="740139" cy="276999"/>
              </a:xfrm>
              <a:prstGeom prst="rect">
                <a:avLst/>
              </a:prstGeom>
              <a:blipFill>
                <a:blip r:embed="rId3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D781598-004F-4BDB-DBC7-EB5E66508A30}"/>
              </a:ext>
            </a:extLst>
          </p:cNvPr>
          <p:cNvCxnSpPr>
            <a:cxnSpLocks/>
          </p:cNvCxnSpPr>
          <p:nvPr/>
        </p:nvCxnSpPr>
        <p:spPr>
          <a:xfrm>
            <a:off x="822956" y="2629496"/>
            <a:ext cx="170388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46301E28-4CF7-6A21-18A6-9865FDAD9C0D}"/>
              </a:ext>
            </a:extLst>
          </p:cNvPr>
          <p:cNvSpPr/>
          <p:nvPr/>
        </p:nvSpPr>
        <p:spPr>
          <a:xfrm>
            <a:off x="1193389" y="1158265"/>
            <a:ext cx="2168181" cy="385320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1C6BF3F-82CE-3C21-A4E8-4B7CCC209950}"/>
              </a:ext>
            </a:extLst>
          </p:cNvPr>
          <p:cNvSpPr txBox="1"/>
          <p:nvPr/>
        </p:nvSpPr>
        <p:spPr>
          <a:xfrm>
            <a:off x="-318571" y="1090136"/>
            <a:ext cx="16703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Comic Sans MS" panose="030F0902030302020204" pitchFamily="66" charset="0"/>
              </a:rPr>
              <a:t>Signal-agnostic</a:t>
            </a:r>
            <a:r>
              <a:rPr lang="zh-CN" altLang="en-US" sz="1400" dirty="0">
                <a:latin typeface="Comic Sans MS" panose="030F0902030302020204" pitchFamily="66" charset="0"/>
              </a:rPr>
              <a:t> </a:t>
            </a:r>
            <a:r>
              <a:rPr lang="en-US" altLang="zh-CN" sz="1400" dirty="0">
                <a:latin typeface="Comic Sans MS" panose="030F0902030302020204" pitchFamily="66" charset="0"/>
              </a:rPr>
              <a:t>exploration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3C4DA6F-9A54-322B-3EF0-DD14A9560E88}"/>
                  </a:ext>
                </a:extLst>
              </p:cNvPr>
              <p:cNvSpPr txBox="1"/>
              <p:nvPr/>
            </p:nvSpPr>
            <p:spPr>
              <a:xfrm>
                <a:off x="1602777" y="1203164"/>
                <a:ext cx="17709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Comic Sans MS" panose="030F0902030302020204" pitchFamily="66" charset="0"/>
                  </a:rPr>
                  <a:t>Bernoulli-</a:t>
                </a:r>
                <a14:m>
                  <m:oMath xmlns:m="http://schemas.openxmlformats.org/officeDocument/2006/math"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rollouts</a:t>
                </a:r>
                <a:endParaRPr lang="en-CN" sz="1400" dirty="0">
                  <a:latin typeface="Comic Sans MS" panose="030F0902030302020204" pitchFamily="66" charset="0"/>
                </a:endParaRPr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23C4DA6F-9A54-322B-3EF0-DD14A9560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777" y="1203164"/>
                <a:ext cx="1770934" cy="307777"/>
              </a:xfrm>
              <a:prstGeom prst="rect">
                <a:avLst/>
              </a:prstGeom>
              <a:blipFill>
                <a:blip r:embed="rId38"/>
                <a:stretch>
                  <a:fillRect l="-1429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7" name="Picture 136">
            <a:extLst>
              <a:ext uri="{FF2B5EF4-FFF2-40B4-BE49-F238E27FC236}">
                <a16:creationId xmlns:a16="http://schemas.microsoft.com/office/drawing/2014/main" id="{6E7DC2A4-0697-63D1-757C-813ACBBD2F29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323486" y="1208609"/>
            <a:ext cx="268491" cy="268491"/>
          </a:xfrm>
          <a:prstGeom prst="rect">
            <a:avLst/>
          </a:prstGeom>
        </p:spPr>
      </p:pic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B1A29162-8E31-8567-82E2-47B4273C2B98}"/>
              </a:ext>
            </a:extLst>
          </p:cNvPr>
          <p:cNvCxnSpPr/>
          <p:nvPr/>
        </p:nvCxnSpPr>
        <p:spPr>
          <a:xfrm flipV="1">
            <a:off x="1795908" y="1525226"/>
            <a:ext cx="0" cy="222843"/>
          </a:xfrm>
          <a:prstGeom prst="straightConnector1">
            <a:avLst/>
          </a:prstGeom>
          <a:ln w="12700">
            <a:solidFill>
              <a:srgbClr val="1B47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615EB88-93B9-D47E-A8FD-4C239766F00C}"/>
              </a:ext>
            </a:extLst>
          </p:cNvPr>
          <p:cNvCxnSpPr>
            <a:cxnSpLocks/>
          </p:cNvCxnSpPr>
          <p:nvPr/>
        </p:nvCxnSpPr>
        <p:spPr>
          <a:xfrm>
            <a:off x="2441689" y="1540395"/>
            <a:ext cx="0" cy="218394"/>
          </a:xfrm>
          <a:prstGeom prst="straightConnector1">
            <a:avLst/>
          </a:prstGeom>
          <a:ln w="12700">
            <a:solidFill>
              <a:srgbClr val="1B477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D1415065-E765-BA7E-2C5D-26AED5939E39}"/>
              </a:ext>
            </a:extLst>
          </p:cNvPr>
          <p:cNvSpPr/>
          <p:nvPr/>
        </p:nvSpPr>
        <p:spPr>
          <a:xfrm>
            <a:off x="2949242" y="2307586"/>
            <a:ext cx="959876" cy="606667"/>
          </a:xfrm>
          <a:prstGeom prst="roundRect">
            <a:avLst>
              <a:gd name="adj" fmla="val 8677"/>
            </a:avLst>
          </a:prstGeom>
          <a:solidFill>
            <a:srgbClr val="DBE8F3"/>
          </a:solidFill>
          <a:ln w="19050">
            <a:solidFill>
              <a:srgbClr val="8AB0D7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B04D33D0-FE15-07C0-EB01-5408CAE57CC3}"/>
              </a:ext>
            </a:extLst>
          </p:cNvPr>
          <p:cNvSpPr txBox="1"/>
          <p:nvPr/>
        </p:nvSpPr>
        <p:spPr>
          <a:xfrm>
            <a:off x="3197429" y="2273445"/>
            <a:ext cx="88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Compare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returns</a:t>
            </a:r>
            <a:endParaRPr lang="en-CN" sz="1200" dirty="0">
              <a:latin typeface="Comic Sans MS" panose="030F09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9A9313B-E61C-3ECB-C2E4-CE7B117BE746}"/>
                  </a:ext>
                </a:extLst>
              </p:cNvPr>
              <p:cNvSpPr txBox="1"/>
              <p:nvPr/>
            </p:nvSpPr>
            <p:spPr>
              <a:xfrm>
                <a:off x="2896918" y="2672138"/>
                <a:ext cx="111979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CN" sz="11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69A9313B-E61C-3ECB-C2E4-CE7B117BE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918" y="2672138"/>
                <a:ext cx="1119794" cy="2616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0" name="Picture 149">
            <a:extLst>
              <a:ext uri="{FF2B5EF4-FFF2-40B4-BE49-F238E27FC236}">
                <a16:creationId xmlns:a16="http://schemas.microsoft.com/office/drawing/2014/main" id="{7B434099-2A19-DECE-ABE4-D8421E43BFAC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964705" y="2333247"/>
            <a:ext cx="312202" cy="312202"/>
          </a:xfrm>
          <a:prstGeom prst="rect">
            <a:avLst/>
          </a:prstGeom>
        </p:spPr>
      </p:pic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6BEAFC7-30E9-E90D-C384-D7EEC029CAAA}"/>
              </a:ext>
            </a:extLst>
          </p:cNvPr>
          <p:cNvCxnSpPr>
            <a:cxnSpLocks/>
          </p:cNvCxnSpPr>
          <p:nvPr/>
        </p:nvCxnSpPr>
        <p:spPr>
          <a:xfrm>
            <a:off x="1416073" y="4709936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65714F34-7813-FF77-FA47-DFB11D11E51E}"/>
              </a:ext>
            </a:extLst>
          </p:cNvPr>
          <p:cNvCxnSpPr>
            <a:cxnSpLocks/>
          </p:cNvCxnSpPr>
          <p:nvPr/>
        </p:nvCxnSpPr>
        <p:spPr>
          <a:xfrm>
            <a:off x="1416073" y="5111159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D0BDB8C-D571-28DE-6C81-26CD0EA71AA2}"/>
              </a:ext>
            </a:extLst>
          </p:cNvPr>
          <p:cNvCxnSpPr>
            <a:cxnSpLocks/>
          </p:cNvCxnSpPr>
          <p:nvPr/>
        </p:nvCxnSpPr>
        <p:spPr>
          <a:xfrm>
            <a:off x="1416073" y="5465186"/>
            <a:ext cx="348130" cy="0"/>
          </a:xfrm>
          <a:prstGeom prst="straightConnector1">
            <a:avLst/>
          </a:prstGeom>
          <a:ln w="12700">
            <a:solidFill>
              <a:srgbClr val="1B477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Rounded Rectangle 165">
            <a:extLst>
              <a:ext uri="{FF2B5EF4-FFF2-40B4-BE49-F238E27FC236}">
                <a16:creationId xmlns:a16="http://schemas.microsoft.com/office/drawing/2014/main" id="{1B96F342-B9A8-04DD-2F0D-1D7446EE18A5}"/>
              </a:ext>
            </a:extLst>
          </p:cNvPr>
          <p:cNvSpPr/>
          <p:nvPr/>
        </p:nvSpPr>
        <p:spPr>
          <a:xfrm>
            <a:off x="4514174" y="1941650"/>
            <a:ext cx="3378005" cy="1677974"/>
          </a:xfrm>
          <a:prstGeom prst="roundRect">
            <a:avLst>
              <a:gd name="adj" fmla="val 8677"/>
            </a:avLst>
          </a:prstGeom>
          <a:solidFill>
            <a:srgbClr val="F9FFF1"/>
          </a:solidFill>
          <a:ln w="19050">
            <a:solidFill>
              <a:srgbClr val="94B6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solidFill>
                <a:srgbClr val="F9FFF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9E3CEB6-FC4E-3576-8CEE-09C0569FD345}"/>
                  </a:ext>
                </a:extLst>
              </p:cNvPr>
              <p:cNvSpPr txBox="1"/>
              <p:nvPr/>
            </p:nvSpPr>
            <p:spPr>
              <a:xfrm>
                <a:off x="4640744" y="1971127"/>
                <a:ext cx="289592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Candidate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feature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400" dirty="0">
                    <a:latin typeface="Comic Sans MS" panose="030F0902030302020204" pitchFamily="66" charset="0"/>
                  </a:rPr>
                  <a:t>pool</a:t>
                </a:r>
                <a:r>
                  <a:rPr lang="zh-CN" altLang="en-US" sz="14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𝑐𝑎𝑛𝑑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9E3CEB6-FC4E-3576-8CEE-09C0569FD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44" y="1971127"/>
                <a:ext cx="2895922" cy="307777"/>
              </a:xfrm>
              <a:prstGeom prst="rect">
                <a:avLst/>
              </a:prstGeom>
              <a:blipFill>
                <a:blip r:embed="rId42"/>
                <a:stretch>
                  <a:fillRect l="-437" t="-4000" b="-2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75EB396-B638-E83A-2D64-92A38236DE0A}"/>
              </a:ext>
            </a:extLst>
          </p:cNvPr>
          <p:cNvSpPr/>
          <p:nvPr/>
        </p:nvSpPr>
        <p:spPr>
          <a:xfrm>
            <a:off x="4640987" y="2293327"/>
            <a:ext cx="3121401" cy="567690"/>
          </a:xfrm>
          <a:prstGeom prst="roundRect">
            <a:avLst/>
          </a:prstGeom>
          <a:solidFill>
            <a:srgbClr val="D2E8C8"/>
          </a:solidFill>
          <a:ln w="19050">
            <a:solidFill>
              <a:srgbClr val="63955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00EC0-2CF1-36C8-3B90-40DA1554342D}"/>
              </a:ext>
            </a:extLst>
          </p:cNvPr>
          <p:cNvSpPr txBox="1"/>
          <p:nvPr/>
        </p:nvSpPr>
        <p:spPr>
          <a:xfrm>
            <a:off x="5222618" y="2314453"/>
            <a:ext cx="2177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mic Sans MS" panose="030F0902030302020204" pitchFamily="66" charset="0"/>
              </a:rPr>
              <a:t>Universal Feature Value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5C84CBC-F2B4-84DF-FEFE-13523DAB2529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751167" y="2348275"/>
            <a:ext cx="440667" cy="44066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5DC172C-4E74-FBE7-7E07-811ED01E9D3A}"/>
              </a:ext>
            </a:extLst>
          </p:cNvPr>
          <p:cNvSpPr txBox="1"/>
          <p:nvPr/>
        </p:nvSpPr>
        <p:spPr>
          <a:xfrm>
            <a:off x="5222618" y="2518455"/>
            <a:ext cx="24704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token entropy, state text length, …</a:t>
            </a:r>
            <a:endParaRPr lang="en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625663D-E705-AB37-1DBF-EA18D6E8CFD9}"/>
              </a:ext>
            </a:extLst>
          </p:cNvPr>
          <p:cNvSpPr/>
          <p:nvPr/>
        </p:nvSpPr>
        <p:spPr>
          <a:xfrm>
            <a:off x="4640744" y="2916803"/>
            <a:ext cx="3119205" cy="579872"/>
          </a:xfrm>
          <a:prstGeom prst="roundRect">
            <a:avLst/>
          </a:prstGeom>
          <a:solidFill>
            <a:srgbClr val="D2E8C8"/>
          </a:solidFill>
          <a:ln w="19050">
            <a:solidFill>
              <a:srgbClr val="63955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A2EEC7-5CD6-C007-0ADD-8CFED40F4641}"/>
              </a:ext>
            </a:extLst>
          </p:cNvPr>
          <p:cNvSpPr txBox="1"/>
          <p:nvPr/>
        </p:nvSpPr>
        <p:spPr>
          <a:xfrm>
            <a:off x="5222618" y="2937513"/>
            <a:ext cx="2658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mic Sans MS" panose="030F0902030302020204" pitchFamily="66" charset="0"/>
              </a:rPr>
              <a:t>LLM Reasoning Feature Value</a:t>
            </a:r>
            <a:endParaRPr lang="en-CN" sz="1400" dirty="0">
              <a:latin typeface="Comic Sans MS" panose="030F0902030302020204" pitchFamily="66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0FA56D-C2D5-BAE2-D328-9E21D56F3AB4}"/>
              </a:ext>
            </a:extLst>
          </p:cNvPr>
          <p:cNvSpPr txBox="1"/>
          <p:nvPr/>
        </p:nvSpPr>
        <p:spPr>
          <a:xfrm>
            <a:off x="5222618" y="3156167"/>
            <a:ext cx="1964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action type, action length, …</a:t>
            </a:r>
            <a:endParaRPr lang="en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6506D06-7553-DD20-C004-6F0D1AE3E0D3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771155" y="2993396"/>
            <a:ext cx="399375" cy="399375"/>
          </a:xfrm>
          <a:prstGeom prst="rect">
            <a:avLst/>
          </a:prstGeom>
        </p:spPr>
      </p:pic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43C728EF-5EEE-D2FE-5528-BE72680053B9}"/>
              </a:ext>
            </a:extLst>
          </p:cNvPr>
          <p:cNvCxnSpPr>
            <a:cxnSpLocks/>
          </p:cNvCxnSpPr>
          <p:nvPr/>
        </p:nvCxnSpPr>
        <p:spPr>
          <a:xfrm>
            <a:off x="6136987" y="1577560"/>
            <a:ext cx="0" cy="309553"/>
          </a:xfrm>
          <a:prstGeom prst="straightConnector1">
            <a:avLst/>
          </a:prstGeom>
          <a:ln w="12700">
            <a:solidFill>
              <a:srgbClr val="4575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9712F4-932B-5810-B0CA-FDF54F2F191C}"/>
                  </a:ext>
                </a:extLst>
              </p:cNvPr>
              <p:cNvSpPr txBox="1"/>
              <p:nvPr/>
            </p:nvSpPr>
            <p:spPr>
              <a:xfrm>
                <a:off x="8659695" y="3307796"/>
                <a:ext cx="185023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High</a:t>
                </a:r>
                <a14:m>
                  <m:oMath xmlns:m="http://schemas.openxmlformats.org/officeDocument/2006/math">
                    <m:r>
                      <a:rPr lang="en-US" altLang="zh-CN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Optimizer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9712F4-932B-5810-B0CA-FDF54F2F1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695" y="3307796"/>
                <a:ext cx="1850236" cy="276999"/>
              </a:xfrm>
              <a:prstGeom prst="rect">
                <a:avLst/>
              </a:prstGeom>
              <a:blipFill>
                <a:blip r:embed="rId45"/>
                <a:stretch>
                  <a:fillRect l="-685" b="-130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47211C1C-1223-F72D-BE6F-09E111A2C43A}"/>
                  </a:ext>
                </a:extLst>
              </p:cNvPr>
              <p:cNvSpPr txBox="1"/>
              <p:nvPr/>
            </p:nvSpPr>
            <p:spPr>
              <a:xfrm>
                <a:off x="10218925" y="3307796"/>
                <a:ext cx="1651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latin typeface="Comic Sans MS" panose="030F0902030302020204" pitchFamily="66" charset="0"/>
                  </a:rPr>
                  <a:t>High </a:t>
                </a:r>
                <a14:m>
                  <m:oMath xmlns:m="http://schemas.openxmlformats.org/officeDocument/2006/math">
                    <m:r>
                      <a:rPr lang="en-US" altLang="zh-CN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zh-CN" sz="1200" dirty="0">
                    <a:latin typeface="Comic Sans MS" panose="030F0902030302020204" pitchFamily="66" charset="0"/>
                  </a:rPr>
                  <a:t>base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:r>
                  <a:rPr lang="en-US" altLang="zh-CN" sz="1200" dirty="0">
                    <a:latin typeface="Comic Sans MS" panose="030F0902030302020204" pitchFamily="66" charset="0"/>
                  </a:rPr>
                  <a:t>policy</a:t>
                </a:r>
                <a:r>
                  <a:rPr lang="zh-CN" altLang="en-US" sz="1200" dirty="0">
                    <a:latin typeface="Comic Sans MS" panose="030F0902030302020204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CN" sz="1200" dirty="0">
                  <a:latin typeface="Comic Sans MS" panose="030F0902030302020204" pitchFamily="66" charset="0"/>
                </a:endParaRPr>
              </a:p>
            </p:txBody>
          </p:sp>
        </mc:Choice>
        <mc:Fallback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47211C1C-1223-F72D-BE6F-09E111A2C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925" y="3307796"/>
                <a:ext cx="1651493" cy="276999"/>
              </a:xfrm>
              <a:prstGeom prst="rect">
                <a:avLst/>
              </a:prstGeom>
              <a:blipFill>
                <a:blip r:embed="rId4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B2CC4B8-CB17-287F-B460-F132FED0ACFE}"/>
              </a:ext>
            </a:extLst>
          </p:cNvPr>
          <p:cNvGrpSpPr/>
          <p:nvPr/>
        </p:nvGrpSpPr>
        <p:grpSpPr>
          <a:xfrm>
            <a:off x="8910272" y="3649714"/>
            <a:ext cx="918027" cy="782288"/>
            <a:chOff x="8751135" y="3648072"/>
            <a:chExt cx="1097903" cy="935568"/>
          </a:xfrm>
        </p:grpSpPr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F3182D57-8CAB-998F-56EA-88C56FBE4C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1135" y="3648072"/>
              <a:ext cx="0" cy="8725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B99F83A8-4F50-50FC-4CDD-918B38346D16}"/>
                </a:ext>
              </a:extLst>
            </p:cNvPr>
            <p:cNvCxnSpPr>
              <a:cxnSpLocks/>
            </p:cNvCxnSpPr>
            <p:nvPr/>
          </p:nvCxnSpPr>
          <p:spPr>
            <a:xfrm>
              <a:off x="8751135" y="4529006"/>
              <a:ext cx="109790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B4C959BE-3EEE-2673-9DF3-125CC8AE47DE}"/>
                </a:ext>
              </a:extLst>
            </p:cNvPr>
            <p:cNvSpPr/>
            <p:nvPr/>
          </p:nvSpPr>
          <p:spPr>
            <a:xfrm rot="1363373">
              <a:off x="8972109" y="3726615"/>
              <a:ext cx="688983" cy="857025"/>
            </a:xfrm>
            <a:custGeom>
              <a:avLst/>
              <a:gdLst>
                <a:gd name="connsiteX0" fmla="*/ 0 w 700756"/>
                <a:gd name="connsiteY0" fmla="*/ 871671 h 871671"/>
                <a:gd name="connsiteX1" fmla="*/ 213645 w 700756"/>
                <a:gd name="connsiteY1" fmla="*/ 700755 h 871671"/>
                <a:gd name="connsiteX2" fmla="*/ 350378 w 700756"/>
                <a:gd name="connsiteY2" fmla="*/ 299103 h 871671"/>
                <a:gd name="connsiteX3" fmla="*/ 495657 w 700756"/>
                <a:gd name="connsiteY3" fmla="*/ 68366 h 871671"/>
                <a:gd name="connsiteX4" fmla="*/ 700756 w 700756"/>
                <a:gd name="connsiteY4" fmla="*/ 0 h 871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0756" h="871671">
                  <a:moveTo>
                    <a:pt x="0" y="871671"/>
                  </a:moveTo>
                  <a:cubicBezTo>
                    <a:pt x="77624" y="833927"/>
                    <a:pt x="155249" y="796183"/>
                    <a:pt x="213645" y="700755"/>
                  </a:cubicBezTo>
                  <a:cubicBezTo>
                    <a:pt x="272041" y="605327"/>
                    <a:pt x="303376" y="404501"/>
                    <a:pt x="350378" y="299103"/>
                  </a:cubicBezTo>
                  <a:cubicBezTo>
                    <a:pt x="397380" y="193705"/>
                    <a:pt x="437261" y="118216"/>
                    <a:pt x="495657" y="68366"/>
                  </a:cubicBezTo>
                  <a:cubicBezTo>
                    <a:pt x="554053" y="18515"/>
                    <a:pt x="627404" y="9257"/>
                    <a:pt x="700756" y="0"/>
                  </a:cubicBez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B8A457C7-F94A-2D8B-2263-0563776B83BB}"/>
                </a:ext>
              </a:extLst>
            </p:cNvPr>
            <p:cNvSpPr/>
            <p:nvPr/>
          </p:nvSpPr>
          <p:spPr>
            <a:xfrm>
              <a:off x="8878073" y="4327352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EB504069-472B-7F39-9ECE-6D170113EA18}"/>
                </a:ext>
              </a:extLst>
            </p:cNvPr>
            <p:cNvSpPr/>
            <p:nvPr/>
          </p:nvSpPr>
          <p:spPr>
            <a:xfrm>
              <a:off x="9044745" y="4402972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04727B9B-1864-0320-732E-8F140972F905}"/>
                </a:ext>
              </a:extLst>
            </p:cNvPr>
            <p:cNvSpPr/>
            <p:nvPr/>
          </p:nvSpPr>
          <p:spPr>
            <a:xfrm>
              <a:off x="9155005" y="4274015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B72B06AA-6E17-2B35-F24A-DC0600956488}"/>
                </a:ext>
              </a:extLst>
            </p:cNvPr>
            <p:cNvSpPr/>
            <p:nvPr/>
          </p:nvSpPr>
          <p:spPr>
            <a:xfrm>
              <a:off x="9005556" y="4195676"/>
              <a:ext cx="84022" cy="84022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9EA08653-B924-E5DB-3650-86EF96B07B7D}"/>
                </a:ext>
              </a:extLst>
            </p:cNvPr>
            <p:cNvSpPr/>
            <p:nvPr/>
          </p:nvSpPr>
          <p:spPr>
            <a:xfrm>
              <a:off x="9533791" y="3768012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D35297DE-DB48-48FC-1C2F-5856AB806F1B}"/>
                </a:ext>
              </a:extLst>
            </p:cNvPr>
            <p:cNvSpPr/>
            <p:nvPr/>
          </p:nvSpPr>
          <p:spPr>
            <a:xfrm>
              <a:off x="9349684" y="3858262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AEBD70D9-74ED-9634-B22B-65CAF658F282}"/>
                </a:ext>
              </a:extLst>
            </p:cNvPr>
            <p:cNvSpPr/>
            <p:nvPr/>
          </p:nvSpPr>
          <p:spPr>
            <a:xfrm>
              <a:off x="9445782" y="3953616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A66966B2-5EBE-19C3-4D4D-F92AD9AD46B6}"/>
                </a:ext>
              </a:extLst>
            </p:cNvPr>
            <p:cNvSpPr/>
            <p:nvPr/>
          </p:nvSpPr>
          <p:spPr>
            <a:xfrm>
              <a:off x="9640067" y="3899645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25023E7D-ED5C-4973-408F-C891731B218D}"/>
                </a:ext>
              </a:extLst>
            </p:cNvPr>
            <p:cNvSpPr/>
            <p:nvPr/>
          </p:nvSpPr>
          <p:spPr>
            <a:xfrm>
              <a:off x="9178811" y="4028616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40705A52-E7EA-E0F4-4032-A93302B1AB3B}"/>
                </a:ext>
              </a:extLst>
            </p:cNvPr>
            <p:cNvSpPr/>
            <p:nvPr/>
          </p:nvSpPr>
          <p:spPr>
            <a:xfrm>
              <a:off x="9287168" y="4113829"/>
              <a:ext cx="84022" cy="84022"/>
            </a:xfrm>
            <a:prstGeom prst="ellipse">
              <a:avLst/>
            </a:prstGeom>
            <a:solidFill>
              <a:srgbClr val="4472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212" name="Rectangle 211">
            <a:extLst>
              <a:ext uri="{FF2B5EF4-FFF2-40B4-BE49-F238E27FC236}">
                <a16:creationId xmlns:a16="http://schemas.microsoft.com/office/drawing/2014/main" id="{41CEA1AD-9AB2-C491-50DE-AAB42469319D}"/>
              </a:ext>
            </a:extLst>
          </p:cNvPr>
          <p:cNvSpPr/>
          <p:nvPr/>
        </p:nvSpPr>
        <p:spPr>
          <a:xfrm>
            <a:off x="8532675" y="3506123"/>
            <a:ext cx="918659" cy="181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73D3743-A064-F895-4A38-8BEA74E94A3A}"/>
                  </a:ext>
                </a:extLst>
              </p:cNvPr>
              <p:cNvSpPr txBox="1"/>
              <p:nvPr/>
            </p:nvSpPr>
            <p:spPr>
              <a:xfrm>
                <a:off x="8572430" y="3519114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73D3743-A064-F895-4A38-8BEA74E94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430" y="3519114"/>
                <a:ext cx="375487" cy="276999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TextBox 216">
            <a:extLst>
              <a:ext uri="{FF2B5EF4-FFF2-40B4-BE49-F238E27FC236}">
                <a16:creationId xmlns:a16="http://schemas.microsoft.com/office/drawing/2014/main" id="{8696727C-611B-AA1C-AB97-8192836F2DB0}"/>
              </a:ext>
            </a:extLst>
          </p:cNvPr>
          <p:cNvSpPr txBox="1"/>
          <p:nvPr/>
        </p:nvSpPr>
        <p:spPr>
          <a:xfrm>
            <a:off x="8664933" y="423646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</a:t>
            </a:r>
            <a:endParaRPr lang="en-US" sz="105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5BB8561-9C79-90F0-F3D5-93D6C8E7B993}"/>
              </a:ext>
            </a:extLst>
          </p:cNvPr>
          <p:cNvSpPr txBox="1"/>
          <p:nvPr/>
        </p:nvSpPr>
        <p:spPr>
          <a:xfrm>
            <a:off x="8664933" y="3759189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1</a:t>
            </a:r>
            <a:endParaRPr lang="en-US" sz="1050" dirty="0"/>
          </a:p>
        </p:txBody>
      </p: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E7183254-A8D3-628E-C831-34DC24E716C3}"/>
              </a:ext>
            </a:extLst>
          </p:cNvPr>
          <p:cNvCxnSpPr>
            <a:cxnSpLocks/>
          </p:cNvCxnSpPr>
          <p:nvPr/>
        </p:nvCxnSpPr>
        <p:spPr>
          <a:xfrm>
            <a:off x="8879826" y="3892232"/>
            <a:ext cx="457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TextBox 221">
            <a:extLst>
              <a:ext uri="{FF2B5EF4-FFF2-40B4-BE49-F238E27FC236}">
                <a16:creationId xmlns:a16="http://schemas.microsoft.com/office/drawing/2014/main" id="{9565CF59-0A6F-A7E0-85E8-B7795C3C9A72}"/>
              </a:ext>
            </a:extLst>
          </p:cNvPr>
          <p:cNvSpPr txBox="1"/>
          <p:nvPr/>
        </p:nvSpPr>
        <p:spPr>
          <a:xfrm>
            <a:off x="8793334" y="4366445"/>
            <a:ext cx="381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low</a:t>
            </a:r>
            <a:endParaRPr lang="en-US" sz="1050" i="1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907F2E97-4DBC-BEEF-D8A4-B75975D90A30}"/>
              </a:ext>
            </a:extLst>
          </p:cNvPr>
          <p:cNvSpPr txBox="1"/>
          <p:nvPr/>
        </p:nvSpPr>
        <p:spPr>
          <a:xfrm>
            <a:off x="9448163" y="4372388"/>
            <a:ext cx="4219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high</a:t>
            </a:r>
            <a:endParaRPr lang="en-US" sz="1050" i="1" dirty="0"/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CBDF7ACF-B2DA-2A29-61B3-072D32C67FCA}"/>
              </a:ext>
            </a:extLst>
          </p:cNvPr>
          <p:cNvCxnSpPr>
            <a:cxnSpLocks/>
          </p:cNvCxnSpPr>
          <p:nvPr/>
        </p:nvCxnSpPr>
        <p:spPr>
          <a:xfrm flipV="1">
            <a:off x="10547178" y="3659584"/>
            <a:ext cx="0" cy="7295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ECDF5631-C526-D953-E218-24FCC9C1714B}"/>
              </a:ext>
            </a:extLst>
          </p:cNvPr>
          <p:cNvCxnSpPr>
            <a:cxnSpLocks/>
          </p:cNvCxnSpPr>
          <p:nvPr/>
        </p:nvCxnSpPr>
        <p:spPr>
          <a:xfrm>
            <a:off x="10547178" y="4396189"/>
            <a:ext cx="91802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Freeform 226">
            <a:extLst>
              <a:ext uri="{FF2B5EF4-FFF2-40B4-BE49-F238E27FC236}">
                <a16:creationId xmlns:a16="http://schemas.microsoft.com/office/drawing/2014/main" id="{87CE6C4E-FEC8-B2C1-2CC4-E881366C397F}"/>
              </a:ext>
            </a:extLst>
          </p:cNvPr>
          <p:cNvSpPr/>
          <p:nvPr/>
        </p:nvSpPr>
        <p:spPr>
          <a:xfrm rot="21113160" flipV="1">
            <a:off x="10645440" y="3816763"/>
            <a:ext cx="700567" cy="557563"/>
          </a:xfrm>
          <a:custGeom>
            <a:avLst/>
            <a:gdLst>
              <a:gd name="connsiteX0" fmla="*/ 0 w 700756"/>
              <a:gd name="connsiteY0" fmla="*/ 871671 h 871671"/>
              <a:gd name="connsiteX1" fmla="*/ 213645 w 700756"/>
              <a:gd name="connsiteY1" fmla="*/ 700755 h 871671"/>
              <a:gd name="connsiteX2" fmla="*/ 350378 w 700756"/>
              <a:gd name="connsiteY2" fmla="*/ 299103 h 871671"/>
              <a:gd name="connsiteX3" fmla="*/ 495657 w 700756"/>
              <a:gd name="connsiteY3" fmla="*/ 68366 h 871671"/>
              <a:gd name="connsiteX4" fmla="*/ 700756 w 700756"/>
              <a:gd name="connsiteY4" fmla="*/ 0 h 87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756" h="871671">
                <a:moveTo>
                  <a:pt x="0" y="871671"/>
                </a:moveTo>
                <a:cubicBezTo>
                  <a:pt x="77624" y="833927"/>
                  <a:pt x="155249" y="796183"/>
                  <a:pt x="213645" y="700755"/>
                </a:cubicBezTo>
                <a:cubicBezTo>
                  <a:pt x="272041" y="605327"/>
                  <a:pt x="303376" y="404501"/>
                  <a:pt x="350378" y="299103"/>
                </a:cubicBezTo>
                <a:cubicBezTo>
                  <a:pt x="397380" y="193705"/>
                  <a:pt x="437261" y="118216"/>
                  <a:pt x="495657" y="68366"/>
                </a:cubicBezTo>
                <a:cubicBezTo>
                  <a:pt x="554053" y="18515"/>
                  <a:pt x="627404" y="9257"/>
                  <a:pt x="700756" y="0"/>
                </a:cubicBezTo>
              </a:path>
            </a:pathLst>
          </a:custGeom>
          <a:ln w="12700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31A6DF87-5E4C-F664-936B-C021E188CC73}"/>
              </a:ext>
            </a:extLst>
          </p:cNvPr>
          <p:cNvSpPr/>
          <p:nvPr/>
        </p:nvSpPr>
        <p:spPr>
          <a:xfrm rot="14848825">
            <a:off x="11248098" y="4291045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BEFDABDC-7DFB-81B0-C73E-1C301E85EB99}"/>
              </a:ext>
            </a:extLst>
          </p:cNvPr>
          <p:cNvSpPr/>
          <p:nvPr/>
        </p:nvSpPr>
        <p:spPr>
          <a:xfrm rot="14848825">
            <a:off x="11292638" y="4166309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75A4E727-A10B-7A63-48D7-228B33BD6CA0}"/>
              </a:ext>
            </a:extLst>
          </p:cNvPr>
          <p:cNvSpPr/>
          <p:nvPr/>
        </p:nvSpPr>
        <p:spPr>
          <a:xfrm rot="14848825">
            <a:off x="11129501" y="4161951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9836AFEA-2C5F-7FD5-B68F-A6C8C0D72BFD}"/>
              </a:ext>
            </a:extLst>
          </p:cNvPr>
          <p:cNvSpPr/>
          <p:nvPr/>
        </p:nvSpPr>
        <p:spPr>
          <a:xfrm rot="14848825">
            <a:off x="11049124" y="4251677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6C7ADC35-393B-5A14-1331-26CBC75D54B6}"/>
              </a:ext>
            </a:extLst>
          </p:cNvPr>
          <p:cNvSpPr/>
          <p:nvPr/>
        </p:nvSpPr>
        <p:spPr>
          <a:xfrm rot="14848825">
            <a:off x="10617354" y="3946761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2A8FA2FE-613E-096E-B8EF-4F39ADAC6B38}"/>
              </a:ext>
            </a:extLst>
          </p:cNvPr>
          <p:cNvSpPr/>
          <p:nvPr/>
        </p:nvSpPr>
        <p:spPr>
          <a:xfrm rot="14848825">
            <a:off x="10782810" y="4039044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2663B5EA-9F43-1AF5-4A37-3D636BF0A8B4}"/>
              </a:ext>
            </a:extLst>
          </p:cNvPr>
          <p:cNvSpPr/>
          <p:nvPr/>
        </p:nvSpPr>
        <p:spPr>
          <a:xfrm rot="14848825">
            <a:off x="10830941" y="389224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C6847865-3BE6-F165-10B9-FC538CF2BD5D}"/>
              </a:ext>
            </a:extLst>
          </p:cNvPr>
          <p:cNvSpPr/>
          <p:nvPr/>
        </p:nvSpPr>
        <p:spPr>
          <a:xfrm rot="14848825">
            <a:off x="10684994" y="3822518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C1FD68B6-89A9-C3BA-E03A-7D9BD2E602A0}"/>
              </a:ext>
            </a:extLst>
          </p:cNvPr>
          <p:cNvSpPr/>
          <p:nvPr/>
        </p:nvSpPr>
        <p:spPr>
          <a:xfrm rot="14848825">
            <a:off x="10932329" y="417700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7" name="Oval 236">
            <a:extLst>
              <a:ext uri="{FF2B5EF4-FFF2-40B4-BE49-F238E27FC236}">
                <a16:creationId xmlns:a16="http://schemas.microsoft.com/office/drawing/2014/main" id="{0FA68311-74F3-6172-2E9D-9101E9456EC5}"/>
              </a:ext>
            </a:extLst>
          </p:cNvPr>
          <p:cNvSpPr/>
          <p:nvPr/>
        </p:nvSpPr>
        <p:spPr>
          <a:xfrm rot="14848825">
            <a:off x="10963447" y="4032150"/>
            <a:ext cx="70256" cy="70256"/>
          </a:xfrm>
          <a:prstGeom prst="ellipse">
            <a:avLst/>
          </a:prstGeom>
          <a:solidFill>
            <a:srgbClr val="C65A1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AFE2E74-3A47-615D-CE37-C64D29EBD3AB}"/>
              </a:ext>
            </a:extLst>
          </p:cNvPr>
          <p:cNvSpPr/>
          <p:nvPr/>
        </p:nvSpPr>
        <p:spPr>
          <a:xfrm>
            <a:off x="10169581" y="3515993"/>
            <a:ext cx="918659" cy="1815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8D83DD5D-1C78-6E86-F2B9-9FB7701910FB}"/>
                  </a:ext>
                </a:extLst>
              </p:cNvPr>
              <p:cNvSpPr txBox="1"/>
              <p:nvPr/>
            </p:nvSpPr>
            <p:spPr>
              <a:xfrm>
                <a:off x="10209336" y="3528984"/>
                <a:ext cx="37548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8D83DD5D-1C78-6E86-F2B9-9FB770191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336" y="3528984"/>
                <a:ext cx="375487" cy="2769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TextBox 239">
            <a:extLst>
              <a:ext uri="{FF2B5EF4-FFF2-40B4-BE49-F238E27FC236}">
                <a16:creationId xmlns:a16="http://schemas.microsoft.com/office/drawing/2014/main" id="{9FD358E2-7BAB-A6B8-7F53-2F9879AF62C2}"/>
              </a:ext>
            </a:extLst>
          </p:cNvPr>
          <p:cNvSpPr txBox="1"/>
          <p:nvPr/>
        </p:nvSpPr>
        <p:spPr>
          <a:xfrm>
            <a:off x="10301839" y="4246338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0</a:t>
            </a:r>
            <a:endParaRPr lang="en-US" sz="105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1032AE4B-A356-EB67-F6A8-8B89D5B1BD81}"/>
              </a:ext>
            </a:extLst>
          </p:cNvPr>
          <p:cNvSpPr txBox="1"/>
          <p:nvPr/>
        </p:nvSpPr>
        <p:spPr>
          <a:xfrm>
            <a:off x="10301839" y="3769059"/>
            <a:ext cx="25359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/>
              <a:t>1</a:t>
            </a:r>
            <a:endParaRPr lang="en-US" sz="1050" dirty="0"/>
          </a:p>
        </p:txBody>
      </p: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2F8C3A09-46B4-06C3-595D-546EA3F1E219}"/>
              </a:ext>
            </a:extLst>
          </p:cNvPr>
          <p:cNvCxnSpPr>
            <a:cxnSpLocks/>
          </p:cNvCxnSpPr>
          <p:nvPr/>
        </p:nvCxnSpPr>
        <p:spPr>
          <a:xfrm>
            <a:off x="10516732" y="3902102"/>
            <a:ext cx="457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E7EB885C-4EE8-E90A-FC90-826A4BEC5C35}"/>
              </a:ext>
            </a:extLst>
          </p:cNvPr>
          <p:cNvSpPr txBox="1"/>
          <p:nvPr/>
        </p:nvSpPr>
        <p:spPr>
          <a:xfrm>
            <a:off x="10430240" y="4376315"/>
            <a:ext cx="3818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low</a:t>
            </a:r>
            <a:endParaRPr lang="en-US" sz="1050" i="1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2DFF1D73-2592-0A9F-283C-CCAA44B41481}"/>
              </a:ext>
            </a:extLst>
          </p:cNvPr>
          <p:cNvSpPr txBox="1"/>
          <p:nvPr/>
        </p:nvSpPr>
        <p:spPr>
          <a:xfrm>
            <a:off x="11085069" y="4382258"/>
            <a:ext cx="42191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i="1" dirty="0"/>
              <a:t>high</a:t>
            </a:r>
            <a:endParaRPr lang="en-US" sz="1050" i="1" dirty="0"/>
          </a:p>
        </p:txBody>
      </p: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D015853A-8188-5CE0-EDA8-B6EDD374D8BC}"/>
              </a:ext>
            </a:extLst>
          </p:cNvPr>
          <p:cNvCxnSpPr/>
          <p:nvPr/>
        </p:nvCxnSpPr>
        <p:spPr>
          <a:xfrm>
            <a:off x="10181022" y="3246320"/>
            <a:ext cx="10900" cy="1220152"/>
          </a:xfrm>
          <a:prstGeom prst="line">
            <a:avLst/>
          </a:prstGeom>
          <a:ln w="12700">
            <a:solidFill>
              <a:srgbClr val="F4B2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ight Arrow 31">
            <a:extLst>
              <a:ext uri="{FF2B5EF4-FFF2-40B4-BE49-F238E27FC236}">
                <a16:creationId xmlns:a16="http://schemas.microsoft.com/office/drawing/2014/main" id="{54A43C53-044E-A182-4A02-FC5099F83F8E}"/>
              </a:ext>
            </a:extLst>
          </p:cNvPr>
          <p:cNvSpPr/>
          <p:nvPr/>
        </p:nvSpPr>
        <p:spPr>
          <a:xfrm rot="5400000">
            <a:off x="1804155" y="3612113"/>
            <a:ext cx="272587" cy="196954"/>
          </a:xfrm>
          <a:prstGeom prst="rightArrow">
            <a:avLst/>
          </a:prstGeom>
          <a:solidFill>
            <a:srgbClr val="DCE9F3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FF6FB137-C26B-B665-6B3B-1A5F2209947D}"/>
              </a:ext>
            </a:extLst>
          </p:cNvPr>
          <p:cNvSpPr/>
          <p:nvPr/>
        </p:nvSpPr>
        <p:spPr>
          <a:xfrm>
            <a:off x="1147041" y="6661068"/>
            <a:ext cx="3734261" cy="392696"/>
          </a:xfrm>
          <a:prstGeom prst="roundRect">
            <a:avLst>
              <a:gd name="adj" fmla="val 8677"/>
            </a:avLst>
          </a:prstGeom>
          <a:solidFill>
            <a:srgbClr val="E3F0D9"/>
          </a:solidFill>
          <a:ln w="19050">
            <a:solidFill>
              <a:srgbClr val="639552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2148A88-8EF2-1757-E32E-5A8F65F98CAC}"/>
                  </a:ext>
                </a:extLst>
              </p:cNvPr>
              <p:cNvSpPr txBox="1"/>
              <p:nvPr/>
            </p:nvSpPr>
            <p:spPr>
              <a:xfrm>
                <a:off x="1585962" y="6686629"/>
                <a:ext cx="330821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𝑡𝑒𝑥𝑡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600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2148A88-8EF2-1757-E32E-5A8F65F98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962" y="6686629"/>
                <a:ext cx="3308213" cy="338554"/>
              </a:xfrm>
              <a:prstGeom prst="rect">
                <a:avLst/>
              </a:prstGeom>
              <a:blipFill>
                <a:blip r:embed="rId50"/>
                <a:stretch>
                  <a:fillRect b="-1481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Picture 50">
            <a:extLst>
              <a:ext uri="{FF2B5EF4-FFF2-40B4-BE49-F238E27FC236}">
                <a16:creationId xmlns:a16="http://schemas.microsoft.com/office/drawing/2014/main" id="{B0207FB1-13EA-735C-DC16-12EEF4907961}"/>
              </a:ext>
            </a:extLst>
          </p:cNvPr>
          <p:cNvPicPr>
            <a:picLocks noChangeAspect="1"/>
          </p:cNvPicPr>
          <p:nvPr/>
        </p:nvPicPr>
        <p:blipFill>
          <a:blip r:embed="rId3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93348" y="6683023"/>
            <a:ext cx="342160" cy="3421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E99E910-861E-7A31-2589-7C4646B83687}"/>
                  </a:ext>
                </a:extLst>
              </p:cNvPr>
              <p:cNvSpPr txBox="1"/>
              <p:nvPr/>
            </p:nvSpPr>
            <p:spPr>
              <a:xfrm>
                <a:off x="5321800" y="1121243"/>
                <a:ext cx="194491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omic Sans MS" panose="030F0902030302020204" pitchFamily="66" charset="0"/>
                  </a:rPr>
                  <a:t>State 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400" dirty="0">
                    <a:latin typeface="Comic Sans MS" panose="030F0902030302020204" pitchFamily="66" charset="0"/>
                  </a:rPr>
                  <a:t> </a:t>
                </a:r>
                <a:br>
                  <a:rPr lang="en-US" altLang="zh-CN" sz="1400" dirty="0">
                    <a:latin typeface="Comic Sans MS" panose="030F0902030302020204" pitchFamily="66" charset="0"/>
                  </a:rPr>
                </a:br>
                <a:r>
                  <a:rPr lang="en-US" altLang="zh-CN" sz="1400" dirty="0">
                    <a:latin typeface="Comic Sans MS" panose="030F0902030302020204" pitchFamily="66" charset="0"/>
                  </a:rPr>
                  <a:t>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𝑟𝑎𝑤</m:t>
                        </m:r>
                      </m:sub>
                    </m:sSub>
                  </m:oMath>
                </a14:m>
                <a:endParaRPr lang="en-US" sz="1400" dirty="0">
                  <a:latin typeface="Comic Sans MS" panose="030F0902030302020204" pitchFamily="66" charset="0"/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E99E910-861E-7A31-2589-7C4646B836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800" y="1121243"/>
                <a:ext cx="1944915" cy="523220"/>
              </a:xfrm>
              <a:prstGeom prst="rect">
                <a:avLst/>
              </a:prstGeom>
              <a:blipFill>
                <a:blip r:embed="rId51"/>
                <a:stretch>
                  <a:fillRect t="-2381" b="-1190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6" name="Picture 105">
            <a:extLst>
              <a:ext uri="{FF2B5EF4-FFF2-40B4-BE49-F238E27FC236}">
                <a16:creationId xmlns:a16="http://schemas.microsoft.com/office/drawing/2014/main" id="{45CDA63B-9045-C352-02E9-06569C4C1246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252268" y="1138065"/>
            <a:ext cx="452689" cy="452689"/>
          </a:xfrm>
          <a:prstGeom prst="rect">
            <a:avLst/>
          </a:prstGeom>
        </p:spPr>
      </p:pic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C030C16A-C846-E14C-EF01-07B09E5C0EAC}"/>
              </a:ext>
            </a:extLst>
          </p:cNvPr>
          <p:cNvSpPr/>
          <p:nvPr/>
        </p:nvSpPr>
        <p:spPr>
          <a:xfrm>
            <a:off x="4511747" y="3784345"/>
            <a:ext cx="3371498" cy="68396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5D7F19F0-D380-E44A-ACB1-C69370F7A2D3}"/>
                  </a:ext>
                </a:extLst>
              </p:cNvPr>
              <p:cNvSpPr txBox="1"/>
              <p:nvPr/>
            </p:nvSpPr>
            <p:spPr>
              <a:xfrm>
                <a:off x="5203539" y="3784041"/>
                <a:ext cx="275177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…,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N" sz="1400" dirty="0"/>
              </a:p>
            </p:txBody>
          </p:sp>
        </mc:Choice>
        <mc:Fallback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5D7F19F0-D380-E44A-ACB1-C69370F7A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539" y="3784041"/>
                <a:ext cx="2751779" cy="307777"/>
              </a:xfrm>
              <a:prstGeom prst="rect">
                <a:avLst/>
              </a:prstGeom>
              <a:blipFill>
                <a:blip r:embed="rId5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2" name="Picture 141">
            <a:extLst>
              <a:ext uri="{FF2B5EF4-FFF2-40B4-BE49-F238E27FC236}">
                <a16:creationId xmlns:a16="http://schemas.microsoft.com/office/drawing/2014/main" id="{7BE5893F-52DE-21CC-0600-C83C73C6E7CD}"/>
              </a:ext>
            </a:extLst>
          </p:cNvPr>
          <p:cNvPicPr>
            <a:picLocks noChangeAspect="1"/>
          </p:cNvPicPr>
          <p:nvPr/>
        </p:nvPicPr>
        <p:blipFill>
          <a:blip r:embed="rId3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51167" y="3891355"/>
            <a:ext cx="436016" cy="436016"/>
          </a:xfrm>
          <a:prstGeom prst="rect">
            <a:avLst/>
          </a:prstGeom>
        </p:spPr>
      </p:pic>
      <p:sp>
        <p:nvSpPr>
          <p:cNvPr id="144" name="Right Arrow 143">
            <a:extLst>
              <a:ext uri="{FF2B5EF4-FFF2-40B4-BE49-F238E27FC236}">
                <a16:creationId xmlns:a16="http://schemas.microsoft.com/office/drawing/2014/main" id="{30F080E3-F740-1B1B-0363-9D04D6E5A8B2}"/>
              </a:ext>
            </a:extLst>
          </p:cNvPr>
          <p:cNvSpPr/>
          <p:nvPr/>
        </p:nvSpPr>
        <p:spPr>
          <a:xfrm rot="5400000">
            <a:off x="6099171" y="3612113"/>
            <a:ext cx="272587" cy="196954"/>
          </a:xfrm>
          <a:prstGeom prst="rightArrow">
            <a:avLst/>
          </a:prstGeom>
          <a:solidFill>
            <a:srgbClr val="E3F0D9"/>
          </a:solidFill>
          <a:ln>
            <a:solidFill>
              <a:srgbClr val="6395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ED315E6-5D6F-E387-B6E5-08C5608293AD}"/>
              </a:ext>
            </a:extLst>
          </p:cNvPr>
          <p:cNvGrpSpPr/>
          <p:nvPr/>
        </p:nvGrpSpPr>
        <p:grpSpPr>
          <a:xfrm>
            <a:off x="6558521" y="4252831"/>
            <a:ext cx="1116658" cy="124308"/>
            <a:chOff x="7992477" y="6025957"/>
            <a:chExt cx="1981552" cy="220590"/>
          </a:xfrm>
        </p:grpSpPr>
        <p:sp>
          <p:nvSpPr>
            <p:cNvPr id="147" name="Rounded Rectangle 146">
              <a:extLst>
                <a:ext uri="{FF2B5EF4-FFF2-40B4-BE49-F238E27FC236}">
                  <a16:creationId xmlns:a16="http://schemas.microsoft.com/office/drawing/2014/main" id="{8425ADB6-44FD-E098-9681-E054C7F6447F}"/>
                </a:ext>
              </a:extLst>
            </p:cNvPr>
            <p:cNvSpPr/>
            <p:nvPr/>
          </p:nvSpPr>
          <p:spPr>
            <a:xfrm>
              <a:off x="7992477" y="6025959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49" name="Rounded Rectangle 148">
              <a:extLst>
                <a:ext uri="{FF2B5EF4-FFF2-40B4-BE49-F238E27FC236}">
                  <a16:creationId xmlns:a16="http://schemas.microsoft.com/office/drawing/2014/main" id="{4809C6F6-0208-C29A-A0C2-D9A12B4BBDCE}"/>
                </a:ext>
              </a:extLst>
            </p:cNvPr>
            <p:cNvSpPr/>
            <p:nvPr/>
          </p:nvSpPr>
          <p:spPr>
            <a:xfrm>
              <a:off x="8213337" y="6025959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2" name="Rounded Rectangle 151">
              <a:extLst>
                <a:ext uri="{FF2B5EF4-FFF2-40B4-BE49-F238E27FC236}">
                  <a16:creationId xmlns:a16="http://schemas.microsoft.com/office/drawing/2014/main" id="{7B9AE8D1-DC98-5E70-2BCC-89E551AC947F}"/>
                </a:ext>
              </a:extLst>
            </p:cNvPr>
            <p:cNvSpPr/>
            <p:nvPr/>
          </p:nvSpPr>
          <p:spPr>
            <a:xfrm>
              <a:off x="8432793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5" name="Rounded Rectangle 154">
              <a:extLst>
                <a:ext uri="{FF2B5EF4-FFF2-40B4-BE49-F238E27FC236}">
                  <a16:creationId xmlns:a16="http://schemas.microsoft.com/office/drawing/2014/main" id="{EAB57ABD-6D15-CA2C-0F37-B0475105F1EF}"/>
                </a:ext>
              </a:extLst>
            </p:cNvPr>
            <p:cNvSpPr/>
            <p:nvPr/>
          </p:nvSpPr>
          <p:spPr>
            <a:xfrm>
              <a:off x="8653977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6" name="Rounded Rectangle 155">
              <a:extLst>
                <a:ext uri="{FF2B5EF4-FFF2-40B4-BE49-F238E27FC236}">
                  <a16:creationId xmlns:a16="http://schemas.microsoft.com/office/drawing/2014/main" id="{76C18380-14D8-D544-2031-A00709355570}"/>
                </a:ext>
              </a:extLst>
            </p:cNvPr>
            <p:cNvSpPr/>
            <p:nvPr/>
          </p:nvSpPr>
          <p:spPr>
            <a:xfrm>
              <a:off x="8874837" y="6025958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E2F1DA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7" name="Rounded Rectangle 156">
              <a:extLst>
                <a:ext uri="{FF2B5EF4-FFF2-40B4-BE49-F238E27FC236}">
                  <a16:creationId xmlns:a16="http://schemas.microsoft.com/office/drawing/2014/main" id="{ED2EACDB-2B3C-DCD6-6E38-118B2EDDF752}"/>
                </a:ext>
              </a:extLst>
            </p:cNvPr>
            <p:cNvSpPr/>
            <p:nvPr/>
          </p:nvSpPr>
          <p:spPr>
            <a:xfrm>
              <a:off x="9094293" y="6025957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E2F1DA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58" name="Rounded Rectangle 157">
              <a:extLst>
                <a:ext uri="{FF2B5EF4-FFF2-40B4-BE49-F238E27FC236}">
                  <a16:creationId xmlns:a16="http://schemas.microsoft.com/office/drawing/2014/main" id="{0455CAE5-0A23-CADA-3173-1F6CD303C9E8}"/>
                </a:ext>
              </a:extLst>
            </p:cNvPr>
            <p:cNvSpPr/>
            <p:nvPr/>
          </p:nvSpPr>
          <p:spPr>
            <a:xfrm>
              <a:off x="9314257" y="6026252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9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76" name="Rounded Rectangle 175">
              <a:extLst>
                <a:ext uri="{FF2B5EF4-FFF2-40B4-BE49-F238E27FC236}">
                  <a16:creationId xmlns:a16="http://schemas.microsoft.com/office/drawing/2014/main" id="{94B6F6C7-308F-EE3A-5FE3-2D8116E05BE7}"/>
                </a:ext>
              </a:extLst>
            </p:cNvPr>
            <p:cNvSpPr/>
            <p:nvPr/>
          </p:nvSpPr>
          <p:spPr>
            <a:xfrm>
              <a:off x="9535117" y="6026252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FAFFF1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81" name="Rounded Rectangle 180">
              <a:extLst>
                <a:ext uri="{FF2B5EF4-FFF2-40B4-BE49-F238E27FC236}">
                  <a16:creationId xmlns:a16="http://schemas.microsoft.com/office/drawing/2014/main" id="{44E83525-6BA4-EC1C-FD8E-521B2295A02A}"/>
                </a:ext>
              </a:extLst>
            </p:cNvPr>
            <p:cNvSpPr/>
            <p:nvPr/>
          </p:nvSpPr>
          <p:spPr>
            <a:xfrm>
              <a:off x="9754573" y="6026251"/>
              <a:ext cx="219456" cy="220295"/>
            </a:xfrm>
            <a:prstGeom prst="roundRect">
              <a:avLst>
                <a:gd name="adj" fmla="val 0"/>
              </a:avLst>
            </a:prstGeom>
            <a:solidFill>
              <a:srgbClr val="D2E8C8"/>
            </a:solidFill>
            <a:ln w="19050">
              <a:solidFill>
                <a:srgbClr val="63955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1BF0F93B-2029-E378-684D-77DF9147E1E4}"/>
              </a:ext>
            </a:extLst>
          </p:cNvPr>
          <p:cNvCxnSpPr>
            <a:cxnSpLocks/>
          </p:cNvCxnSpPr>
          <p:nvPr/>
        </p:nvCxnSpPr>
        <p:spPr>
          <a:xfrm>
            <a:off x="6187266" y="4053244"/>
            <a:ext cx="0" cy="164459"/>
          </a:xfrm>
          <a:prstGeom prst="straightConnector1">
            <a:avLst/>
          </a:prstGeom>
          <a:ln w="12700">
            <a:solidFill>
              <a:srgbClr val="45754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4698CB42-E14E-63DA-FE48-2E4AFF8DEB5B}"/>
              </a:ext>
            </a:extLst>
          </p:cNvPr>
          <p:cNvSpPr txBox="1"/>
          <p:nvPr/>
        </p:nvSpPr>
        <p:spPr>
          <a:xfrm>
            <a:off x="5350121" y="4151830"/>
            <a:ext cx="12634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Comic Sans MS" panose="030F0902030302020204" pitchFamily="66" charset="0"/>
              </a:rPr>
              <a:t>Feature</a:t>
            </a:r>
            <a:r>
              <a:rPr lang="zh-CN" altLang="en-US" sz="1200" dirty="0">
                <a:latin typeface="Comic Sans MS" panose="030F0902030302020204" pitchFamily="66" charset="0"/>
              </a:rPr>
              <a:t> </a:t>
            </a:r>
            <a:r>
              <a:rPr lang="en-US" altLang="zh-CN" sz="1200" dirty="0">
                <a:latin typeface="Comic Sans MS" panose="030F0902030302020204" pitchFamily="66" charset="0"/>
              </a:rPr>
              <a:t>vector</a:t>
            </a:r>
          </a:p>
        </p:txBody>
      </p:sp>
    </p:spTree>
    <p:extLst>
      <p:ext uri="{BB962C8B-B14F-4D97-AF65-F5344CB8AC3E}">
        <p14:creationId xmlns:p14="http://schemas.microsoft.com/office/powerpoint/2010/main" val="3565894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2342</TotalTime>
  <Words>1323</Words>
  <Application>Microsoft Macintosh PowerPoint</Application>
  <PresentationFormat>Widescreen</PresentationFormat>
  <Paragraphs>329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Cambria Math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ziming li</dc:creator>
  <cp:lastModifiedBy>ziming li</cp:lastModifiedBy>
  <cp:revision>25</cp:revision>
  <dcterms:created xsi:type="dcterms:W3CDTF">2026-04-19T16:23:09Z</dcterms:created>
  <dcterms:modified xsi:type="dcterms:W3CDTF">2026-05-06T02:30:53Z</dcterms:modified>
</cp:coreProperties>
</file>